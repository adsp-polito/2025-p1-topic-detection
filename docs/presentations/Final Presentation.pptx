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8288000" cy="10287000"/>
  <p:notesSz cx="6858000" cy="9144000"/>
  <p:embeddedFontLst>
    <p:embeddedFont>
      <p:font typeface="Arial Bold" panose="020B0604020202020204" charset="0"/>
      <p:regular r:id="rId24"/>
    </p:embeddedFont>
    <p:embeddedFont>
      <p:font typeface="Calibri (MS) Bold" panose="020B0604020202020204" charset="0"/>
      <p:regular r:id="rId25"/>
    </p:embeddedFont>
    <p:embeddedFont>
      <p:font typeface="Montserrat Bold" panose="020B0604020202020204" charset="0"/>
      <p:regular r:id="rId26"/>
    </p:embeddedFont>
    <p:embeddedFont>
      <p:font typeface="Open Sans" panose="020B0606030504020204" pitchFamily="34" charset="0"/>
      <p:regular r:id="rId27"/>
    </p:embeddedFont>
    <p:embeddedFont>
      <p:font typeface="Open Sans Bold" panose="020B0604020202020204" charset="0"/>
      <p:regular r:id="rId28"/>
    </p:embeddedFont>
    <p:embeddedFont>
      <p:font typeface="Poppins" panose="00000500000000000000" pitchFamily="2" charset="0"/>
      <p:regular r:id="rId29"/>
    </p:embeddedFont>
    <p:embeddedFont>
      <p:font typeface="Poppins Bold" panose="00000800000000000000" charset="0"/>
      <p:regular r:id="rId30"/>
    </p:embeddedFont>
    <p:embeddedFont>
      <p:font typeface="Poppins Italics" panose="020B0604020202020204" charset="0"/>
      <p:regular r:id="rId31"/>
    </p:embeddedFont>
    <p:embeddedFont>
      <p:font typeface="Roboto" panose="02000000000000000000" pitchFamily="2" charset="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1954" y="82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5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eg"/><Relationship Id="rId9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svg"/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png"/><Relationship Id="rId15" Type="http://schemas.openxmlformats.org/officeDocument/2006/relationships/image" Target="../media/image12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4.svg"/><Relationship Id="rId7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.png"/><Relationship Id="rId7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7" Type="http://schemas.openxmlformats.org/officeDocument/2006/relationships/image" Target="../media/image2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39.svg"/><Relationship Id="rId4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svg"/><Relationship Id="rId18" Type="http://schemas.openxmlformats.org/officeDocument/2006/relationships/image" Target="../media/image1.png"/><Relationship Id="rId26" Type="http://schemas.openxmlformats.org/officeDocument/2006/relationships/image" Target="../media/image62.png"/><Relationship Id="rId3" Type="http://schemas.openxmlformats.org/officeDocument/2006/relationships/image" Target="../media/image41.svg"/><Relationship Id="rId21" Type="http://schemas.openxmlformats.org/officeDocument/2006/relationships/image" Target="../media/image57.png"/><Relationship Id="rId7" Type="http://schemas.openxmlformats.org/officeDocument/2006/relationships/image" Target="../media/image45.svg"/><Relationship Id="rId12" Type="http://schemas.openxmlformats.org/officeDocument/2006/relationships/image" Target="../media/image50.png"/><Relationship Id="rId17" Type="http://schemas.openxmlformats.org/officeDocument/2006/relationships/image" Target="../media/image55.svg"/><Relationship Id="rId25" Type="http://schemas.openxmlformats.org/officeDocument/2006/relationships/image" Target="../media/image61.png"/><Relationship Id="rId2" Type="http://schemas.openxmlformats.org/officeDocument/2006/relationships/image" Target="../media/image40.png"/><Relationship Id="rId16" Type="http://schemas.openxmlformats.org/officeDocument/2006/relationships/image" Target="../media/image54.png"/><Relationship Id="rId20" Type="http://schemas.openxmlformats.org/officeDocument/2006/relationships/image" Target="../media/image56.png"/><Relationship Id="rId29" Type="http://schemas.openxmlformats.org/officeDocument/2006/relationships/image" Target="../media/image6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11" Type="http://schemas.openxmlformats.org/officeDocument/2006/relationships/image" Target="../media/image49.svg"/><Relationship Id="rId24" Type="http://schemas.openxmlformats.org/officeDocument/2006/relationships/image" Target="../media/image60.svg"/><Relationship Id="rId32" Type="http://schemas.openxmlformats.org/officeDocument/2006/relationships/image" Target="../media/image68.svg"/><Relationship Id="rId5" Type="http://schemas.openxmlformats.org/officeDocument/2006/relationships/image" Target="../media/image43.svg"/><Relationship Id="rId15" Type="http://schemas.openxmlformats.org/officeDocument/2006/relationships/image" Target="../media/image53.svg"/><Relationship Id="rId23" Type="http://schemas.openxmlformats.org/officeDocument/2006/relationships/image" Target="../media/image59.png"/><Relationship Id="rId28" Type="http://schemas.openxmlformats.org/officeDocument/2006/relationships/image" Target="../media/image64.png"/><Relationship Id="rId10" Type="http://schemas.openxmlformats.org/officeDocument/2006/relationships/image" Target="../media/image48.png"/><Relationship Id="rId19" Type="http://schemas.openxmlformats.org/officeDocument/2006/relationships/image" Target="../media/image2.png"/><Relationship Id="rId31" Type="http://schemas.openxmlformats.org/officeDocument/2006/relationships/image" Target="../media/image67.png"/><Relationship Id="rId4" Type="http://schemas.openxmlformats.org/officeDocument/2006/relationships/image" Target="../media/image42.png"/><Relationship Id="rId9" Type="http://schemas.openxmlformats.org/officeDocument/2006/relationships/image" Target="../media/image47.svg"/><Relationship Id="rId14" Type="http://schemas.openxmlformats.org/officeDocument/2006/relationships/image" Target="../media/image52.png"/><Relationship Id="rId22" Type="http://schemas.openxmlformats.org/officeDocument/2006/relationships/image" Target="../media/image58.svg"/><Relationship Id="rId27" Type="http://schemas.openxmlformats.org/officeDocument/2006/relationships/image" Target="../media/image63.png"/><Relationship Id="rId30" Type="http://schemas.openxmlformats.org/officeDocument/2006/relationships/image" Target="../media/image6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6.png"/><Relationship Id="rId3" Type="http://schemas.openxmlformats.org/officeDocument/2006/relationships/image" Target="../media/image2.png"/><Relationship Id="rId7" Type="http://schemas.openxmlformats.org/officeDocument/2006/relationships/image" Target="../media/image72.png"/><Relationship Id="rId12" Type="http://schemas.openxmlformats.org/officeDocument/2006/relationships/image" Target="../media/image22.svg"/><Relationship Id="rId17" Type="http://schemas.openxmlformats.org/officeDocument/2006/relationships/image" Target="../media/image80.png"/><Relationship Id="rId2" Type="http://schemas.openxmlformats.org/officeDocument/2006/relationships/image" Target="../media/image1.png"/><Relationship Id="rId16" Type="http://schemas.openxmlformats.org/officeDocument/2006/relationships/image" Target="../media/image7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11" Type="http://schemas.openxmlformats.org/officeDocument/2006/relationships/image" Target="../media/image21.png"/><Relationship Id="rId5" Type="http://schemas.openxmlformats.org/officeDocument/2006/relationships/image" Target="../media/image70.png"/><Relationship Id="rId15" Type="http://schemas.openxmlformats.org/officeDocument/2006/relationships/image" Target="../media/image78.pn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Relationship Id="rId14" Type="http://schemas.openxmlformats.org/officeDocument/2006/relationships/image" Target="../media/image7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2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0" Type="http://schemas.openxmlformats.org/officeDocument/2006/relationships/image" Target="../media/image87.svg"/><Relationship Id="rId4" Type="http://schemas.openxmlformats.org/officeDocument/2006/relationships/image" Target="../media/image81.png"/><Relationship Id="rId9" Type="http://schemas.openxmlformats.org/officeDocument/2006/relationships/image" Target="../media/image8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svg"/><Relationship Id="rId13" Type="http://schemas.openxmlformats.org/officeDocument/2006/relationships/image" Target="../media/image99.png"/><Relationship Id="rId3" Type="http://schemas.openxmlformats.org/officeDocument/2006/relationships/image" Target="../media/image2.png"/><Relationship Id="rId7" Type="http://schemas.openxmlformats.org/officeDocument/2006/relationships/image" Target="../media/image93.png"/><Relationship Id="rId12" Type="http://schemas.openxmlformats.org/officeDocument/2006/relationships/image" Target="../media/image9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2.png"/><Relationship Id="rId11" Type="http://schemas.openxmlformats.org/officeDocument/2006/relationships/image" Target="../media/image97.png"/><Relationship Id="rId5" Type="http://schemas.openxmlformats.org/officeDocument/2006/relationships/image" Target="../media/image91.png"/><Relationship Id="rId10" Type="http://schemas.openxmlformats.org/officeDocument/2006/relationships/image" Target="../media/image96.svg"/><Relationship Id="rId4" Type="http://schemas.openxmlformats.org/officeDocument/2006/relationships/image" Target="../media/image90.png"/><Relationship Id="rId9" Type="http://schemas.openxmlformats.org/officeDocument/2006/relationships/image" Target="../media/image95.png"/><Relationship Id="rId14" Type="http://schemas.openxmlformats.org/officeDocument/2006/relationships/image" Target="../media/image100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110.png"/><Relationship Id="rId3" Type="http://schemas.openxmlformats.org/officeDocument/2006/relationships/image" Target="../media/image102.png"/><Relationship Id="rId7" Type="http://schemas.openxmlformats.org/officeDocument/2006/relationships/image" Target="../media/image1.png"/><Relationship Id="rId12" Type="http://schemas.openxmlformats.org/officeDocument/2006/relationships/image" Target="../media/image109.svg"/><Relationship Id="rId2" Type="http://schemas.openxmlformats.org/officeDocument/2006/relationships/image" Target="../media/image101.png"/><Relationship Id="rId16" Type="http://schemas.openxmlformats.org/officeDocument/2006/relationships/image" Target="../media/image1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5.svg"/><Relationship Id="rId11" Type="http://schemas.openxmlformats.org/officeDocument/2006/relationships/image" Target="../media/image108.png"/><Relationship Id="rId5" Type="http://schemas.openxmlformats.org/officeDocument/2006/relationships/image" Target="../media/image104.png"/><Relationship Id="rId15" Type="http://schemas.openxmlformats.org/officeDocument/2006/relationships/oleObject" Target="../embeddings/oleObject1.bin"/><Relationship Id="rId10" Type="http://schemas.openxmlformats.org/officeDocument/2006/relationships/image" Target="../media/image107.svg"/><Relationship Id="rId4" Type="http://schemas.openxmlformats.org/officeDocument/2006/relationships/image" Target="../media/image103.png"/><Relationship Id="rId9" Type="http://schemas.openxmlformats.org/officeDocument/2006/relationships/image" Target="../media/image106.png"/><Relationship Id="rId14" Type="http://schemas.openxmlformats.org/officeDocument/2006/relationships/image" Target="../media/image111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13" Type="http://schemas.openxmlformats.org/officeDocument/2006/relationships/image" Target="../media/image118.svg"/><Relationship Id="rId18" Type="http://schemas.openxmlformats.org/officeDocument/2006/relationships/image" Target="../media/image121.png"/><Relationship Id="rId3" Type="http://schemas.openxmlformats.org/officeDocument/2006/relationships/image" Target="../media/image2.png"/><Relationship Id="rId21" Type="http://schemas.openxmlformats.org/officeDocument/2006/relationships/image" Target="../media/image98.svg"/><Relationship Id="rId7" Type="http://schemas.openxmlformats.org/officeDocument/2006/relationships/image" Target="../media/image64.png"/><Relationship Id="rId12" Type="http://schemas.openxmlformats.org/officeDocument/2006/relationships/image" Target="../media/image117.png"/><Relationship Id="rId17" Type="http://schemas.openxmlformats.org/officeDocument/2006/relationships/image" Target="../media/image96.svg"/><Relationship Id="rId2" Type="http://schemas.openxmlformats.org/officeDocument/2006/relationships/image" Target="../media/image1.png"/><Relationship Id="rId16" Type="http://schemas.openxmlformats.org/officeDocument/2006/relationships/image" Target="../media/image95.png"/><Relationship Id="rId20" Type="http://schemas.openxmlformats.org/officeDocument/2006/relationships/image" Target="../media/image9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3.png"/><Relationship Id="rId11" Type="http://schemas.openxmlformats.org/officeDocument/2006/relationships/image" Target="../media/image116.png"/><Relationship Id="rId5" Type="http://schemas.openxmlformats.org/officeDocument/2006/relationships/image" Target="../media/image107.svg"/><Relationship Id="rId15" Type="http://schemas.openxmlformats.org/officeDocument/2006/relationships/image" Target="../media/image120.svg"/><Relationship Id="rId10" Type="http://schemas.openxmlformats.org/officeDocument/2006/relationships/image" Target="../media/image115.svg"/><Relationship Id="rId19" Type="http://schemas.openxmlformats.org/officeDocument/2006/relationships/image" Target="../media/image122.svg"/><Relationship Id="rId4" Type="http://schemas.openxmlformats.org/officeDocument/2006/relationships/image" Target="../media/image106.png"/><Relationship Id="rId9" Type="http://schemas.openxmlformats.org/officeDocument/2006/relationships/image" Target="../media/image114.png"/><Relationship Id="rId14" Type="http://schemas.openxmlformats.org/officeDocument/2006/relationships/image" Target="../media/image1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7.svg"/><Relationship Id="rId4" Type="http://schemas.openxmlformats.org/officeDocument/2006/relationships/image" Target="../media/image10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svg"/><Relationship Id="rId3" Type="http://schemas.openxmlformats.org/officeDocument/2006/relationships/image" Target="../media/image1.png"/><Relationship Id="rId7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7.svg"/><Relationship Id="rId5" Type="http://schemas.openxmlformats.org/officeDocument/2006/relationships/image" Target="../media/image106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svg"/><Relationship Id="rId13" Type="http://schemas.openxmlformats.org/officeDocument/2006/relationships/image" Target="../media/image136.png"/><Relationship Id="rId18" Type="http://schemas.openxmlformats.org/officeDocument/2006/relationships/image" Target="../media/image141.svg"/><Relationship Id="rId3" Type="http://schemas.openxmlformats.org/officeDocument/2006/relationships/image" Target="../media/image107.svg"/><Relationship Id="rId21" Type="http://schemas.openxmlformats.org/officeDocument/2006/relationships/image" Target="../media/image144.png"/><Relationship Id="rId7" Type="http://schemas.openxmlformats.org/officeDocument/2006/relationships/image" Target="../media/image130.png"/><Relationship Id="rId12" Type="http://schemas.openxmlformats.org/officeDocument/2006/relationships/image" Target="../media/image135.svg"/><Relationship Id="rId17" Type="http://schemas.openxmlformats.org/officeDocument/2006/relationships/image" Target="../media/image140.png"/><Relationship Id="rId2" Type="http://schemas.openxmlformats.org/officeDocument/2006/relationships/image" Target="../media/image106.png"/><Relationship Id="rId16" Type="http://schemas.openxmlformats.org/officeDocument/2006/relationships/image" Target="../media/image139.svg"/><Relationship Id="rId20" Type="http://schemas.openxmlformats.org/officeDocument/2006/relationships/image" Target="../media/image14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9.svg"/><Relationship Id="rId11" Type="http://schemas.openxmlformats.org/officeDocument/2006/relationships/image" Target="../media/image134.png"/><Relationship Id="rId5" Type="http://schemas.openxmlformats.org/officeDocument/2006/relationships/image" Target="../media/image128.png"/><Relationship Id="rId15" Type="http://schemas.openxmlformats.org/officeDocument/2006/relationships/image" Target="../media/image138.png"/><Relationship Id="rId10" Type="http://schemas.openxmlformats.org/officeDocument/2006/relationships/image" Target="../media/image133.svg"/><Relationship Id="rId19" Type="http://schemas.openxmlformats.org/officeDocument/2006/relationships/image" Target="../media/image142.png"/><Relationship Id="rId4" Type="http://schemas.openxmlformats.org/officeDocument/2006/relationships/image" Target="../media/image127.png"/><Relationship Id="rId9" Type="http://schemas.openxmlformats.org/officeDocument/2006/relationships/image" Target="../media/image132.png"/><Relationship Id="rId14" Type="http://schemas.openxmlformats.org/officeDocument/2006/relationships/image" Target="../media/image137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svg"/><Relationship Id="rId13" Type="http://schemas.openxmlformats.org/officeDocument/2006/relationships/image" Target="../media/image136.png"/><Relationship Id="rId18" Type="http://schemas.openxmlformats.org/officeDocument/2006/relationships/image" Target="../media/image141.svg"/><Relationship Id="rId3" Type="http://schemas.openxmlformats.org/officeDocument/2006/relationships/image" Target="../media/image107.svg"/><Relationship Id="rId21" Type="http://schemas.openxmlformats.org/officeDocument/2006/relationships/image" Target="../media/image144.png"/><Relationship Id="rId7" Type="http://schemas.openxmlformats.org/officeDocument/2006/relationships/image" Target="../media/image130.png"/><Relationship Id="rId12" Type="http://schemas.openxmlformats.org/officeDocument/2006/relationships/image" Target="../media/image135.svg"/><Relationship Id="rId17" Type="http://schemas.openxmlformats.org/officeDocument/2006/relationships/image" Target="../media/image140.png"/><Relationship Id="rId2" Type="http://schemas.openxmlformats.org/officeDocument/2006/relationships/image" Target="../media/image106.png"/><Relationship Id="rId16" Type="http://schemas.openxmlformats.org/officeDocument/2006/relationships/image" Target="../media/image139.svg"/><Relationship Id="rId20" Type="http://schemas.openxmlformats.org/officeDocument/2006/relationships/image" Target="../media/image14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9.svg"/><Relationship Id="rId11" Type="http://schemas.openxmlformats.org/officeDocument/2006/relationships/image" Target="../media/image134.png"/><Relationship Id="rId5" Type="http://schemas.openxmlformats.org/officeDocument/2006/relationships/image" Target="../media/image128.png"/><Relationship Id="rId15" Type="http://schemas.openxmlformats.org/officeDocument/2006/relationships/image" Target="../media/image138.png"/><Relationship Id="rId10" Type="http://schemas.openxmlformats.org/officeDocument/2006/relationships/image" Target="../media/image133.svg"/><Relationship Id="rId19" Type="http://schemas.openxmlformats.org/officeDocument/2006/relationships/image" Target="../media/image142.png"/><Relationship Id="rId4" Type="http://schemas.openxmlformats.org/officeDocument/2006/relationships/image" Target="../media/image127.png"/><Relationship Id="rId9" Type="http://schemas.openxmlformats.org/officeDocument/2006/relationships/image" Target="../media/image132.png"/><Relationship Id="rId14" Type="http://schemas.openxmlformats.org/officeDocument/2006/relationships/image" Target="../media/image137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svg"/><Relationship Id="rId3" Type="http://schemas.openxmlformats.org/officeDocument/2006/relationships/image" Target="../media/image107.svg"/><Relationship Id="rId7" Type="http://schemas.openxmlformats.org/officeDocument/2006/relationships/image" Target="../media/image146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5.png"/><Relationship Id="rId11" Type="http://schemas.openxmlformats.org/officeDocument/2006/relationships/image" Target="../media/image150.png"/><Relationship Id="rId5" Type="http://schemas.openxmlformats.org/officeDocument/2006/relationships/image" Target="../media/image2.png"/><Relationship Id="rId10" Type="http://schemas.openxmlformats.org/officeDocument/2006/relationships/image" Target="../media/image149.png"/><Relationship Id="rId4" Type="http://schemas.openxmlformats.org/officeDocument/2006/relationships/image" Target="../media/image1.png"/><Relationship Id="rId9" Type="http://schemas.openxmlformats.org/officeDocument/2006/relationships/image" Target="../media/image14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png"/><Relationship Id="rId13" Type="http://schemas.openxmlformats.org/officeDocument/2006/relationships/image" Target="../media/image158.svg"/><Relationship Id="rId18" Type="http://schemas.openxmlformats.org/officeDocument/2006/relationships/image" Target="../media/image87.svg"/><Relationship Id="rId3" Type="http://schemas.openxmlformats.org/officeDocument/2006/relationships/image" Target="../media/image2.png"/><Relationship Id="rId7" Type="http://schemas.openxmlformats.org/officeDocument/2006/relationships/image" Target="../media/image154.svg"/><Relationship Id="rId12" Type="http://schemas.openxmlformats.org/officeDocument/2006/relationships/image" Target="../media/image157.png"/><Relationship Id="rId17" Type="http://schemas.openxmlformats.org/officeDocument/2006/relationships/image" Target="../media/image86.png"/><Relationship Id="rId2" Type="http://schemas.openxmlformats.org/officeDocument/2006/relationships/image" Target="../media/image1.png"/><Relationship Id="rId16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3.png"/><Relationship Id="rId11" Type="http://schemas.openxmlformats.org/officeDocument/2006/relationships/image" Target="../media/image18.svg"/><Relationship Id="rId5" Type="http://schemas.openxmlformats.org/officeDocument/2006/relationships/image" Target="../media/image152.png"/><Relationship Id="rId15" Type="http://schemas.openxmlformats.org/officeDocument/2006/relationships/image" Target="../media/image160.svg"/><Relationship Id="rId10" Type="http://schemas.openxmlformats.org/officeDocument/2006/relationships/image" Target="../media/image17.png"/><Relationship Id="rId4" Type="http://schemas.openxmlformats.org/officeDocument/2006/relationships/image" Target="../media/image151.png"/><Relationship Id="rId9" Type="http://schemas.openxmlformats.org/officeDocument/2006/relationships/image" Target="../media/image156.png"/><Relationship Id="rId14" Type="http://schemas.openxmlformats.org/officeDocument/2006/relationships/image" Target="../media/image15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png"/><Relationship Id="rId3" Type="http://schemas.openxmlformats.org/officeDocument/2006/relationships/image" Target="../media/image37.svg"/><Relationship Id="rId7" Type="http://schemas.openxmlformats.org/officeDocument/2006/relationships/image" Target="../media/image162.png"/><Relationship Id="rId12" Type="http://schemas.openxmlformats.org/officeDocument/2006/relationships/image" Target="../media/image16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1.png"/><Relationship Id="rId11" Type="http://schemas.openxmlformats.org/officeDocument/2006/relationships/image" Target="../media/image166.png"/><Relationship Id="rId5" Type="http://schemas.openxmlformats.org/officeDocument/2006/relationships/image" Target="../media/image2.png"/><Relationship Id="rId10" Type="http://schemas.openxmlformats.org/officeDocument/2006/relationships/image" Target="../media/image165.png"/><Relationship Id="rId4" Type="http://schemas.openxmlformats.org/officeDocument/2006/relationships/image" Target="../media/image1.png"/><Relationship Id="rId9" Type="http://schemas.openxmlformats.org/officeDocument/2006/relationships/image" Target="../media/image164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png"/><Relationship Id="rId13" Type="http://schemas.openxmlformats.org/officeDocument/2006/relationships/image" Target="../media/image177.svg"/><Relationship Id="rId3" Type="http://schemas.openxmlformats.org/officeDocument/2006/relationships/image" Target="../media/image2.png"/><Relationship Id="rId7" Type="http://schemas.openxmlformats.org/officeDocument/2006/relationships/image" Target="../media/image171.png"/><Relationship Id="rId12" Type="http://schemas.openxmlformats.org/officeDocument/2006/relationships/image" Target="../media/image17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0.svg"/><Relationship Id="rId11" Type="http://schemas.openxmlformats.org/officeDocument/2006/relationships/image" Target="../media/image175.png"/><Relationship Id="rId5" Type="http://schemas.openxmlformats.org/officeDocument/2006/relationships/image" Target="../media/image169.png"/><Relationship Id="rId10" Type="http://schemas.openxmlformats.org/officeDocument/2006/relationships/image" Target="../media/image174.png"/><Relationship Id="rId4" Type="http://schemas.openxmlformats.org/officeDocument/2006/relationships/image" Target="../media/image168.png"/><Relationship Id="rId9" Type="http://schemas.openxmlformats.org/officeDocument/2006/relationships/image" Target="../media/image173.svg"/><Relationship Id="rId14" Type="http://schemas.openxmlformats.org/officeDocument/2006/relationships/image" Target="../media/image17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42912" y="2509574"/>
            <a:ext cx="11134182" cy="5061482"/>
            <a:chOff x="0" y="-65066"/>
            <a:chExt cx="14845576" cy="6748644"/>
          </a:xfrm>
        </p:grpSpPr>
        <p:sp>
          <p:nvSpPr>
            <p:cNvPr id="3" name="Freeform 3"/>
            <p:cNvSpPr/>
            <p:nvPr/>
          </p:nvSpPr>
          <p:spPr>
            <a:xfrm>
              <a:off x="3767799" y="4965476"/>
              <a:ext cx="2140936" cy="1718101"/>
            </a:xfrm>
            <a:custGeom>
              <a:avLst/>
              <a:gdLst/>
              <a:ahLst/>
              <a:cxnLst/>
              <a:rect l="l" t="t" r="r" b="b"/>
              <a:pathLst>
                <a:path w="2140936" h="1718101">
                  <a:moveTo>
                    <a:pt x="0" y="0"/>
                  </a:moveTo>
                  <a:lnTo>
                    <a:pt x="2140936" y="0"/>
                  </a:lnTo>
                  <a:lnTo>
                    <a:pt x="2140936" y="1718102"/>
                  </a:lnTo>
                  <a:lnTo>
                    <a:pt x="0" y="17181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Freeform 4"/>
            <p:cNvSpPr/>
            <p:nvPr/>
          </p:nvSpPr>
          <p:spPr>
            <a:xfrm>
              <a:off x="6710276" y="5419889"/>
              <a:ext cx="2527377" cy="1263689"/>
            </a:xfrm>
            <a:custGeom>
              <a:avLst/>
              <a:gdLst/>
              <a:ahLst/>
              <a:cxnLst/>
              <a:rect l="l" t="t" r="r" b="b"/>
              <a:pathLst>
                <a:path w="2527377" h="1263689">
                  <a:moveTo>
                    <a:pt x="0" y="0"/>
                  </a:moveTo>
                  <a:lnTo>
                    <a:pt x="2527377" y="0"/>
                  </a:lnTo>
                  <a:lnTo>
                    <a:pt x="2527377" y="1263689"/>
                  </a:lnTo>
                  <a:lnTo>
                    <a:pt x="0" y="1263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361766" y="-65066"/>
              <a:ext cx="11117580" cy="31148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309"/>
                </a:lnSpc>
                <a:spcBef>
                  <a:spcPct val="0"/>
                </a:spcBef>
              </a:pPr>
              <a:r>
                <a:rPr lang="en-US" sz="6649" b="1" dirty="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                                  </a:t>
              </a:r>
            </a:p>
            <a:p>
              <a:pPr algn="l">
                <a:lnSpc>
                  <a:spcPts val="9309"/>
                </a:lnSpc>
                <a:spcBef>
                  <a:spcPct val="0"/>
                </a:spcBef>
              </a:pPr>
              <a:r>
                <a:rPr lang="en-US" sz="6649" b="1" dirty="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  in App Reviews 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02349" y="153409"/>
              <a:ext cx="13743227" cy="11646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60"/>
                </a:lnSpc>
              </a:pPr>
              <a:r>
                <a:rPr lang="en-US" sz="7452" b="1" spc="-626" dirty="0">
                  <a:solidFill>
                    <a:srgbClr val="FB766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TOPIC  DETECTION 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3006853"/>
              <a:ext cx="14694517" cy="111061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6719"/>
                </a:lnSpc>
                <a:spcBef>
                  <a:spcPct val="0"/>
                </a:spcBef>
              </a:pPr>
              <a:r>
                <a:rPr lang="en-US" sz="4799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   A Data-Driven Solution for HYPE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-160141" y="-1"/>
            <a:ext cx="4656195" cy="5064716"/>
          </a:xfrm>
          <a:custGeom>
            <a:avLst/>
            <a:gdLst/>
            <a:ahLst/>
            <a:cxnLst/>
            <a:rect l="l" t="t" r="r" b="b"/>
            <a:pathLst>
              <a:path w="4656195" h="5490030">
                <a:moveTo>
                  <a:pt x="0" y="0"/>
                </a:moveTo>
                <a:lnTo>
                  <a:pt x="4656195" y="0"/>
                </a:lnTo>
                <a:lnTo>
                  <a:pt x="4656195" y="5490030"/>
                </a:lnTo>
                <a:lnTo>
                  <a:pt x="0" y="54900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398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9" name="Freeform 9"/>
          <p:cNvSpPr/>
          <p:nvPr/>
        </p:nvSpPr>
        <p:spPr>
          <a:xfrm>
            <a:off x="-644218" y="6557518"/>
            <a:ext cx="5469371" cy="3767582"/>
          </a:xfrm>
          <a:custGeom>
            <a:avLst/>
            <a:gdLst/>
            <a:ahLst/>
            <a:cxnLst/>
            <a:rect l="l" t="t" r="r" b="b"/>
            <a:pathLst>
              <a:path w="5469371" h="5570368">
                <a:moveTo>
                  <a:pt x="0" y="0"/>
                </a:moveTo>
                <a:lnTo>
                  <a:pt x="5469370" y="0"/>
                </a:lnTo>
                <a:lnTo>
                  <a:pt x="5469370" y="5570367"/>
                </a:lnTo>
                <a:lnTo>
                  <a:pt x="0" y="55703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4785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1" name="Freeform 11"/>
          <p:cNvSpPr/>
          <p:nvPr/>
        </p:nvSpPr>
        <p:spPr>
          <a:xfrm>
            <a:off x="14771430" y="5495458"/>
            <a:ext cx="3516570" cy="4769166"/>
          </a:xfrm>
          <a:custGeom>
            <a:avLst/>
            <a:gdLst/>
            <a:ahLst/>
            <a:cxnLst/>
            <a:rect l="l" t="t" r="r" b="b"/>
            <a:pathLst>
              <a:path w="3516570" h="5505580">
                <a:moveTo>
                  <a:pt x="0" y="0"/>
                </a:moveTo>
                <a:lnTo>
                  <a:pt x="3516570" y="0"/>
                </a:lnTo>
                <a:lnTo>
                  <a:pt x="3516570" y="5505580"/>
                </a:lnTo>
                <a:lnTo>
                  <a:pt x="0" y="55055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15441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2" name="Freeform 12"/>
          <p:cNvSpPr/>
          <p:nvPr/>
        </p:nvSpPr>
        <p:spPr>
          <a:xfrm>
            <a:off x="14751222" y="-1"/>
            <a:ext cx="3536778" cy="4001803"/>
          </a:xfrm>
          <a:custGeom>
            <a:avLst/>
            <a:gdLst/>
            <a:ahLst/>
            <a:cxnLst/>
            <a:rect l="l" t="t" r="r" b="b"/>
            <a:pathLst>
              <a:path w="4180926" h="5946206">
                <a:moveTo>
                  <a:pt x="0" y="0"/>
                </a:moveTo>
                <a:lnTo>
                  <a:pt x="4180926" y="0"/>
                </a:lnTo>
                <a:lnTo>
                  <a:pt x="4180926" y="5946206"/>
                </a:lnTo>
                <a:lnTo>
                  <a:pt x="0" y="59462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48588" r="-18212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3" name="TextBox 13"/>
          <p:cNvSpPr txBox="1"/>
          <p:nvPr/>
        </p:nvSpPr>
        <p:spPr>
          <a:xfrm>
            <a:off x="6133735" y="8649749"/>
            <a:ext cx="6020531" cy="1317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Alessia Ciccaglione - s344499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Amirhossein Lotf Ranaei - s323336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Sonia Foco - s343043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9130995" y="5029883"/>
            <a:ext cx="6806240" cy="3708000"/>
            <a:chOff x="0" y="0"/>
            <a:chExt cx="2307562" cy="10599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07562" cy="1059967"/>
            </a:xfrm>
            <a:custGeom>
              <a:avLst/>
              <a:gdLst/>
              <a:ahLst/>
              <a:cxnLst/>
              <a:rect l="l" t="t" r="r" b="b"/>
              <a:pathLst>
                <a:path w="2307562" h="1059967">
                  <a:moveTo>
                    <a:pt x="64639" y="0"/>
                  </a:moveTo>
                  <a:lnTo>
                    <a:pt x="2242923" y="0"/>
                  </a:lnTo>
                  <a:cubicBezTo>
                    <a:pt x="2278622" y="0"/>
                    <a:pt x="2307562" y="28940"/>
                    <a:pt x="2307562" y="64639"/>
                  </a:cubicBezTo>
                  <a:lnTo>
                    <a:pt x="2307562" y="995328"/>
                  </a:lnTo>
                  <a:cubicBezTo>
                    <a:pt x="2307562" y="1012471"/>
                    <a:pt x="2300752" y="1028913"/>
                    <a:pt x="2288630" y="1041035"/>
                  </a:cubicBezTo>
                  <a:cubicBezTo>
                    <a:pt x="2276508" y="1053157"/>
                    <a:pt x="2260066" y="1059967"/>
                    <a:pt x="2242923" y="1059967"/>
                  </a:cubicBezTo>
                  <a:lnTo>
                    <a:pt x="64639" y="1059967"/>
                  </a:lnTo>
                  <a:cubicBezTo>
                    <a:pt x="28940" y="1059967"/>
                    <a:pt x="0" y="1031027"/>
                    <a:pt x="0" y="995328"/>
                  </a:cubicBezTo>
                  <a:lnTo>
                    <a:pt x="0" y="64639"/>
                  </a:lnTo>
                  <a:cubicBezTo>
                    <a:pt x="0" y="47496"/>
                    <a:pt x="6810" y="31055"/>
                    <a:pt x="18932" y="18932"/>
                  </a:cubicBezTo>
                  <a:cubicBezTo>
                    <a:pt x="31055" y="6810"/>
                    <a:pt x="47496" y="0"/>
                    <a:pt x="6463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307562" cy="11171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12835838" y="5214206"/>
            <a:ext cx="6806240" cy="3501277"/>
            <a:chOff x="0" y="0"/>
            <a:chExt cx="2307562" cy="102207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07562" cy="1022078"/>
            </a:xfrm>
            <a:custGeom>
              <a:avLst/>
              <a:gdLst/>
              <a:ahLst/>
              <a:cxnLst/>
              <a:rect l="l" t="t" r="r" b="b"/>
              <a:pathLst>
                <a:path w="2307562" h="1022078">
                  <a:moveTo>
                    <a:pt x="64639" y="0"/>
                  </a:moveTo>
                  <a:lnTo>
                    <a:pt x="2242923" y="0"/>
                  </a:lnTo>
                  <a:cubicBezTo>
                    <a:pt x="2278622" y="0"/>
                    <a:pt x="2307562" y="28940"/>
                    <a:pt x="2307562" y="64639"/>
                  </a:cubicBezTo>
                  <a:lnTo>
                    <a:pt x="2307562" y="957439"/>
                  </a:lnTo>
                  <a:cubicBezTo>
                    <a:pt x="2307562" y="974582"/>
                    <a:pt x="2300752" y="991023"/>
                    <a:pt x="2288630" y="1003145"/>
                  </a:cubicBezTo>
                  <a:cubicBezTo>
                    <a:pt x="2276508" y="1015268"/>
                    <a:pt x="2260066" y="1022078"/>
                    <a:pt x="2242923" y="1022078"/>
                  </a:cubicBezTo>
                  <a:lnTo>
                    <a:pt x="64639" y="1022078"/>
                  </a:lnTo>
                  <a:cubicBezTo>
                    <a:pt x="47496" y="1022078"/>
                    <a:pt x="31055" y="1015268"/>
                    <a:pt x="18932" y="1003145"/>
                  </a:cubicBezTo>
                  <a:cubicBezTo>
                    <a:pt x="6810" y="991023"/>
                    <a:pt x="0" y="974582"/>
                    <a:pt x="0" y="957439"/>
                  </a:cubicBezTo>
                  <a:lnTo>
                    <a:pt x="0" y="64639"/>
                  </a:lnTo>
                  <a:cubicBezTo>
                    <a:pt x="0" y="47496"/>
                    <a:pt x="6810" y="31055"/>
                    <a:pt x="18932" y="18932"/>
                  </a:cubicBezTo>
                  <a:cubicBezTo>
                    <a:pt x="31055" y="6810"/>
                    <a:pt x="47496" y="0"/>
                    <a:pt x="6463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307562" cy="10792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448701" y="3950330"/>
            <a:ext cx="1990987" cy="395414"/>
            <a:chOff x="0" y="0"/>
            <a:chExt cx="581200" cy="11542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81200" cy="115428"/>
            </a:xfrm>
            <a:custGeom>
              <a:avLst/>
              <a:gdLst/>
              <a:ahLst/>
              <a:cxnLst/>
              <a:rect l="l" t="t" r="r" b="b"/>
              <a:pathLst>
                <a:path w="581200" h="115428">
                  <a:moveTo>
                    <a:pt x="57714" y="0"/>
                  </a:moveTo>
                  <a:lnTo>
                    <a:pt x="523487" y="0"/>
                  </a:lnTo>
                  <a:cubicBezTo>
                    <a:pt x="555361" y="0"/>
                    <a:pt x="581200" y="25839"/>
                    <a:pt x="581200" y="57714"/>
                  </a:cubicBezTo>
                  <a:lnTo>
                    <a:pt x="581200" y="57714"/>
                  </a:lnTo>
                  <a:cubicBezTo>
                    <a:pt x="581200" y="89588"/>
                    <a:pt x="555361" y="115428"/>
                    <a:pt x="523487" y="115428"/>
                  </a:cubicBezTo>
                  <a:lnTo>
                    <a:pt x="57714" y="115428"/>
                  </a:lnTo>
                  <a:cubicBezTo>
                    <a:pt x="25839" y="115428"/>
                    <a:pt x="0" y="89588"/>
                    <a:pt x="0" y="57714"/>
                  </a:cubicBezTo>
                  <a:lnTo>
                    <a:pt x="0" y="57714"/>
                  </a:lnTo>
                  <a:cubicBezTo>
                    <a:pt x="0" y="25839"/>
                    <a:pt x="25839" y="0"/>
                    <a:pt x="57714" y="0"/>
                  </a:cubicBezTo>
                  <a:close/>
                </a:path>
              </a:pathLst>
            </a:custGeom>
            <a:solidFill>
              <a:srgbClr val="FB766A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581200" cy="1725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329924" y="3984398"/>
            <a:ext cx="1990987" cy="395414"/>
            <a:chOff x="0" y="0"/>
            <a:chExt cx="581200" cy="11542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81200" cy="115428"/>
            </a:xfrm>
            <a:custGeom>
              <a:avLst/>
              <a:gdLst/>
              <a:ahLst/>
              <a:cxnLst/>
              <a:rect l="l" t="t" r="r" b="b"/>
              <a:pathLst>
                <a:path w="581200" h="115428">
                  <a:moveTo>
                    <a:pt x="57714" y="0"/>
                  </a:moveTo>
                  <a:lnTo>
                    <a:pt x="523487" y="0"/>
                  </a:lnTo>
                  <a:cubicBezTo>
                    <a:pt x="555361" y="0"/>
                    <a:pt x="581200" y="25839"/>
                    <a:pt x="581200" y="57714"/>
                  </a:cubicBezTo>
                  <a:lnTo>
                    <a:pt x="581200" y="57714"/>
                  </a:lnTo>
                  <a:cubicBezTo>
                    <a:pt x="581200" y="89588"/>
                    <a:pt x="555361" y="115428"/>
                    <a:pt x="523487" y="115428"/>
                  </a:cubicBezTo>
                  <a:lnTo>
                    <a:pt x="57714" y="115428"/>
                  </a:lnTo>
                  <a:cubicBezTo>
                    <a:pt x="25839" y="115428"/>
                    <a:pt x="0" y="89588"/>
                    <a:pt x="0" y="57714"/>
                  </a:cubicBezTo>
                  <a:lnTo>
                    <a:pt x="0" y="57714"/>
                  </a:lnTo>
                  <a:cubicBezTo>
                    <a:pt x="0" y="25839"/>
                    <a:pt x="25839" y="0"/>
                    <a:pt x="57714" y="0"/>
                  </a:cubicBezTo>
                  <a:close/>
                </a:path>
              </a:pathLst>
            </a:custGeom>
            <a:solidFill>
              <a:srgbClr val="153C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581200" cy="1725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5194157" y="525503"/>
            <a:ext cx="1254072" cy="1006393"/>
          </a:xfrm>
          <a:custGeom>
            <a:avLst/>
            <a:gdLst/>
            <a:ahLst/>
            <a:cxnLst/>
            <a:rect l="l" t="t" r="r" b="b"/>
            <a:pathLst>
              <a:path w="1254072" h="1006393">
                <a:moveTo>
                  <a:pt x="0" y="0"/>
                </a:moveTo>
                <a:lnTo>
                  <a:pt x="1254072" y="0"/>
                </a:lnTo>
                <a:lnTo>
                  <a:pt x="1254072" y="1006394"/>
                </a:lnTo>
                <a:lnTo>
                  <a:pt x="0" y="10063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5" name="Freeform 15"/>
          <p:cNvSpPr/>
          <p:nvPr/>
        </p:nvSpPr>
        <p:spPr>
          <a:xfrm>
            <a:off x="16495854" y="717451"/>
            <a:ext cx="1244996" cy="622498"/>
          </a:xfrm>
          <a:custGeom>
            <a:avLst/>
            <a:gdLst/>
            <a:ahLst/>
            <a:cxnLst/>
            <a:rect l="l" t="t" r="r" b="b"/>
            <a:pathLst>
              <a:path w="1244996" h="622498">
                <a:moveTo>
                  <a:pt x="0" y="0"/>
                </a:moveTo>
                <a:lnTo>
                  <a:pt x="1244997" y="0"/>
                </a:lnTo>
                <a:lnTo>
                  <a:pt x="1244997" y="622498"/>
                </a:lnTo>
                <a:lnTo>
                  <a:pt x="0" y="6224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6" name="Freeform 16"/>
          <p:cNvSpPr/>
          <p:nvPr/>
        </p:nvSpPr>
        <p:spPr>
          <a:xfrm>
            <a:off x="1028700" y="3522610"/>
            <a:ext cx="7240924" cy="3991559"/>
          </a:xfrm>
          <a:custGeom>
            <a:avLst/>
            <a:gdLst/>
            <a:ahLst/>
            <a:cxnLst/>
            <a:rect l="l" t="t" r="r" b="b"/>
            <a:pathLst>
              <a:path w="7240924" h="3991559">
                <a:moveTo>
                  <a:pt x="0" y="0"/>
                </a:moveTo>
                <a:lnTo>
                  <a:pt x="7240924" y="0"/>
                </a:lnTo>
                <a:lnTo>
                  <a:pt x="7240924" y="3991559"/>
                </a:lnTo>
                <a:lnTo>
                  <a:pt x="0" y="39915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7" name="Freeform 17"/>
          <p:cNvSpPr/>
          <p:nvPr/>
        </p:nvSpPr>
        <p:spPr>
          <a:xfrm>
            <a:off x="7885510" y="3624951"/>
            <a:ext cx="1114308" cy="1114308"/>
          </a:xfrm>
          <a:custGeom>
            <a:avLst/>
            <a:gdLst/>
            <a:ahLst/>
            <a:cxnLst/>
            <a:rect l="l" t="t" r="r" b="b"/>
            <a:pathLst>
              <a:path w="1114308" h="1114308">
                <a:moveTo>
                  <a:pt x="0" y="0"/>
                </a:moveTo>
                <a:lnTo>
                  <a:pt x="1114308" y="0"/>
                </a:lnTo>
                <a:lnTo>
                  <a:pt x="1114308" y="1114308"/>
                </a:lnTo>
                <a:lnTo>
                  <a:pt x="0" y="11143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w="1905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it-IT"/>
          </a:p>
        </p:txBody>
      </p:sp>
      <p:sp>
        <p:nvSpPr>
          <p:cNvPr id="18" name="Freeform 18"/>
          <p:cNvSpPr/>
          <p:nvPr/>
        </p:nvSpPr>
        <p:spPr>
          <a:xfrm>
            <a:off x="8031671" y="2959188"/>
            <a:ext cx="1083636" cy="1072104"/>
          </a:xfrm>
          <a:custGeom>
            <a:avLst/>
            <a:gdLst/>
            <a:ahLst/>
            <a:cxnLst/>
            <a:rect l="l" t="t" r="r" b="b"/>
            <a:pathLst>
              <a:path w="1083636" h="1072104">
                <a:moveTo>
                  <a:pt x="0" y="0"/>
                </a:moveTo>
                <a:lnTo>
                  <a:pt x="1083636" y="0"/>
                </a:lnTo>
                <a:lnTo>
                  <a:pt x="1083636" y="1072105"/>
                </a:lnTo>
                <a:lnTo>
                  <a:pt x="0" y="10721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487" t="-14968" r="-12394" b="-12267"/>
            </a:stretch>
          </a:blipFill>
          <a:ln w="1905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it-IT"/>
          </a:p>
        </p:txBody>
      </p:sp>
      <p:sp>
        <p:nvSpPr>
          <p:cNvPr id="19" name="Freeform 19"/>
          <p:cNvSpPr/>
          <p:nvPr/>
        </p:nvSpPr>
        <p:spPr>
          <a:xfrm>
            <a:off x="7431182" y="3189664"/>
            <a:ext cx="1058909" cy="1058909"/>
          </a:xfrm>
          <a:custGeom>
            <a:avLst/>
            <a:gdLst/>
            <a:ahLst/>
            <a:cxnLst/>
            <a:rect l="l" t="t" r="r" b="b"/>
            <a:pathLst>
              <a:path w="1058909" h="1058909">
                <a:moveTo>
                  <a:pt x="0" y="0"/>
                </a:moveTo>
                <a:lnTo>
                  <a:pt x="1058909" y="0"/>
                </a:lnTo>
                <a:lnTo>
                  <a:pt x="1058909" y="1058909"/>
                </a:lnTo>
                <a:lnTo>
                  <a:pt x="0" y="105890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  <a:ln w="1905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Box 20"/>
          <p:cNvSpPr txBox="1"/>
          <p:nvPr/>
        </p:nvSpPr>
        <p:spPr>
          <a:xfrm>
            <a:off x="1139390" y="1038225"/>
            <a:ext cx="8134894" cy="1920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6"/>
              </a:lnSpc>
            </a:pPr>
            <a:r>
              <a:rPr lang="en-US" sz="6672" b="1" spc="-54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OBJECTIVES </a:t>
            </a:r>
            <a:r>
              <a:rPr lang="en-US" sz="6672" spc="-54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of </a:t>
            </a:r>
          </a:p>
          <a:p>
            <a:pPr algn="l">
              <a:lnSpc>
                <a:spcPts val="7206"/>
              </a:lnSpc>
            </a:pPr>
            <a:r>
              <a:rPr lang="en-US" sz="6672" spc="-54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Our Solution :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548904" y="3930550"/>
            <a:ext cx="1790581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KEY FEATURES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748738" y="3964618"/>
            <a:ext cx="1153358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BENEFITS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097414" y="4679847"/>
            <a:ext cx="3290700" cy="553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>
                <a:solidFill>
                  <a:srgbClr val="FEFEFF"/>
                </a:solidFill>
                <a:latin typeface="Poppins Bold"/>
                <a:ea typeface="Poppins Bold"/>
                <a:cs typeface="Poppins Bold"/>
                <a:sym typeface="Poppins Bold"/>
              </a:rPr>
              <a:t>Automatically analyzes</a:t>
            </a:r>
            <a:r>
              <a:rPr lang="en-US" sz="2199">
                <a:solidFill>
                  <a:srgbClr val="FEFEFF"/>
                </a:solidFill>
                <a:latin typeface="Poppins"/>
                <a:ea typeface="Poppins"/>
                <a:cs typeface="Poppins"/>
                <a:sym typeface="Poppins"/>
              </a:rPr>
              <a:t> every HYPE app review</a:t>
            </a:r>
          </a:p>
          <a:p>
            <a:pPr algn="l">
              <a:lnSpc>
                <a:spcPts val="1260"/>
              </a:lnSpc>
            </a:pPr>
            <a:endParaRPr lang="en-US" sz="2199">
              <a:solidFill>
                <a:srgbClr val="FEFE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EFEFF"/>
                </a:solidFill>
                <a:latin typeface="Poppins"/>
                <a:ea typeface="Poppins"/>
                <a:cs typeface="Poppins"/>
                <a:sym typeface="Poppins"/>
              </a:rPr>
              <a:t>Detects </a:t>
            </a:r>
            <a:r>
              <a:rPr lang="en-US" sz="2199" b="1">
                <a:solidFill>
                  <a:srgbClr val="FEFEFF"/>
                </a:solidFill>
                <a:latin typeface="Poppins Bold"/>
                <a:ea typeface="Poppins Bold"/>
                <a:cs typeface="Poppins Bold"/>
                <a:sym typeface="Poppins Bold"/>
              </a:rPr>
              <a:t>negative </a:t>
            </a:r>
            <a:r>
              <a:rPr lang="en-US" sz="2199">
                <a:solidFill>
                  <a:srgbClr val="FEFEFF"/>
                </a:solidFill>
                <a:latin typeface="Poppins"/>
                <a:ea typeface="Poppins"/>
                <a:cs typeface="Poppins"/>
                <a:sym typeface="Poppins"/>
              </a:rPr>
              <a:t>topics (bugs, complaints, usability issues)</a:t>
            </a:r>
          </a:p>
          <a:p>
            <a:pPr algn="l">
              <a:lnSpc>
                <a:spcPts val="1260"/>
              </a:lnSpc>
            </a:pPr>
            <a:endParaRPr lang="en-US" sz="2199">
              <a:solidFill>
                <a:srgbClr val="FEFE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EFEFF"/>
                </a:solidFill>
                <a:latin typeface="Poppins"/>
                <a:ea typeface="Poppins"/>
                <a:cs typeface="Poppins"/>
                <a:sym typeface="Poppins"/>
              </a:rPr>
              <a:t>Identifies </a:t>
            </a:r>
            <a:r>
              <a:rPr lang="en-US" sz="2199" b="1">
                <a:solidFill>
                  <a:srgbClr val="FEFEFF"/>
                </a:solidFill>
                <a:latin typeface="Poppins Bold"/>
                <a:ea typeface="Poppins Bold"/>
                <a:cs typeface="Poppins Bold"/>
                <a:sym typeface="Poppins Bold"/>
              </a:rPr>
              <a:t>recurring problems</a:t>
            </a:r>
            <a:r>
              <a:rPr lang="en-US" sz="2199">
                <a:solidFill>
                  <a:srgbClr val="FEFEFF"/>
                </a:solidFill>
                <a:latin typeface="Poppins"/>
                <a:ea typeface="Poppins"/>
                <a:cs typeface="Poppins"/>
                <a:sym typeface="Poppins"/>
              </a:rPr>
              <a:t> and emerging trends</a:t>
            </a:r>
          </a:p>
          <a:p>
            <a:pPr algn="l">
              <a:lnSpc>
                <a:spcPts val="1260"/>
              </a:lnSpc>
            </a:pPr>
            <a:endParaRPr lang="en-US" sz="2199">
              <a:solidFill>
                <a:srgbClr val="FEFE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EFEFF"/>
                </a:solidFill>
                <a:latin typeface="Poppins"/>
                <a:ea typeface="Poppins"/>
                <a:cs typeface="Poppins"/>
                <a:sym typeface="Poppins"/>
              </a:rPr>
              <a:t>Tags each review </a:t>
            </a:r>
            <a:r>
              <a:rPr lang="en-US" sz="2199" b="1">
                <a:solidFill>
                  <a:srgbClr val="FEFEFF"/>
                </a:solidFill>
                <a:latin typeface="Poppins Bold"/>
                <a:ea typeface="Poppins Bold"/>
                <a:cs typeface="Poppins Bold"/>
                <a:sym typeface="Poppins Bold"/>
              </a:rPr>
              <a:t>consistently </a:t>
            </a:r>
          </a:p>
          <a:p>
            <a:pPr algn="l">
              <a:lnSpc>
                <a:spcPts val="3079"/>
              </a:lnSpc>
            </a:pPr>
            <a:endParaRPr lang="en-US" sz="2199" b="1">
              <a:solidFill>
                <a:srgbClr val="FEFE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4814541" y="4679847"/>
            <a:ext cx="2848835" cy="553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>
                <a:solidFill>
                  <a:srgbClr val="FEFEFF"/>
                </a:solidFill>
                <a:latin typeface="Poppins Bold"/>
                <a:ea typeface="Poppins Bold"/>
                <a:cs typeface="Poppins Bold"/>
                <a:sym typeface="Poppins Bold"/>
              </a:rPr>
              <a:t>Faster insights</a:t>
            </a:r>
            <a:r>
              <a:rPr lang="en-US" sz="2199">
                <a:solidFill>
                  <a:srgbClr val="FEFEFF"/>
                </a:solidFill>
                <a:latin typeface="Poppins"/>
                <a:ea typeface="Poppins"/>
                <a:cs typeface="Poppins"/>
                <a:sym typeface="Poppins"/>
              </a:rPr>
              <a:t> for the Research &amp; Customer Insight team</a:t>
            </a:r>
          </a:p>
          <a:p>
            <a:pPr algn="l">
              <a:lnSpc>
                <a:spcPts val="1260"/>
              </a:lnSpc>
            </a:pPr>
            <a:endParaRPr lang="en-US" sz="2199">
              <a:solidFill>
                <a:srgbClr val="FEFE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079"/>
              </a:lnSpc>
            </a:pPr>
            <a:r>
              <a:rPr lang="en-US" sz="2199" b="1">
                <a:solidFill>
                  <a:srgbClr val="FEFEFF"/>
                </a:solidFill>
                <a:latin typeface="Poppins Bold"/>
                <a:ea typeface="Poppins Bold"/>
                <a:cs typeface="Poppins Bold"/>
                <a:sym typeface="Poppins Bold"/>
              </a:rPr>
              <a:t>Reduced </a:t>
            </a:r>
            <a:r>
              <a:rPr lang="en-US" sz="2199">
                <a:solidFill>
                  <a:srgbClr val="FEFEFF"/>
                </a:solidFill>
                <a:latin typeface="Poppins"/>
                <a:ea typeface="Poppins"/>
                <a:cs typeface="Poppins"/>
                <a:sym typeface="Poppins"/>
              </a:rPr>
              <a:t>manual </a:t>
            </a:r>
            <a:r>
              <a:rPr lang="en-US" sz="2199" b="1">
                <a:solidFill>
                  <a:srgbClr val="FEFEFF"/>
                </a:solidFill>
                <a:latin typeface="Poppins Bold"/>
                <a:ea typeface="Poppins Bold"/>
                <a:cs typeface="Poppins Bold"/>
                <a:sym typeface="Poppins Bold"/>
              </a:rPr>
              <a:t>effort</a:t>
            </a:r>
          </a:p>
          <a:p>
            <a:pPr algn="l">
              <a:lnSpc>
                <a:spcPts val="1260"/>
              </a:lnSpc>
            </a:pPr>
            <a:endParaRPr lang="en-US" sz="2199" b="1">
              <a:solidFill>
                <a:srgbClr val="FEFE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3079"/>
              </a:lnSpc>
            </a:pPr>
            <a:r>
              <a:rPr lang="en-US" sz="2199" b="1">
                <a:solidFill>
                  <a:srgbClr val="FEFEFF"/>
                </a:solidFill>
                <a:latin typeface="Poppins Bold"/>
                <a:ea typeface="Poppins Bold"/>
                <a:cs typeface="Poppins Bold"/>
                <a:sym typeface="Poppins Bold"/>
              </a:rPr>
              <a:t>Summarizes </a:t>
            </a:r>
            <a:r>
              <a:rPr lang="en-US" sz="2199">
                <a:solidFill>
                  <a:srgbClr val="FEFEFF"/>
                </a:solidFill>
                <a:latin typeface="Poppins"/>
                <a:ea typeface="Poppins"/>
                <a:cs typeface="Poppins"/>
                <a:sym typeface="Poppins"/>
              </a:rPr>
              <a:t>large volumes of feedback </a:t>
            </a:r>
          </a:p>
          <a:p>
            <a:pPr algn="l">
              <a:lnSpc>
                <a:spcPts val="1260"/>
              </a:lnSpc>
            </a:pPr>
            <a:endParaRPr lang="en-US" sz="2199">
              <a:solidFill>
                <a:srgbClr val="FEFE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EFEFF"/>
                </a:solidFill>
                <a:latin typeface="Poppins"/>
                <a:ea typeface="Poppins"/>
                <a:cs typeface="Poppins"/>
                <a:sym typeface="Poppins"/>
              </a:rPr>
              <a:t>Improved visibility on customer </a:t>
            </a:r>
            <a:r>
              <a:rPr lang="en-US" sz="2199" b="1">
                <a:solidFill>
                  <a:srgbClr val="FEFEFF"/>
                </a:solidFill>
                <a:latin typeface="Poppins Bold"/>
                <a:ea typeface="Poppins Bold"/>
                <a:cs typeface="Poppins Bold"/>
                <a:sym typeface="Poppins Bold"/>
              </a:rPr>
              <a:t>pain points</a:t>
            </a:r>
          </a:p>
          <a:p>
            <a:pPr algn="l">
              <a:lnSpc>
                <a:spcPts val="3079"/>
              </a:lnSpc>
            </a:pPr>
            <a:endParaRPr lang="en-US" sz="2199" b="1">
              <a:solidFill>
                <a:srgbClr val="FEFE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4649162" y="7880564"/>
            <a:ext cx="3620462" cy="1689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19"/>
              </a:lnSpc>
            </a:pPr>
            <a:r>
              <a:rPr lang="en-US" sz="3999" b="1" spc="-327">
                <a:solidFill>
                  <a:srgbClr val="153CFF"/>
                </a:solidFill>
                <a:latin typeface="Poppins Bold"/>
                <a:ea typeface="Poppins Bold"/>
                <a:cs typeface="Poppins Bold"/>
                <a:sym typeface="Poppins Bold"/>
              </a:rPr>
              <a:t>AI TOOL </a:t>
            </a:r>
          </a:p>
          <a:p>
            <a:pPr algn="r">
              <a:lnSpc>
                <a:spcPts val="4319"/>
              </a:lnSpc>
            </a:pPr>
            <a:r>
              <a:rPr lang="en-US" sz="3999" b="1" spc="-32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FOR FEEDBACK AUTOMATION</a:t>
            </a:r>
          </a:p>
        </p:txBody>
      </p:sp>
      <p:sp>
        <p:nvSpPr>
          <p:cNvPr id="26" name="Freeform 26"/>
          <p:cNvSpPr/>
          <p:nvPr/>
        </p:nvSpPr>
        <p:spPr>
          <a:xfrm>
            <a:off x="1264732" y="8269184"/>
            <a:ext cx="1280465" cy="766307"/>
          </a:xfrm>
          <a:custGeom>
            <a:avLst/>
            <a:gdLst/>
            <a:ahLst/>
            <a:cxnLst/>
            <a:rect l="l" t="t" r="r" b="b"/>
            <a:pathLst>
              <a:path w="1280465" h="766307">
                <a:moveTo>
                  <a:pt x="0" y="0"/>
                </a:moveTo>
                <a:lnTo>
                  <a:pt x="1280465" y="0"/>
                </a:lnTo>
                <a:lnTo>
                  <a:pt x="1280465" y="766307"/>
                </a:lnTo>
                <a:lnTo>
                  <a:pt x="0" y="7663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99721" r="-7919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7" name="Freeform 27"/>
          <p:cNvSpPr/>
          <p:nvPr/>
        </p:nvSpPr>
        <p:spPr>
          <a:xfrm>
            <a:off x="751432" y="7476069"/>
            <a:ext cx="1392379" cy="793115"/>
          </a:xfrm>
          <a:custGeom>
            <a:avLst/>
            <a:gdLst/>
            <a:ahLst/>
            <a:cxnLst/>
            <a:rect l="l" t="t" r="r" b="b"/>
            <a:pathLst>
              <a:path w="1392379" h="793115">
                <a:moveTo>
                  <a:pt x="0" y="0"/>
                </a:moveTo>
                <a:lnTo>
                  <a:pt x="1392379" y="0"/>
                </a:lnTo>
                <a:lnTo>
                  <a:pt x="1392379" y="793115"/>
                </a:lnTo>
                <a:lnTo>
                  <a:pt x="0" y="7931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182260" r="-182106" b="-266262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8" name="TextBox 28"/>
          <p:cNvSpPr txBox="1"/>
          <p:nvPr/>
        </p:nvSpPr>
        <p:spPr>
          <a:xfrm>
            <a:off x="1000980" y="9066874"/>
            <a:ext cx="1954173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6150 records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335104" y="9055871"/>
            <a:ext cx="1254072" cy="1006393"/>
          </a:xfrm>
          <a:custGeom>
            <a:avLst/>
            <a:gdLst/>
            <a:ahLst/>
            <a:cxnLst/>
            <a:rect l="l" t="t" r="r" b="b"/>
            <a:pathLst>
              <a:path w="1254072" h="1006393">
                <a:moveTo>
                  <a:pt x="0" y="0"/>
                </a:moveTo>
                <a:lnTo>
                  <a:pt x="1254073" y="0"/>
                </a:lnTo>
                <a:lnTo>
                  <a:pt x="1254073" y="1006393"/>
                </a:lnTo>
                <a:lnTo>
                  <a:pt x="0" y="10063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6636802" y="9247819"/>
            <a:ext cx="1244996" cy="622498"/>
          </a:xfrm>
          <a:custGeom>
            <a:avLst/>
            <a:gdLst/>
            <a:ahLst/>
            <a:cxnLst/>
            <a:rect l="l" t="t" r="r" b="b"/>
            <a:pathLst>
              <a:path w="1244996" h="622498">
                <a:moveTo>
                  <a:pt x="0" y="0"/>
                </a:moveTo>
                <a:lnTo>
                  <a:pt x="1244996" y="0"/>
                </a:lnTo>
                <a:lnTo>
                  <a:pt x="1244996" y="622498"/>
                </a:lnTo>
                <a:lnTo>
                  <a:pt x="0" y="6224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1028700" y="3278513"/>
            <a:ext cx="16230600" cy="1028008"/>
          </a:xfrm>
          <a:custGeom>
            <a:avLst/>
            <a:gdLst/>
            <a:ahLst/>
            <a:cxnLst/>
            <a:rect l="l" t="t" r="r" b="b"/>
            <a:pathLst>
              <a:path w="16230600" h="1028008">
                <a:moveTo>
                  <a:pt x="0" y="0"/>
                </a:moveTo>
                <a:lnTo>
                  <a:pt x="16230600" y="0"/>
                </a:lnTo>
                <a:lnTo>
                  <a:pt x="16230600" y="1028008"/>
                </a:lnTo>
                <a:lnTo>
                  <a:pt x="0" y="10280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598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5" name="Group 5"/>
          <p:cNvGrpSpPr/>
          <p:nvPr/>
        </p:nvGrpSpPr>
        <p:grpSpPr>
          <a:xfrm rot="5400000">
            <a:off x="6446444" y="1475580"/>
            <a:ext cx="1028008" cy="4633874"/>
            <a:chOff x="0" y="0"/>
            <a:chExt cx="300092" cy="135270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0092" cy="1352701"/>
            </a:xfrm>
            <a:custGeom>
              <a:avLst/>
              <a:gdLst/>
              <a:ahLst/>
              <a:cxnLst/>
              <a:rect l="l" t="t" r="r" b="b"/>
              <a:pathLst>
                <a:path w="300092" h="1352701">
                  <a:moveTo>
                    <a:pt x="0" y="0"/>
                  </a:moveTo>
                  <a:lnTo>
                    <a:pt x="300092" y="0"/>
                  </a:lnTo>
                  <a:lnTo>
                    <a:pt x="300092" y="1352701"/>
                  </a:lnTo>
                  <a:lnTo>
                    <a:pt x="0" y="13527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B766A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300092" cy="14098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5400000">
            <a:off x="9442809" y="3113089"/>
            <a:ext cx="1028008" cy="1358856"/>
            <a:chOff x="0" y="0"/>
            <a:chExt cx="300092" cy="3966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00092" cy="396672"/>
            </a:xfrm>
            <a:custGeom>
              <a:avLst/>
              <a:gdLst/>
              <a:ahLst/>
              <a:cxnLst/>
              <a:rect l="l" t="t" r="r" b="b"/>
              <a:pathLst>
                <a:path w="300092" h="396672">
                  <a:moveTo>
                    <a:pt x="0" y="0"/>
                  </a:moveTo>
                  <a:lnTo>
                    <a:pt x="300092" y="0"/>
                  </a:lnTo>
                  <a:lnTo>
                    <a:pt x="300092" y="396672"/>
                  </a:lnTo>
                  <a:lnTo>
                    <a:pt x="0" y="3966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40CDFF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300092" cy="4538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5400000">
            <a:off x="11852976" y="2900474"/>
            <a:ext cx="1028008" cy="1784087"/>
            <a:chOff x="0" y="0"/>
            <a:chExt cx="300092" cy="52080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00092" cy="520803"/>
            </a:xfrm>
            <a:custGeom>
              <a:avLst/>
              <a:gdLst/>
              <a:ahLst/>
              <a:cxnLst/>
              <a:rect l="l" t="t" r="r" b="b"/>
              <a:pathLst>
                <a:path w="300092" h="520803">
                  <a:moveTo>
                    <a:pt x="0" y="0"/>
                  </a:moveTo>
                  <a:lnTo>
                    <a:pt x="300092" y="0"/>
                  </a:lnTo>
                  <a:lnTo>
                    <a:pt x="300092" y="520803"/>
                  </a:lnTo>
                  <a:lnTo>
                    <a:pt x="0" y="5208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153CFF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300092" cy="5779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8700" y="1038225"/>
            <a:ext cx="6118511" cy="89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12"/>
              </a:lnSpc>
            </a:pPr>
            <a:r>
              <a:rPr lang="en-US" sz="5937" spc="-48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Introducing the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1761331"/>
            <a:ext cx="10109775" cy="89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12"/>
              </a:lnSpc>
            </a:pPr>
            <a:r>
              <a:rPr lang="en-US" sz="5937" b="1" spc="-48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</a:t>
            </a:r>
          </a:p>
        </p:txBody>
      </p:sp>
      <p:sp>
        <p:nvSpPr>
          <p:cNvPr id="16" name="Freeform 16"/>
          <p:cNvSpPr/>
          <p:nvPr/>
        </p:nvSpPr>
        <p:spPr>
          <a:xfrm>
            <a:off x="14160730" y="263976"/>
            <a:ext cx="2062720" cy="1360671"/>
          </a:xfrm>
          <a:custGeom>
            <a:avLst/>
            <a:gdLst/>
            <a:ahLst/>
            <a:cxnLst/>
            <a:rect l="l" t="t" r="r" b="b"/>
            <a:pathLst>
              <a:path w="2062720" h="1360671">
                <a:moveTo>
                  <a:pt x="0" y="0"/>
                </a:moveTo>
                <a:lnTo>
                  <a:pt x="2062720" y="0"/>
                </a:lnTo>
                <a:lnTo>
                  <a:pt x="2062720" y="1360671"/>
                </a:lnTo>
                <a:lnTo>
                  <a:pt x="0" y="13606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it-IT"/>
          </a:p>
        </p:txBody>
      </p:sp>
      <p:sp>
        <p:nvSpPr>
          <p:cNvPr id="17" name="Freeform 17"/>
          <p:cNvSpPr/>
          <p:nvPr/>
        </p:nvSpPr>
        <p:spPr>
          <a:xfrm>
            <a:off x="16341989" y="263976"/>
            <a:ext cx="1592981" cy="1360671"/>
          </a:xfrm>
          <a:custGeom>
            <a:avLst/>
            <a:gdLst/>
            <a:ahLst/>
            <a:cxnLst/>
            <a:rect l="l" t="t" r="r" b="b"/>
            <a:pathLst>
              <a:path w="1592981" h="1360671">
                <a:moveTo>
                  <a:pt x="0" y="0"/>
                </a:moveTo>
                <a:lnTo>
                  <a:pt x="1592981" y="0"/>
                </a:lnTo>
                <a:lnTo>
                  <a:pt x="1592981" y="1360671"/>
                </a:lnTo>
                <a:lnTo>
                  <a:pt x="0" y="13606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it-IT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0149" y="4318140"/>
            <a:ext cx="6241826" cy="5876867"/>
          </a:xfrm>
          <a:prstGeom prst="rect">
            <a:avLst/>
          </a:prstGeom>
        </p:spPr>
      </p:pic>
      <p:sp>
        <p:nvSpPr>
          <p:cNvPr id="19" name="Freeform 19"/>
          <p:cNvSpPr/>
          <p:nvPr/>
        </p:nvSpPr>
        <p:spPr>
          <a:xfrm rot="2112674">
            <a:off x="7986209" y="8315127"/>
            <a:ext cx="1633419" cy="1404740"/>
          </a:xfrm>
          <a:custGeom>
            <a:avLst/>
            <a:gdLst/>
            <a:ahLst/>
            <a:cxnLst/>
            <a:rect l="l" t="t" r="r" b="b"/>
            <a:pathLst>
              <a:path w="1633419" h="1404740">
                <a:moveTo>
                  <a:pt x="0" y="0"/>
                </a:moveTo>
                <a:lnTo>
                  <a:pt x="1633418" y="0"/>
                </a:lnTo>
                <a:lnTo>
                  <a:pt x="1633418" y="1404740"/>
                </a:lnTo>
                <a:lnTo>
                  <a:pt x="0" y="14047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0" name="Freeform 20"/>
          <p:cNvSpPr/>
          <p:nvPr/>
        </p:nvSpPr>
        <p:spPr>
          <a:xfrm rot="2112674">
            <a:off x="7986209" y="8301379"/>
            <a:ext cx="1633419" cy="1404740"/>
          </a:xfrm>
          <a:custGeom>
            <a:avLst/>
            <a:gdLst/>
            <a:ahLst/>
            <a:cxnLst/>
            <a:rect l="l" t="t" r="r" b="b"/>
            <a:pathLst>
              <a:path w="1633419" h="1404740">
                <a:moveTo>
                  <a:pt x="0" y="0"/>
                </a:moveTo>
                <a:lnTo>
                  <a:pt x="1633418" y="0"/>
                </a:lnTo>
                <a:lnTo>
                  <a:pt x="1633418" y="1404740"/>
                </a:lnTo>
                <a:lnTo>
                  <a:pt x="0" y="14047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1" name="TextBox 21"/>
          <p:cNvSpPr txBox="1"/>
          <p:nvPr/>
        </p:nvSpPr>
        <p:spPr>
          <a:xfrm>
            <a:off x="1905560" y="4832111"/>
            <a:ext cx="5054888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1">
                <a:solidFill>
                  <a:srgbClr val="FB766A"/>
                </a:solidFill>
                <a:latin typeface="Poppins Bold"/>
                <a:ea typeface="Poppins Bold"/>
                <a:cs typeface="Poppins Bold"/>
                <a:sym typeface="Poppins Bold"/>
              </a:rPr>
              <a:t> REAL USER REVIEWS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503775" y="5221732"/>
            <a:ext cx="3858458" cy="2120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Ambiguous meaning</a:t>
            </a:r>
          </a:p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Multi-label reviews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Multilingual content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Off-topic reviews</a:t>
            </a:r>
          </a:p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Copy-pasted content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Spam and low-quality reviews</a:t>
            </a:r>
          </a:p>
        </p:txBody>
      </p:sp>
      <p:sp>
        <p:nvSpPr>
          <p:cNvPr id="23" name="Freeform 23"/>
          <p:cNvSpPr/>
          <p:nvPr/>
        </p:nvSpPr>
        <p:spPr>
          <a:xfrm flipH="1">
            <a:off x="4165430" y="4306521"/>
            <a:ext cx="956161" cy="544640"/>
          </a:xfrm>
          <a:custGeom>
            <a:avLst/>
            <a:gdLst/>
            <a:ahLst/>
            <a:cxnLst/>
            <a:rect l="l" t="t" r="r" b="b"/>
            <a:pathLst>
              <a:path w="956161" h="544640">
                <a:moveTo>
                  <a:pt x="956161" y="0"/>
                </a:moveTo>
                <a:lnTo>
                  <a:pt x="0" y="0"/>
                </a:lnTo>
                <a:lnTo>
                  <a:pt x="0" y="544640"/>
                </a:lnTo>
                <a:lnTo>
                  <a:pt x="956161" y="544640"/>
                </a:lnTo>
                <a:lnTo>
                  <a:pt x="95616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t="-182260" r="-182106" b="-266262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4" name="TextBox 24"/>
          <p:cNvSpPr txBox="1"/>
          <p:nvPr/>
        </p:nvSpPr>
        <p:spPr>
          <a:xfrm>
            <a:off x="2540565" y="8257033"/>
            <a:ext cx="3546634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Small size    Labelling errors</a:t>
            </a:r>
          </a:p>
        </p:txBody>
      </p:sp>
      <p:sp>
        <p:nvSpPr>
          <p:cNvPr id="25" name="Freeform 25"/>
          <p:cNvSpPr/>
          <p:nvPr/>
        </p:nvSpPr>
        <p:spPr>
          <a:xfrm>
            <a:off x="4010915" y="7511534"/>
            <a:ext cx="632595" cy="633747"/>
          </a:xfrm>
          <a:custGeom>
            <a:avLst/>
            <a:gdLst/>
            <a:ahLst/>
            <a:cxnLst/>
            <a:rect l="l" t="t" r="r" b="b"/>
            <a:pathLst>
              <a:path w="632595" h="633747">
                <a:moveTo>
                  <a:pt x="0" y="0"/>
                </a:moveTo>
                <a:lnTo>
                  <a:pt x="632596" y="0"/>
                </a:lnTo>
                <a:lnTo>
                  <a:pt x="632596" y="633747"/>
                </a:lnTo>
                <a:lnTo>
                  <a:pt x="0" y="63374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6" name="Freeform 26"/>
          <p:cNvSpPr/>
          <p:nvPr/>
        </p:nvSpPr>
        <p:spPr>
          <a:xfrm>
            <a:off x="1830864" y="8129209"/>
            <a:ext cx="813085" cy="486599"/>
          </a:xfrm>
          <a:custGeom>
            <a:avLst/>
            <a:gdLst/>
            <a:ahLst/>
            <a:cxnLst/>
            <a:rect l="l" t="t" r="r" b="b"/>
            <a:pathLst>
              <a:path w="813085" h="486599">
                <a:moveTo>
                  <a:pt x="0" y="0"/>
                </a:moveTo>
                <a:lnTo>
                  <a:pt x="813085" y="0"/>
                </a:lnTo>
                <a:lnTo>
                  <a:pt x="813085" y="486599"/>
                </a:lnTo>
                <a:lnTo>
                  <a:pt x="0" y="48659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t="-99721" r="-7919"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71550" y="4186052"/>
            <a:ext cx="8115300" cy="4198566"/>
            <a:chOff x="0" y="0"/>
            <a:chExt cx="1806096" cy="9344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06096" cy="934409"/>
            </a:xfrm>
            <a:custGeom>
              <a:avLst/>
              <a:gdLst/>
              <a:ahLst/>
              <a:cxnLst/>
              <a:rect l="l" t="t" r="r" b="b"/>
              <a:pathLst>
                <a:path w="1806096" h="934409">
                  <a:moveTo>
                    <a:pt x="1681636" y="934409"/>
                  </a:moveTo>
                  <a:lnTo>
                    <a:pt x="124460" y="934409"/>
                  </a:lnTo>
                  <a:cubicBezTo>
                    <a:pt x="55880" y="934409"/>
                    <a:pt x="0" y="878529"/>
                    <a:pt x="0" y="80994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681636" y="0"/>
                  </a:lnTo>
                  <a:cubicBezTo>
                    <a:pt x="1750216" y="0"/>
                    <a:pt x="1806096" y="55880"/>
                    <a:pt x="1806096" y="124460"/>
                  </a:cubicBezTo>
                  <a:lnTo>
                    <a:pt x="1806096" y="809949"/>
                  </a:lnTo>
                  <a:cubicBezTo>
                    <a:pt x="1806096" y="878529"/>
                    <a:pt x="1750216" y="934409"/>
                    <a:pt x="1681636" y="934409"/>
                  </a:cubicBezTo>
                  <a:close/>
                </a:path>
              </a:pathLst>
            </a:custGeom>
            <a:solidFill>
              <a:srgbClr val="FFFFFF">
                <a:alpha val="84706"/>
              </a:srgbClr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4" name="Freeform 4"/>
          <p:cNvSpPr/>
          <p:nvPr/>
        </p:nvSpPr>
        <p:spPr>
          <a:xfrm>
            <a:off x="4218858" y="4521496"/>
            <a:ext cx="2513018" cy="397514"/>
          </a:xfrm>
          <a:custGeom>
            <a:avLst/>
            <a:gdLst/>
            <a:ahLst/>
            <a:cxnLst/>
            <a:rect l="l" t="t" r="r" b="b"/>
            <a:pathLst>
              <a:path w="2513018" h="397514">
                <a:moveTo>
                  <a:pt x="0" y="0"/>
                </a:moveTo>
                <a:lnTo>
                  <a:pt x="2513017" y="0"/>
                </a:lnTo>
                <a:lnTo>
                  <a:pt x="2513017" y="397513"/>
                </a:lnTo>
                <a:lnTo>
                  <a:pt x="0" y="397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5" name="Group 5"/>
          <p:cNvGrpSpPr/>
          <p:nvPr/>
        </p:nvGrpSpPr>
        <p:grpSpPr>
          <a:xfrm>
            <a:off x="1313859" y="4447073"/>
            <a:ext cx="2549722" cy="254972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9837" y="0"/>
                  </a:moveTo>
                  <a:lnTo>
                    <a:pt x="742963" y="0"/>
                  </a:lnTo>
                  <a:cubicBezTo>
                    <a:pt x="761485" y="0"/>
                    <a:pt x="779248" y="7358"/>
                    <a:pt x="792345" y="20455"/>
                  </a:cubicBezTo>
                  <a:cubicBezTo>
                    <a:pt x="805442" y="33552"/>
                    <a:pt x="812800" y="51315"/>
                    <a:pt x="812800" y="69837"/>
                  </a:cubicBezTo>
                  <a:lnTo>
                    <a:pt x="812800" y="742963"/>
                  </a:lnTo>
                  <a:cubicBezTo>
                    <a:pt x="812800" y="761485"/>
                    <a:pt x="805442" y="779248"/>
                    <a:pt x="792345" y="792345"/>
                  </a:cubicBezTo>
                  <a:cubicBezTo>
                    <a:pt x="779248" y="805442"/>
                    <a:pt x="761485" y="812800"/>
                    <a:pt x="742963" y="812800"/>
                  </a:cubicBezTo>
                  <a:lnTo>
                    <a:pt x="69837" y="812800"/>
                  </a:lnTo>
                  <a:cubicBezTo>
                    <a:pt x="51315" y="812800"/>
                    <a:pt x="33552" y="805442"/>
                    <a:pt x="20455" y="792345"/>
                  </a:cubicBezTo>
                  <a:cubicBezTo>
                    <a:pt x="7358" y="779248"/>
                    <a:pt x="0" y="761485"/>
                    <a:pt x="0" y="742963"/>
                  </a:cubicBezTo>
                  <a:lnTo>
                    <a:pt x="0" y="69837"/>
                  </a:lnTo>
                  <a:cubicBezTo>
                    <a:pt x="0" y="51315"/>
                    <a:pt x="7358" y="33552"/>
                    <a:pt x="20455" y="20455"/>
                  </a:cubicBezTo>
                  <a:cubicBezTo>
                    <a:pt x="33552" y="7358"/>
                    <a:pt x="51315" y="0"/>
                    <a:pt x="69837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7259300" y="9370678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</a:p>
        </p:txBody>
      </p:sp>
      <p:sp>
        <p:nvSpPr>
          <p:cNvPr id="8" name="Freeform 8"/>
          <p:cNvSpPr/>
          <p:nvPr/>
        </p:nvSpPr>
        <p:spPr>
          <a:xfrm>
            <a:off x="15335104" y="9055871"/>
            <a:ext cx="1254072" cy="1006393"/>
          </a:xfrm>
          <a:custGeom>
            <a:avLst/>
            <a:gdLst/>
            <a:ahLst/>
            <a:cxnLst/>
            <a:rect l="l" t="t" r="r" b="b"/>
            <a:pathLst>
              <a:path w="1254072" h="1006393">
                <a:moveTo>
                  <a:pt x="0" y="0"/>
                </a:moveTo>
                <a:lnTo>
                  <a:pt x="1254073" y="0"/>
                </a:lnTo>
                <a:lnTo>
                  <a:pt x="1254073" y="1006393"/>
                </a:lnTo>
                <a:lnTo>
                  <a:pt x="0" y="10063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9" name="Freeform 9"/>
          <p:cNvSpPr/>
          <p:nvPr/>
        </p:nvSpPr>
        <p:spPr>
          <a:xfrm>
            <a:off x="16636802" y="9247819"/>
            <a:ext cx="1244996" cy="622498"/>
          </a:xfrm>
          <a:custGeom>
            <a:avLst/>
            <a:gdLst/>
            <a:ahLst/>
            <a:cxnLst/>
            <a:rect l="l" t="t" r="r" b="b"/>
            <a:pathLst>
              <a:path w="1244996" h="622498">
                <a:moveTo>
                  <a:pt x="0" y="0"/>
                </a:moveTo>
                <a:lnTo>
                  <a:pt x="1244996" y="0"/>
                </a:lnTo>
                <a:lnTo>
                  <a:pt x="1244996" y="622498"/>
                </a:lnTo>
                <a:lnTo>
                  <a:pt x="0" y="6224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0" name="Freeform 10"/>
          <p:cNvSpPr/>
          <p:nvPr/>
        </p:nvSpPr>
        <p:spPr>
          <a:xfrm>
            <a:off x="13876858" y="8828754"/>
            <a:ext cx="1458246" cy="1458246"/>
          </a:xfrm>
          <a:custGeom>
            <a:avLst/>
            <a:gdLst/>
            <a:ahLst/>
            <a:cxnLst/>
            <a:rect l="l" t="t" r="r" b="b"/>
            <a:pathLst>
              <a:path w="1458246" h="1458246">
                <a:moveTo>
                  <a:pt x="0" y="0"/>
                </a:moveTo>
                <a:lnTo>
                  <a:pt x="1458246" y="0"/>
                </a:lnTo>
                <a:lnTo>
                  <a:pt x="1458246" y="1458246"/>
                </a:lnTo>
                <a:lnTo>
                  <a:pt x="0" y="145824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2" name="TextBox 12"/>
          <p:cNvSpPr txBox="1"/>
          <p:nvPr/>
        </p:nvSpPr>
        <p:spPr>
          <a:xfrm>
            <a:off x="4082098" y="5114925"/>
            <a:ext cx="4645448" cy="3142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79"/>
              </a:lnSpc>
            </a:pPr>
            <a:r>
              <a:rPr lang="en-US" sz="1999">
                <a:solidFill>
                  <a:srgbClr val="0F094F"/>
                </a:solidFill>
                <a:latin typeface="Poppins"/>
                <a:ea typeface="Poppins"/>
                <a:cs typeface="Poppins"/>
                <a:sym typeface="Poppins"/>
              </a:rPr>
              <a:t>By using automated NLP, we enhance feedback analysis </a:t>
            </a:r>
            <a:r>
              <a:rPr lang="en-US" sz="1999" b="1">
                <a:solidFill>
                  <a:srgbClr val="0F094F"/>
                </a:solidFill>
                <a:latin typeface="Poppins Bold"/>
                <a:ea typeface="Poppins Bold"/>
                <a:cs typeface="Poppins Bold"/>
                <a:sym typeface="Poppins Bold"/>
              </a:rPr>
              <a:t>efficiency</a:t>
            </a:r>
            <a:r>
              <a:rPr lang="en-US" sz="1999">
                <a:solidFill>
                  <a:srgbClr val="0F094F"/>
                </a:solidFill>
                <a:latin typeface="Poppins"/>
                <a:ea typeface="Poppins"/>
                <a:cs typeface="Poppins"/>
                <a:sym typeface="Poppins"/>
              </a:rPr>
              <a:t>, reduce </a:t>
            </a:r>
            <a:r>
              <a:rPr lang="en-US" sz="1999" b="1">
                <a:solidFill>
                  <a:srgbClr val="0F094F"/>
                </a:solidFill>
                <a:latin typeface="Poppins Bold"/>
                <a:ea typeface="Poppins Bold"/>
                <a:cs typeface="Poppins Bold"/>
                <a:sym typeface="Poppins Bold"/>
              </a:rPr>
              <a:t>manual effort</a:t>
            </a:r>
            <a:r>
              <a:rPr lang="en-US" sz="1999">
                <a:solidFill>
                  <a:srgbClr val="0F094F"/>
                </a:solidFill>
                <a:latin typeface="Poppins"/>
                <a:ea typeface="Poppins"/>
                <a:cs typeface="Poppins"/>
                <a:sym typeface="Poppins"/>
              </a:rPr>
              <a:t>, and </a:t>
            </a:r>
            <a:r>
              <a:rPr lang="en-US" sz="1999" b="1">
                <a:solidFill>
                  <a:srgbClr val="0F094F"/>
                </a:solidFill>
                <a:latin typeface="Poppins Bold"/>
                <a:ea typeface="Poppins Bold"/>
                <a:cs typeface="Poppins Bold"/>
                <a:sym typeface="Poppins Bold"/>
              </a:rPr>
              <a:t>accelerate </a:t>
            </a:r>
            <a:r>
              <a:rPr lang="en-US" sz="1999">
                <a:solidFill>
                  <a:srgbClr val="0F094F"/>
                </a:solidFill>
                <a:latin typeface="Poppins"/>
                <a:ea typeface="Poppins"/>
                <a:cs typeface="Poppins"/>
                <a:sym typeface="Poppins"/>
              </a:rPr>
              <a:t>decision-making. Real-time insights from user reviews enable data-driven product improvements, </a:t>
            </a:r>
            <a:r>
              <a:rPr lang="en-US" sz="1999" b="1">
                <a:solidFill>
                  <a:srgbClr val="0F094F"/>
                </a:solidFill>
                <a:latin typeface="Poppins Bold"/>
                <a:ea typeface="Poppins Bold"/>
                <a:cs typeface="Poppins Bold"/>
                <a:sym typeface="Poppins Bold"/>
              </a:rPr>
              <a:t>driving growth</a:t>
            </a:r>
            <a:r>
              <a:rPr lang="en-US" sz="1999">
                <a:solidFill>
                  <a:srgbClr val="0F094F"/>
                </a:solidFill>
                <a:latin typeface="Poppins"/>
                <a:ea typeface="Poppins"/>
                <a:cs typeface="Poppins"/>
                <a:sym typeface="Poppins"/>
              </a:rPr>
              <a:t> and fostering a </a:t>
            </a:r>
            <a:r>
              <a:rPr lang="en-US" sz="1999" b="1">
                <a:solidFill>
                  <a:srgbClr val="0F094F"/>
                </a:solidFill>
                <a:latin typeface="Poppins Bold"/>
                <a:ea typeface="Poppins Bold"/>
                <a:cs typeface="Poppins Bold"/>
                <a:sym typeface="Poppins Bold"/>
              </a:rPr>
              <a:t>more sustainable </a:t>
            </a:r>
            <a:r>
              <a:rPr lang="en-US" sz="1999">
                <a:solidFill>
                  <a:srgbClr val="0F094F"/>
                </a:solidFill>
                <a:latin typeface="Poppins"/>
                <a:ea typeface="Poppins"/>
                <a:cs typeface="Poppins"/>
                <a:sym typeface="Poppins"/>
              </a:rPr>
              <a:t>business environment.</a:t>
            </a:r>
          </a:p>
          <a:p>
            <a:pPr algn="just">
              <a:lnSpc>
                <a:spcPts val="2355"/>
              </a:lnSpc>
            </a:pPr>
            <a:endParaRPr lang="en-US" sz="1999">
              <a:solidFill>
                <a:srgbClr val="0F094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1237852"/>
            <a:ext cx="7035419" cy="1071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46"/>
              </a:lnSpc>
            </a:pPr>
            <a:r>
              <a:rPr lang="en-US" sz="7172" spc="-58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Defining the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2224634"/>
            <a:ext cx="9038320" cy="1071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46"/>
              </a:lnSpc>
            </a:pPr>
            <a:r>
              <a:rPr lang="en-US" sz="7172" b="1" spc="-58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VALUE  PROPOSITION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305925" y="4186052"/>
            <a:ext cx="8115300" cy="4198566"/>
            <a:chOff x="0" y="0"/>
            <a:chExt cx="1806096" cy="93440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06096" cy="934409"/>
            </a:xfrm>
            <a:custGeom>
              <a:avLst/>
              <a:gdLst/>
              <a:ahLst/>
              <a:cxnLst/>
              <a:rect l="l" t="t" r="r" b="b"/>
              <a:pathLst>
                <a:path w="1806096" h="934409">
                  <a:moveTo>
                    <a:pt x="1681636" y="934409"/>
                  </a:moveTo>
                  <a:lnTo>
                    <a:pt x="124460" y="934409"/>
                  </a:lnTo>
                  <a:cubicBezTo>
                    <a:pt x="55880" y="934409"/>
                    <a:pt x="0" y="878529"/>
                    <a:pt x="0" y="80994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681636" y="0"/>
                  </a:lnTo>
                  <a:cubicBezTo>
                    <a:pt x="1750216" y="0"/>
                    <a:pt x="1806096" y="55880"/>
                    <a:pt x="1806096" y="124460"/>
                  </a:cubicBezTo>
                  <a:lnTo>
                    <a:pt x="1806096" y="809949"/>
                  </a:lnTo>
                  <a:cubicBezTo>
                    <a:pt x="1806096" y="878529"/>
                    <a:pt x="1750216" y="934409"/>
                    <a:pt x="1681636" y="934409"/>
                  </a:cubicBezTo>
                  <a:close/>
                </a:path>
              </a:pathLst>
            </a:custGeom>
            <a:solidFill>
              <a:srgbClr val="FFFFFF">
                <a:alpha val="84706"/>
              </a:srgbClr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17" name="Freeform 17"/>
          <p:cNvSpPr/>
          <p:nvPr/>
        </p:nvSpPr>
        <p:spPr>
          <a:xfrm>
            <a:off x="12553233" y="4521496"/>
            <a:ext cx="2513018" cy="397514"/>
          </a:xfrm>
          <a:custGeom>
            <a:avLst/>
            <a:gdLst/>
            <a:ahLst/>
            <a:cxnLst/>
            <a:rect l="l" t="t" r="r" b="b"/>
            <a:pathLst>
              <a:path w="2513018" h="397514">
                <a:moveTo>
                  <a:pt x="0" y="0"/>
                </a:moveTo>
                <a:lnTo>
                  <a:pt x="2513017" y="0"/>
                </a:lnTo>
                <a:lnTo>
                  <a:pt x="2513017" y="397513"/>
                </a:lnTo>
                <a:lnTo>
                  <a:pt x="0" y="397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18" name="Group 18"/>
          <p:cNvGrpSpPr/>
          <p:nvPr/>
        </p:nvGrpSpPr>
        <p:grpSpPr>
          <a:xfrm>
            <a:off x="9648234" y="4447073"/>
            <a:ext cx="2549722" cy="2549722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9837" y="0"/>
                  </a:moveTo>
                  <a:lnTo>
                    <a:pt x="742963" y="0"/>
                  </a:lnTo>
                  <a:cubicBezTo>
                    <a:pt x="761485" y="0"/>
                    <a:pt x="779248" y="7358"/>
                    <a:pt x="792345" y="20455"/>
                  </a:cubicBezTo>
                  <a:cubicBezTo>
                    <a:pt x="805442" y="33552"/>
                    <a:pt x="812800" y="51315"/>
                    <a:pt x="812800" y="69837"/>
                  </a:cubicBezTo>
                  <a:lnTo>
                    <a:pt x="812800" y="742963"/>
                  </a:lnTo>
                  <a:cubicBezTo>
                    <a:pt x="812800" y="761485"/>
                    <a:pt x="805442" y="779248"/>
                    <a:pt x="792345" y="792345"/>
                  </a:cubicBezTo>
                  <a:cubicBezTo>
                    <a:pt x="779248" y="805442"/>
                    <a:pt x="761485" y="812800"/>
                    <a:pt x="742963" y="812800"/>
                  </a:cubicBezTo>
                  <a:lnTo>
                    <a:pt x="69837" y="812800"/>
                  </a:lnTo>
                  <a:cubicBezTo>
                    <a:pt x="51315" y="812800"/>
                    <a:pt x="33552" y="805442"/>
                    <a:pt x="20455" y="792345"/>
                  </a:cubicBezTo>
                  <a:cubicBezTo>
                    <a:pt x="7358" y="779248"/>
                    <a:pt x="0" y="761485"/>
                    <a:pt x="0" y="742963"/>
                  </a:cubicBezTo>
                  <a:lnTo>
                    <a:pt x="0" y="69837"/>
                  </a:lnTo>
                  <a:cubicBezTo>
                    <a:pt x="0" y="51315"/>
                    <a:pt x="7358" y="33552"/>
                    <a:pt x="20455" y="20455"/>
                  </a:cubicBezTo>
                  <a:cubicBezTo>
                    <a:pt x="33552" y="7358"/>
                    <a:pt x="51315" y="0"/>
                    <a:pt x="69837" y="0"/>
                  </a:cubicBez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2416473" y="5114925"/>
            <a:ext cx="4645448" cy="2828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79"/>
              </a:lnSpc>
            </a:pPr>
            <a:r>
              <a:rPr lang="en-US" sz="1999">
                <a:solidFill>
                  <a:srgbClr val="0F094F"/>
                </a:solidFill>
                <a:latin typeface="Poppins"/>
                <a:ea typeface="Poppins"/>
                <a:cs typeface="Poppins"/>
                <a:sym typeface="Poppins"/>
              </a:rPr>
              <a:t>By utilizing cutting-edge </a:t>
            </a:r>
            <a:r>
              <a:rPr lang="en-US" sz="1999" b="1">
                <a:solidFill>
                  <a:srgbClr val="0F094F"/>
                </a:solidFill>
                <a:latin typeface="Poppins Bold"/>
                <a:ea typeface="Poppins Bold"/>
                <a:cs typeface="Poppins Bold"/>
                <a:sym typeface="Poppins Bold"/>
              </a:rPr>
              <a:t>AI technology</a:t>
            </a:r>
            <a:r>
              <a:rPr lang="en-US" sz="1999">
                <a:solidFill>
                  <a:srgbClr val="0F094F"/>
                </a:solidFill>
                <a:latin typeface="Poppins"/>
                <a:ea typeface="Poppins"/>
                <a:cs typeface="Poppins"/>
                <a:sym typeface="Poppins"/>
              </a:rPr>
              <a:t>, we automate topic detection, improving </a:t>
            </a:r>
            <a:r>
              <a:rPr lang="en-US" sz="1999" b="1">
                <a:solidFill>
                  <a:srgbClr val="0F094F"/>
                </a:solidFill>
                <a:latin typeface="Poppins Bold"/>
                <a:ea typeface="Poppins Bold"/>
                <a:cs typeface="Poppins Bold"/>
                <a:sym typeface="Poppins Bold"/>
              </a:rPr>
              <a:t>operational efficiency</a:t>
            </a:r>
            <a:r>
              <a:rPr lang="en-US" sz="1999">
                <a:solidFill>
                  <a:srgbClr val="0F094F"/>
                </a:solidFill>
                <a:latin typeface="Poppins"/>
                <a:ea typeface="Poppins"/>
                <a:cs typeface="Poppins"/>
                <a:sym typeface="Poppins"/>
              </a:rPr>
              <a:t> and modernizing product development processes. This supports the growth of a more </a:t>
            </a:r>
            <a:r>
              <a:rPr lang="en-US" sz="1999" b="1">
                <a:solidFill>
                  <a:srgbClr val="0F094F"/>
                </a:solidFill>
                <a:latin typeface="Poppins Bold"/>
                <a:ea typeface="Poppins Bold"/>
                <a:cs typeface="Poppins Bold"/>
                <a:sym typeface="Poppins Bold"/>
              </a:rPr>
              <a:t>data-driven</a:t>
            </a:r>
            <a:r>
              <a:rPr lang="en-US" sz="1999">
                <a:solidFill>
                  <a:srgbClr val="0F094F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en-US" sz="1999" b="1">
                <a:solidFill>
                  <a:srgbClr val="0F094F"/>
                </a:solidFill>
                <a:latin typeface="Poppins Bold"/>
                <a:ea typeface="Poppins Bold"/>
                <a:cs typeface="Poppins Bold"/>
                <a:sym typeface="Poppins Bold"/>
              </a:rPr>
              <a:t>technologically advanced infrastructure.</a:t>
            </a:r>
          </a:p>
          <a:p>
            <a:pPr algn="just">
              <a:lnSpc>
                <a:spcPts val="2355"/>
              </a:lnSpc>
            </a:pPr>
            <a:endParaRPr lang="en-US" sz="1999" b="1">
              <a:solidFill>
                <a:srgbClr val="0F094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335104" y="9055871"/>
            <a:ext cx="1254072" cy="1006393"/>
          </a:xfrm>
          <a:custGeom>
            <a:avLst/>
            <a:gdLst/>
            <a:ahLst/>
            <a:cxnLst/>
            <a:rect l="l" t="t" r="r" b="b"/>
            <a:pathLst>
              <a:path w="1254072" h="1006393">
                <a:moveTo>
                  <a:pt x="0" y="0"/>
                </a:moveTo>
                <a:lnTo>
                  <a:pt x="1254073" y="0"/>
                </a:lnTo>
                <a:lnTo>
                  <a:pt x="1254073" y="1006393"/>
                </a:lnTo>
                <a:lnTo>
                  <a:pt x="0" y="10063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6636802" y="9247819"/>
            <a:ext cx="1244996" cy="622498"/>
          </a:xfrm>
          <a:custGeom>
            <a:avLst/>
            <a:gdLst/>
            <a:ahLst/>
            <a:cxnLst/>
            <a:rect l="l" t="t" r="r" b="b"/>
            <a:pathLst>
              <a:path w="1244996" h="622498">
                <a:moveTo>
                  <a:pt x="0" y="0"/>
                </a:moveTo>
                <a:lnTo>
                  <a:pt x="1244996" y="0"/>
                </a:lnTo>
                <a:lnTo>
                  <a:pt x="1244996" y="622498"/>
                </a:lnTo>
                <a:lnTo>
                  <a:pt x="0" y="6224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979300" y="3332743"/>
            <a:ext cx="16737777" cy="5523467"/>
          </a:xfrm>
          <a:custGeom>
            <a:avLst/>
            <a:gdLst/>
            <a:ahLst/>
            <a:cxnLst/>
            <a:rect l="l" t="t" r="r" b="b"/>
            <a:pathLst>
              <a:path w="16737777" h="5523467">
                <a:moveTo>
                  <a:pt x="0" y="0"/>
                </a:moveTo>
                <a:lnTo>
                  <a:pt x="16737778" y="0"/>
                </a:lnTo>
                <a:lnTo>
                  <a:pt x="16737778" y="5523466"/>
                </a:lnTo>
                <a:lnTo>
                  <a:pt x="0" y="55234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789078" y="3190003"/>
            <a:ext cx="684803" cy="684803"/>
          </a:xfrm>
          <a:custGeom>
            <a:avLst/>
            <a:gdLst/>
            <a:ahLst/>
            <a:cxnLst/>
            <a:rect l="l" t="t" r="r" b="b"/>
            <a:pathLst>
              <a:path w="684803" h="684803">
                <a:moveTo>
                  <a:pt x="0" y="0"/>
                </a:moveTo>
                <a:lnTo>
                  <a:pt x="684802" y="0"/>
                </a:lnTo>
                <a:lnTo>
                  <a:pt x="684802" y="684803"/>
                </a:lnTo>
                <a:lnTo>
                  <a:pt x="0" y="6848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5620221" y="5687845"/>
            <a:ext cx="813262" cy="813262"/>
          </a:xfrm>
          <a:custGeom>
            <a:avLst/>
            <a:gdLst/>
            <a:ahLst/>
            <a:cxnLst/>
            <a:rect l="l" t="t" r="r" b="b"/>
            <a:pathLst>
              <a:path w="813262" h="813262">
                <a:moveTo>
                  <a:pt x="0" y="0"/>
                </a:moveTo>
                <a:lnTo>
                  <a:pt x="813262" y="0"/>
                </a:lnTo>
                <a:lnTo>
                  <a:pt x="813262" y="813262"/>
                </a:lnTo>
                <a:lnTo>
                  <a:pt x="0" y="8132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5620221" y="3175437"/>
            <a:ext cx="885689" cy="885689"/>
          </a:xfrm>
          <a:custGeom>
            <a:avLst/>
            <a:gdLst/>
            <a:ahLst/>
            <a:cxnLst/>
            <a:rect l="l" t="t" r="r" b="b"/>
            <a:pathLst>
              <a:path w="885689" h="885689">
                <a:moveTo>
                  <a:pt x="0" y="0"/>
                </a:moveTo>
                <a:lnTo>
                  <a:pt x="885689" y="0"/>
                </a:lnTo>
                <a:lnTo>
                  <a:pt x="885689" y="885689"/>
                </a:lnTo>
                <a:lnTo>
                  <a:pt x="0" y="88568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8" name="Freeform 8"/>
          <p:cNvSpPr/>
          <p:nvPr/>
        </p:nvSpPr>
        <p:spPr>
          <a:xfrm>
            <a:off x="11945983" y="3046622"/>
            <a:ext cx="971565" cy="971565"/>
          </a:xfrm>
          <a:custGeom>
            <a:avLst/>
            <a:gdLst/>
            <a:ahLst/>
            <a:cxnLst/>
            <a:rect l="l" t="t" r="r" b="b"/>
            <a:pathLst>
              <a:path w="971565" h="971565">
                <a:moveTo>
                  <a:pt x="0" y="0"/>
                </a:moveTo>
                <a:lnTo>
                  <a:pt x="971565" y="0"/>
                </a:lnTo>
                <a:lnTo>
                  <a:pt x="971565" y="971565"/>
                </a:lnTo>
                <a:lnTo>
                  <a:pt x="0" y="97156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9" name="Freeform 9"/>
          <p:cNvSpPr/>
          <p:nvPr/>
        </p:nvSpPr>
        <p:spPr>
          <a:xfrm>
            <a:off x="13341169" y="6847267"/>
            <a:ext cx="907999" cy="907999"/>
          </a:xfrm>
          <a:custGeom>
            <a:avLst/>
            <a:gdLst/>
            <a:ahLst/>
            <a:cxnLst/>
            <a:rect l="l" t="t" r="r" b="b"/>
            <a:pathLst>
              <a:path w="907999" h="907999">
                <a:moveTo>
                  <a:pt x="0" y="0"/>
                </a:moveTo>
                <a:lnTo>
                  <a:pt x="907999" y="0"/>
                </a:lnTo>
                <a:lnTo>
                  <a:pt x="907999" y="907999"/>
                </a:lnTo>
                <a:lnTo>
                  <a:pt x="0" y="90799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0" name="Freeform 10"/>
          <p:cNvSpPr/>
          <p:nvPr/>
        </p:nvSpPr>
        <p:spPr>
          <a:xfrm>
            <a:off x="16812022" y="6630290"/>
            <a:ext cx="894556" cy="894556"/>
          </a:xfrm>
          <a:custGeom>
            <a:avLst/>
            <a:gdLst/>
            <a:ahLst/>
            <a:cxnLst/>
            <a:rect l="l" t="t" r="r" b="b"/>
            <a:pathLst>
              <a:path w="894556" h="894556">
                <a:moveTo>
                  <a:pt x="0" y="0"/>
                </a:moveTo>
                <a:lnTo>
                  <a:pt x="894556" y="0"/>
                </a:lnTo>
                <a:lnTo>
                  <a:pt x="894556" y="894556"/>
                </a:lnTo>
                <a:lnTo>
                  <a:pt x="0" y="89455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1" name="Freeform 11"/>
          <p:cNvSpPr/>
          <p:nvPr/>
        </p:nvSpPr>
        <p:spPr>
          <a:xfrm>
            <a:off x="556050" y="5853257"/>
            <a:ext cx="846500" cy="846500"/>
          </a:xfrm>
          <a:custGeom>
            <a:avLst/>
            <a:gdLst/>
            <a:ahLst/>
            <a:cxnLst/>
            <a:rect l="l" t="t" r="r" b="b"/>
            <a:pathLst>
              <a:path w="846500" h="846500">
                <a:moveTo>
                  <a:pt x="0" y="0"/>
                </a:moveTo>
                <a:lnTo>
                  <a:pt x="846500" y="0"/>
                </a:lnTo>
                <a:lnTo>
                  <a:pt x="846500" y="846500"/>
                </a:lnTo>
                <a:lnTo>
                  <a:pt x="0" y="8465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Box 12"/>
          <p:cNvSpPr txBox="1"/>
          <p:nvPr/>
        </p:nvSpPr>
        <p:spPr>
          <a:xfrm>
            <a:off x="1028700" y="1038225"/>
            <a:ext cx="7627466" cy="89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12"/>
              </a:lnSpc>
            </a:pPr>
            <a:r>
              <a:rPr lang="en-US" sz="5937" spc="-48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Functional Diagram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14425" y="1770856"/>
            <a:ext cx="14604208" cy="838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88"/>
              </a:lnSpc>
            </a:pPr>
            <a:r>
              <a:rPr lang="en-US" sz="5637" b="1" spc="-46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3-STEP SYSTEM OVERVIEW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168776" y="468264"/>
            <a:ext cx="5713022" cy="1460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458"/>
              </a:lnSpc>
            </a:pPr>
            <a:r>
              <a:rPr lang="en-US" sz="5570" b="1">
                <a:solidFill>
                  <a:srgbClr val="FB766A"/>
                </a:solidFill>
                <a:latin typeface="Poppins Bold"/>
                <a:ea typeface="Poppins Bold"/>
                <a:cs typeface="Poppins Bold"/>
                <a:sym typeface="Poppins Bold"/>
              </a:rPr>
              <a:t>METHODOLOGY OVERVIEW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76825" y="633975"/>
            <a:ext cx="2570632" cy="2570632"/>
          </a:xfrm>
          <a:custGeom>
            <a:avLst/>
            <a:gdLst/>
            <a:ahLst/>
            <a:cxnLst/>
            <a:rect l="l" t="t" r="r" b="b"/>
            <a:pathLst>
              <a:path w="2570632" h="2570632">
                <a:moveTo>
                  <a:pt x="0" y="0"/>
                </a:moveTo>
                <a:lnTo>
                  <a:pt x="2570632" y="0"/>
                </a:lnTo>
                <a:lnTo>
                  <a:pt x="2570632" y="2570631"/>
                </a:lnTo>
                <a:lnTo>
                  <a:pt x="0" y="25706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367643" y="3845646"/>
            <a:ext cx="391445" cy="328316"/>
          </a:xfrm>
          <a:custGeom>
            <a:avLst/>
            <a:gdLst/>
            <a:ahLst/>
            <a:cxnLst/>
            <a:rect l="l" t="t" r="r" b="b"/>
            <a:pathLst>
              <a:path w="391445" h="328316">
                <a:moveTo>
                  <a:pt x="0" y="0"/>
                </a:moveTo>
                <a:lnTo>
                  <a:pt x="391444" y="0"/>
                </a:lnTo>
                <a:lnTo>
                  <a:pt x="391444" y="328316"/>
                </a:lnTo>
                <a:lnTo>
                  <a:pt x="0" y="3283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57408" r="-35673" b="-101327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TextBox 4"/>
          <p:cNvSpPr txBox="1"/>
          <p:nvPr/>
        </p:nvSpPr>
        <p:spPr>
          <a:xfrm>
            <a:off x="1851631" y="3809472"/>
            <a:ext cx="13465660" cy="700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RQ1 </a:t>
            </a: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— Does machine translation affect the semantic quality of topic detection on multilingual app reviews?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5375" y="1679947"/>
            <a:ext cx="9819487" cy="89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12"/>
              </a:lnSpc>
            </a:pPr>
            <a:r>
              <a:rPr lang="en-US" sz="5937" spc="-48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Driving Our Investigation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95375" y="1028700"/>
            <a:ext cx="14632119" cy="89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12"/>
              </a:lnSpc>
            </a:pPr>
            <a:r>
              <a:rPr lang="en-US" sz="5937" b="1" spc="-48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HYPOTHESIS AND RESEARCH QUESTIONS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51631" y="4672617"/>
            <a:ext cx="13465660" cy="78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RQ2 </a:t>
            </a: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— How do different stopword-removal strategies  affect the performance of embedding-based topic modeling on app reviews?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69444" y="6599207"/>
            <a:ext cx="1346566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RQ4 </a:t>
            </a: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— Do semi-supervised topic models outperform unsupervised approaches in identifying relevant issues from app reviews?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69444" y="7453745"/>
            <a:ext cx="13465660" cy="78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RQ5 </a:t>
            </a: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Do embedding-based semantic similarity methods provide reliable mappings between data-driven topics and the existing taxonomy of app issues?</a:t>
            </a:r>
          </a:p>
        </p:txBody>
      </p:sp>
      <p:sp>
        <p:nvSpPr>
          <p:cNvPr id="10" name="Freeform 10"/>
          <p:cNvSpPr/>
          <p:nvPr/>
        </p:nvSpPr>
        <p:spPr>
          <a:xfrm>
            <a:off x="1367643" y="4724708"/>
            <a:ext cx="391445" cy="328316"/>
          </a:xfrm>
          <a:custGeom>
            <a:avLst/>
            <a:gdLst/>
            <a:ahLst/>
            <a:cxnLst/>
            <a:rect l="l" t="t" r="r" b="b"/>
            <a:pathLst>
              <a:path w="391445" h="328316">
                <a:moveTo>
                  <a:pt x="0" y="0"/>
                </a:moveTo>
                <a:lnTo>
                  <a:pt x="391444" y="0"/>
                </a:lnTo>
                <a:lnTo>
                  <a:pt x="391444" y="328316"/>
                </a:lnTo>
                <a:lnTo>
                  <a:pt x="0" y="3283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57408" r="-35673" b="-101327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1" name="Freeform 11"/>
          <p:cNvSpPr/>
          <p:nvPr/>
        </p:nvSpPr>
        <p:spPr>
          <a:xfrm>
            <a:off x="1367643" y="5671580"/>
            <a:ext cx="391445" cy="328316"/>
          </a:xfrm>
          <a:custGeom>
            <a:avLst/>
            <a:gdLst/>
            <a:ahLst/>
            <a:cxnLst/>
            <a:rect l="l" t="t" r="r" b="b"/>
            <a:pathLst>
              <a:path w="391445" h="328316">
                <a:moveTo>
                  <a:pt x="0" y="0"/>
                </a:moveTo>
                <a:lnTo>
                  <a:pt x="391444" y="0"/>
                </a:lnTo>
                <a:lnTo>
                  <a:pt x="391444" y="328316"/>
                </a:lnTo>
                <a:lnTo>
                  <a:pt x="0" y="3283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57408" r="-35673" b="-101327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2" name="Freeform 12"/>
          <p:cNvSpPr/>
          <p:nvPr/>
        </p:nvSpPr>
        <p:spPr>
          <a:xfrm>
            <a:off x="1367643" y="6624106"/>
            <a:ext cx="391445" cy="328316"/>
          </a:xfrm>
          <a:custGeom>
            <a:avLst/>
            <a:gdLst/>
            <a:ahLst/>
            <a:cxnLst/>
            <a:rect l="l" t="t" r="r" b="b"/>
            <a:pathLst>
              <a:path w="391445" h="328316">
                <a:moveTo>
                  <a:pt x="0" y="0"/>
                </a:moveTo>
                <a:lnTo>
                  <a:pt x="391444" y="0"/>
                </a:lnTo>
                <a:lnTo>
                  <a:pt x="391444" y="328316"/>
                </a:lnTo>
                <a:lnTo>
                  <a:pt x="0" y="3283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57408" r="-35673" b="-101327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3" name="Freeform 13"/>
          <p:cNvSpPr/>
          <p:nvPr/>
        </p:nvSpPr>
        <p:spPr>
          <a:xfrm>
            <a:off x="15335104" y="9055871"/>
            <a:ext cx="1254072" cy="1006393"/>
          </a:xfrm>
          <a:custGeom>
            <a:avLst/>
            <a:gdLst/>
            <a:ahLst/>
            <a:cxnLst/>
            <a:rect l="l" t="t" r="r" b="b"/>
            <a:pathLst>
              <a:path w="1254072" h="1006393">
                <a:moveTo>
                  <a:pt x="0" y="0"/>
                </a:moveTo>
                <a:lnTo>
                  <a:pt x="1254073" y="0"/>
                </a:lnTo>
                <a:lnTo>
                  <a:pt x="1254073" y="1006393"/>
                </a:lnTo>
                <a:lnTo>
                  <a:pt x="0" y="10063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4" name="Freeform 14"/>
          <p:cNvSpPr/>
          <p:nvPr/>
        </p:nvSpPr>
        <p:spPr>
          <a:xfrm>
            <a:off x="16636802" y="9247819"/>
            <a:ext cx="1244996" cy="622498"/>
          </a:xfrm>
          <a:custGeom>
            <a:avLst/>
            <a:gdLst/>
            <a:ahLst/>
            <a:cxnLst/>
            <a:rect l="l" t="t" r="r" b="b"/>
            <a:pathLst>
              <a:path w="1244996" h="622498">
                <a:moveTo>
                  <a:pt x="0" y="0"/>
                </a:moveTo>
                <a:lnTo>
                  <a:pt x="1244996" y="0"/>
                </a:lnTo>
                <a:lnTo>
                  <a:pt x="1244996" y="622498"/>
                </a:lnTo>
                <a:lnTo>
                  <a:pt x="0" y="6224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5" name="Freeform 15"/>
          <p:cNvSpPr/>
          <p:nvPr/>
        </p:nvSpPr>
        <p:spPr>
          <a:xfrm>
            <a:off x="1367643" y="7709322"/>
            <a:ext cx="391445" cy="328316"/>
          </a:xfrm>
          <a:custGeom>
            <a:avLst/>
            <a:gdLst/>
            <a:ahLst/>
            <a:cxnLst/>
            <a:rect l="l" t="t" r="r" b="b"/>
            <a:pathLst>
              <a:path w="391445" h="328316">
                <a:moveTo>
                  <a:pt x="0" y="0"/>
                </a:moveTo>
                <a:lnTo>
                  <a:pt x="391444" y="0"/>
                </a:lnTo>
                <a:lnTo>
                  <a:pt x="391444" y="328316"/>
                </a:lnTo>
                <a:lnTo>
                  <a:pt x="0" y="3283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57408" r="-35673" b="-101327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6" name="TextBox 16"/>
          <p:cNvSpPr txBox="1"/>
          <p:nvPr/>
        </p:nvSpPr>
        <p:spPr>
          <a:xfrm>
            <a:off x="1869444" y="5616862"/>
            <a:ext cx="13465660" cy="78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RQ3 </a:t>
            </a: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— Which configuration of BERTopic’s modular components (embeddings, dimensionality reduction, clustering, and topic representation) yields the best topic quality?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0283331" y="4808520"/>
            <a:ext cx="3192816" cy="735088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algn="ctr">
              <a:lnSpc>
                <a:spcPts val="2160"/>
              </a:lnSpc>
            </a:pPr>
            <a:r>
              <a:rPr lang="en-US" sz="18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Remove Meaningless Reviews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5739963" y="1977825"/>
            <a:ext cx="2340947" cy="974294"/>
            <a:chOff x="0" y="0"/>
            <a:chExt cx="1621993" cy="6750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21995" cy="675062"/>
            </a:xfrm>
            <a:custGeom>
              <a:avLst/>
              <a:gdLst/>
              <a:ahLst/>
              <a:cxnLst/>
              <a:rect l="l" t="t" r="r" b="b"/>
              <a:pathLst>
                <a:path w="1621995" h="675062">
                  <a:moveTo>
                    <a:pt x="0" y="0"/>
                  </a:moveTo>
                  <a:lnTo>
                    <a:pt x="1621995" y="0"/>
                  </a:lnTo>
                  <a:lnTo>
                    <a:pt x="1621995" y="675062"/>
                  </a:lnTo>
                  <a:lnTo>
                    <a:pt x="0" y="6750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1621993" cy="694118"/>
            </a:xfrm>
            <a:prstGeom prst="rect">
              <a:avLst/>
            </a:prstGeom>
            <a:ln>
              <a:noFill/>
            </a:ln>
          </p:spPr>
          <p:txBody>
            <a:bodyPr lIns="0" tIns="0" rIns="0" bIns="0" rtlCol="0" anchor="b"/>
            <a:lstStyle/>
            <a:p>
              <a:pPr algn="ctr">
                <a:lnSpc>
                  <a:spcPts val="2160"/>
                </a:lnSpc>
              </a:pPr>
              <a:r>
                <a:rPr lang="en-US" sz="1800" b="1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Remove URLs,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1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emoji &amp; mentions</a:t>
              </a:r>
            </a:p>
            <a:p>
              <a:pPr algn="ctr">
                <a:lnSpc>
                  <a:spcPts val="2160"/>
                </a:lnSpc>
              </a:pPr>
              <a:endParaRPr lang="en-US" sz="18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3843284" y="4818951"/>
            <a:ext cx="2340947" cy="735088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algn="ctr">
              <a:lnSpc>
                <a:spcPts val="2160"/>
              </a:lnSpc>
            </a:pPr>
            <a:r>
              <a:rPr lang="en-US" sz="18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Multi-Word Expression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234850" y="1977050"/>
            <a:ext cx="2340947" cy="735088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algn="ctr">
              <a:lnSpc>
                <a:spcPts val="2160"/>
              </a:lnSpc>
            </a:pPr>
            <a:r>
              <a:rPr lang="en-US" sz="18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Redundant Reviews Removal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831358" y="1886553"/>
            <a:ext cx="1455609" cy="755513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algn="ctr">
              <a:lnSpc>
                <a:spcPts val="2160"/>
              </a:lnSpc>
            </a:pPr>
            <a:r>
              <a:rPr lang="en-US" sz="18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Italian</a:t>
            </a:r>
          </a:p>
          <a:p>
            <a:pPr algn="ctr">
              <a:lnSpc>
                <a:spcPts val="2160"/>
              </a:lnSpc>
            </a:pPr>
            <a:r>
              <a:rPr lang="en-US" sz="18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Translation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022536" y="3970991"/>
            <a:ext cx="2568706" cy="1535188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algn="ctr">
              <a:lnSpc>
                <a:spcPts val="2160"/>
              </a:lnSpc>
            </a:pPr>
            <a:r>
              <a:rPr lang="en-US" sz="18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Normalize Spacing &amp; Repeated Characters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247201" y="4762679"/>
            <a:ext cx="2340947" cy="735088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algn="ctr">
              <a:lnSpc>
                <a:spcPts val="2160"/>
              </a:lnSpc>
            </a:pPr>
            <a:r>
              <a:rPr lang="en-US" sz="18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Lowercasing sentiment column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8791014" y="1944540"/>
            <a:ext cx="2763956" cy="707594"/>
            <a:chOff x="0" y="0"/>
            <a:chExt cx="1915087" cy="49027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915088" cy="490272"/>
            </a:xfrm>
            <a:custGeom>
              <a:avLst/>
              <a:gdLst/>
              <a:ahLst/>
              <a:cxnLst/>
              <a:rect l="l" t="t" r="r" b="b"/>
              <a:pathLst>
                <a:path w="1915088" h="490272">
                  <a:moveTo>
                    <a:pt x="0" y="0"/>
                  </a:moveTo>
                  <a:lnTo>
                    <a:pt x="1915088" y="0"/>
                  </a:lnTo>
                  <a:lnTo>
                    <a:pt x="1915088" y="490272"/>
                  </a:lnTo>
                  <a:lnTo>
                    <a:pt x="0" y="4902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1915087" cy="509327"/>
            </a:xfrm>
            <a:prstGeom prst="rect">
              <a:avLst/>
            </a:prstGeom>
            <a:ln>
              <a:noFill/>
            </a:ln>
          </p:spPr>
          <p:txBody>
            <a:bodyPr lIns="0" tIns="0" rIns="0" bIns="0" rtlCol="0" anchor="b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Reclassification of Neutral Reviews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347935" y="3289893"/>
            <a:ext cx="1605627" cy="1426970"/>
            <a:chOff x="0" y="0"/>
            <a:chExt cx="1351839" cy="120142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351915" cy="1201289"/>
            </a:xfrm>
            <a:custGeom>
              <a:avLst/>
              <a:gdLst/>
              <a:ahLst/>
              <a:cxnLst/>
              <a:rect l="l" t="t" r="r" b="b"/>
              <a:pathLst>
                <a:path w="1351915" h="1201289">
                  <a:moveTo>
                    <a:pt x="341503" y="718566"/>
                  </a:moveTo>
                  <a:cubicBezTo>
                    <a:pt x="387731" y="718566"/>
                    <a:pt x="431673" y="727964"/>
                    <a:pt x="471805" y="744982"/>
                  </a:cubicBezTo>
                  <a:cubicBezTo>
                    <a:pt x="590804" y="795528"/>
                    <a:pt x="666496" y="1062990"/>
                    <a:pt x="666496" y="1192403"/>
                  </a:cubicBezTo>
                  <a:cubicBezTo>
                    <a:pt x="666496" y="1196721"/>
                    <a:pt x="669417" y="1200531"/>
                    <a:pt x="673481" y="1201166"/>
                  </a:cubicBezTo>
                  <a:cubicBezTo>
                    <a:pt x="678815" y="1202055"/>
                    <a:pt x="683387" y="1197991"/>
                    <a:pt x="683387" y="1192784"/>
                  </a:cubicBezTo>
                  <a:lnTo>
                    <a:pt x="683387" y="1192530"/>
                  </a:lnTo>
                  <a:cubicBezTo>
                    <a:pt x="683387" y="1063244"/>
                    <a:pt x="758952" y="795782"/>
                    <a:pt x="878078" y="745109"/>
                  </a:cubicBezTo>
                  <a:cubicBezTo>
                    <a:pt x="918083" y="728091"/>
                    <a:pt x="962152" y="718693"/>
                    <a:pt x="1008380" y="718693"/>
                  </a:cubicBezTo>
                  <a:lnTo>
                    <a:pt x="1351915" y="718439"/>
                  </a:lnTo>
                  <a:lnTo>
                    <a:pt x="1351915" y="0"/>
                  </a:lnTo>
                  <a:lnTo>
                    <a:pt x="0" y="0"/>
                  </a:lnTo>
                  <a:lnTo>
                    <a:pt x="0" y="718439"/>
                  </a:lnTo>
                  <a:lnTo>
                    <a:pt x="341630" y="718693"/>
                  </a:lnTo>
                  <a:close/>
                </a:path>
              </a:pathLst>
            </a:custGeom>
            <a:solidFill>
              <a:srgbClr val="40CD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10713" y="2719603"/>
            <a:ext cx="1605627" cy="1426970"/>
            <a:chOff x="0" y="0"/>
            <a:chExt cx="1351839" cy="1201420"/>
          </a:xfrm>
        </p:grpSpPr>
        <p:sp>
          <p:nvSpPr>
            <p:cNvPr id="29" name="Freeform 29"/>
            <p:cNvSpPr/>
            <p:nvPr/>
          </p:nvSpPr>
          <p:spPr>
            <a:xfrm>
              <a:off x="0" y="4"/>
              <a:ext cx="1351788" cy="1201416"/>
            </a:xfrm>
            <a:custGeom>
              <a:avLst/>
              <a:gdLst/>
              <a:ahLst/>
              <a:cxnLst/>
              <a:rect l="l" t="t" r="r" b="b"/>
              <a:pathLst>
                <a:path w="1351788" h="1201416">
                  <a:moveTo>
                    <a:pt x="1010412" y="482850"/>
                  </a:moveTo>
                  <a:cubicBezTo>
                    <a:pt x="964184" y="482850"/>
                    <a:pt x="920242" y="473452"/>
                    <a:pt x="880110" y="456434"/>
                  </a:cubicBezTo>
                  <a:cubicBezTo>
                    <a:pt x="761111" y="405761"/>
                    <a:pt x="685419" y="138299"/>
                    <a:pt x="685419" y="8886"/>
                  </a:cubicBezTo>
                  <a:cubicBezTo>
                    <a:pt x="685419" y="4568"/>
                    <a:pt x="682498" y="758"/>
                    <a:pt x="678434" y="123"/>
                  </a:cubicBezTo>
                  <a:cubicBezTo>
                    <a:pt x="673100" y="-766"/>
                    <a:pt x="668528" y="3298"/>
                    <a:pt x="668528" y="8505"/>
                  </a:cubicBezTo>
                  <a:lnTo>
                    <a:pt x="668528" y="8886"/>
                  </a:lnTo>
                  <a:cubicBezTo>
                    <a:pt x="668528" y="138172"/>
                    <a:pt x="592963" y="405634"/>
                    <a:pt x="473837" y="456307"/>
                  </a:cubicBezTo>
                  <a:cubicBezTo>
                    <a:pt x="433832" y="473325"/>
                    <a:pt x="389763" y="482723"/>
                    <a:pt x="343535" y="482723"/>
                  </a:cubicBezTo>
                  <a:lnTo>
                    <a:pt x="0" y="482977"/>
                  </a:lnTo>
                  <a:lnTo>
                    <a:pt x="0" y="1201416"/>
                  </a:lnTo>
                  <a:lnTo>
                    <a:pt x="1351788" y="1201416"/>
                  </a:lnTo>
                  <a:lnTo>
                    <a:pt x="1351788" y="482977"/>
                  </a:lnTo>
                  <a:lnTo>
                    <a:pt x="1010158" y="482723"/>
                  </a:lnTo>
                  <a:close/>
                </a:path>
              </a:pathLst>
            </a:custGeom>
            <a:solidFill>
              <a:srgbClr val="6877F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700346" y="3299418"/>
            <a:ext cx="1605627" cy="1426970"/>
            <a:chOff x="0" y="0"/>
            <a:chExt cx="1351839" cy="120142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351915" cy="1201289"/>
            </a:xfrm>
            <a:custGeom>
              <a:avLst/>
              <a:gdLst/>
              <a:ahLst/>
              <a:cxnLst/>
              <a:rect l="l" t="t" r="r" b="b"/>
              <a:pathLst>
                <a:path w="1351915" h="1201289">
                  <a:moveTo>
                    <a:pt x="341503" y="718566"/>
                  </a:moveTo>
                  <a:cubicBezTo>
                    <a:pt x="387731" y="718566"/>
                    <a:pt x="431673" y="727964"/>
                    <a:pt x="471805" y="744982"/>
                  </a:cubicBezTo>
                  <a:cubicBezTo>
                    <a:pt x="590804" y="795528"/>
                    <a:pt x="666496" y="1062990"/>
                    <a:pt x="666496" y="1192403"/>
                  </a:cubicBezTo>
                  <a:cubicBezTo>
                    <a:pt x="666496" y="1196721"/>
                    <a:pt x="669417" y="1200531"/>
                    <a:pt x="673481" y="1201166"/>
                  </a:cubicBezTo>
                  <a:cubicBezTo>
                    <a:pt x="678815" y="1202055"/>
                    <a:pt x="683387" y="1197991"/>
                    <a:pt x="683387" y="1192784"/>
                  </a:cubicBezTo>
                  <a:lnTo>
                    <a:pt x="683387" y="1192530"/>
                  </a:lnTo>
                  <a:cubicBezTo>
                    <a:pt x="683387" y="1063244"/>
                    <a:pt x="758952" y="795782"/>
                    <a:pt x="878078" y="745109"/>
                  </a:cubicBezTo>
                  <a:cubicBezTo>
                    <a:pt x="918083" y="728091"/>
                    <a:pt x="962152" y="718693"/>
                    <a:pt x="1008380" y="718693"/>
                  </a:cubicBezTo>
                  <a:lnTo>
                    <a:pt x="1351915" y="718439"/>
                  </a:lnTo>
                  <a:lnTo>
                    <a:pt x="1351915" y="0"/>
                  </a:lnTo>
                  <a:lnTo>
                    <a:pt x="0" y="0"/>
                  </a:lnTo>
                  <a:lnTo>
                    <a:pt x="0" y="718439"/>
                  </a:lnTo>
                  <a:lnTo>
                    <a:pt x="341630" y="718693"/>
                  </a:lnTo>
                  <a:close/>
                </a:path>
              </a:pathLst>
            </a:custGeom>
            <a:solidFill>
              <a:srgbClr val="153C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353224" y="2719603"/>
            <a:ext cx="1605627" cy="1426970"/>
            <a:chOff x="0" y="0"/>
            <a:chExt cx="1351839" cy="1201420"/>
          </a:xfrm>
        </p:grpSpPr>
        <p:sp>
          <p:nvSpPr>
            <p:cNvPr id="33" name="Freeform 33"/>
            <p:cNvSpPr/>
            <p:nvPr/>
          </p:nvSpPr>
          <p:spPr>
            <a:xfrm>
              <a:off x="0" y="4"/>
              <a:ext cx="1351788" cy="1201416"/>
            </a:xfrm>
            <a:custGeom>
              <a:avLst/>
              <a:gdLst/>
              <a:ahLst/>
              <a:cxnLst/>
              <a:rect l="l" t="t" r="r" b="b"/>
              <a:pathLst>
                <a:path w="1351788" h="1201416">
                  <a:moveTo>
                    <a:pt x="1010412" y="482850"/>
                  </a:moveTo>
                  <a:cubicBezTo>
                    <a:pt x="964184" y="482850"/>
                    <a:pt x="920242" y="473452"/>
                    <a:pt x="880110" y="456434"/>
                  </a:cubicBezTo>
                  <a:cubicBezTo>
                    <a:pt x="761111" y="405761"/>
                    <a:pt x="685419" y="138299"/>
                    <a:pt x="685419" y="8886"/>
                  </a:cubicBezTo>
                  <a:cubicBezTo>
                    <a:pt x="685419" y="4568"/>
                    <a:pt x="682498" y="758"/>
                    <a:pt x="678434" y="123"/>
                  </a:cubicBezTo>
                  <a:cubicBezTo>
                    <a:pt x="673100" y="-766"/>
                    <a:pt x="668528" y="3298"/>
                    <a:pt x="668528" y="8505"/>
                  </a:cubicBezTo>
                  <a:lnTo>
                    <a:pt x="668528" y="8886"/>
                  </a:lnTo>
                  <a:cubicBezTo>
                    <a:pt x="668528" y="138172"/>
                    <a:pt x="592963" y="405634"/>
                    <a:pt x="473837" y="456307"/>
                  </a:cubicBezTo>
                  <a:cubicBezTo>
                    <a:pt x="433832" y="473325"/>
                    <a:pt x="389763" y="482723"/>
                    <a:pt x="343535" y="482723"/>
                  </a:cubicBezTo>
                  <a:lnTo>
                    <a:pt x="0" y="482977"/>
                  </a:lnTo>
                  <a:lnTo>
                    <a:pt x="0" y="1201416"/>
                  </a:lnTo>
                  <a:lnTo>
                    <a:pt x="1351788" y="1201416"/>
                  </a:lnTo>
                  <a:lnTo>
                    <a:pt x="1351788" y="482977"/>
                  </a:lnTo>
                  <a:lnTo>
                    <a:pt x="1010158" y="482723"/>
                  </a:lnTo>
                  <a:close/>
                </a:path>
              </a:pathLst>
            </a:custGeom>
            <a:solidFill>
              <a:srgbClr val="FB766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006102" y="3285851"/>
            <a:ext cx="1605627" cy="1426970"/>
            <a:chOff x="0" y="0"/>
            <a:chExt cx="1351839" cy="120142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351915" cy="1201289"/>
            </a:xfrm>
            <a:custGeom>
              <a:avLst/>
              <a:gdLst/>
              <a:ahLst/>
              <a:cxnLst/>
              <a:rect l="l" t="t" r="r" b="b"/>
              <a:pathLst>
                <a:path w="1351915" h="1201289">
                  <a:moveTo>
                    <a:pt x="341503" y="718566"/>
                  </a:moveTo>
                  <a:cubicBezTo>
                    <a:pt x="387731" y="718566"/>
                    <a:pt x="431673" y="727964"/>
                    <a:pt x="471805" y="744982"/>
                  </a:cubicBezTo>
                  <a:cubicBezTo>
                    <a:pt x="590804" y="795528"/>
                    <a:pt x="666496" y="1062990"/>
                    <a:pt x="666496" y="1192403"/>
                  </a:cubicBezTo>
                  <a:cubicBezTo>
                    <a:pt x="666496" y="1196721"/>
                    <a:pt x="669417" y="1200531"/>
                    <a:pt x="673481" y="1201166"/>
                  </a:cubicBezTo>
                  <a:cubicBezTo>
                    <a:pt x="678815" y="1202055"/>
                    <a:pt x="683387" y="1197991"/>
                    <a:pt x="683387" y="1192784"/>
                  </a:cubicBezTo>
                  <a:lnTo>
                    <a:pt x="683387" y="1192530"/>
                  </a:lnTo>
                  <a:cubicBezTo>
                    <a:pt x="683387" y="1063244"/>
                    <a:pt x="758952" y="795782"/>
                    <a:pt x="878078" y="745109"/>
                  </a:cubicBezTo>
                  <a:cubicBezTo>
                    <a:pt x="918083" y="728091"/>
                    <a:pt x="962152" y="718693"/>
                    <a:pt x="1008380" y="718693"/>
                  </a:cubicBezTo>
                  <a:lnTo>
                    <a:pt x="1351915" y="718439"/>
                  </a:lnTo>
                  <a:lnTo>
                    <a:pt x="1351915" y="0"/>
                  </a:lnTo>
                  <a:lnTo>
                    <a:pt x="0" y="0"/>
                  </a:lnTo>
                  <a:lnTo>
                    <a:pt x="0" y="718439"/>
                  </a:lnTo>
                  <a:lnTo>
                    <a:pt x="341630" y="718693"/>
                  </a:lnTo>
                  <a:close/>
                </a:path>
              </a:pathLst>
            </a:custGeom>
            <a:solidFill>
              <a:srgbClr val="40CD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673364" y="2712167"/>
            <a:ext cx="1605627" cy="1426970"/>
            <a:chOff x="0" y="0"/>
            <a:chExt cx="1351839" cy="1201420"/>
          </a:xfrm>
        </p:grpSpPr>
        <p:sp>
          <p:nvSpPr>
            <p:cNvPr id="37" name="Freeform 37"/>
            <p:cNvSpPr/>
            <p:nvPr/>
          </p:nvSpPr>
          <p:spPr>
            <a:xfrm>
              <a:off x="0" y="4"/>
              <a:ext cx="1351788" cy="1201416"/>
            </a:xfrm>
            <a:custGeom>
              <a:avLst/>
              <a:gdLst/>
              <a:ahLst/>
              <a:cxnLst/>
              <a:rect l="l" t="t" r="r" b="b"/>
              <a:pathLst>
                <a:path w="1351788" h="1201416">
                  <a:moveTo>
                    <a:pt x="1010412" y="482850"/>
                  </a:moveTo>
                  <a:cubicBezTo>
                    <a:pt x="964184" y="482850"/>
                    <a:pt x="920242" y="473452"/>
                    <a:pt x="880110" y="456434"/>
                  </a:cubicBezTo>
                  <a:cubicBezTo>
                    <a:pt x="761111" y="405761"/>
                    <a:pt x="685419" y="138299"/>
                    <a:pt x="685419" y="8886"/>
                  </a:cubicBezTo>
                  <a:cubicBezTo>
                    <a:pt x="685419" y="4568"/>
                    <a:pt x="682498" y="758"/>
                    <a:pt x="678434" y="123"/>
                  </a:cubicBezTo>
                  <a:cubicBezTo>
                    <a:pt x="673100" y="-766"/>
                    <a:pt x="668528" y="3298"/>
                    <a:pt x="668528" y="8505"/>
                  </a:cubicBezTo>
                  <a:lnTo>
                    <a:pt x="668528" y="8886"/>
                  </a:lnTo>
                  <a:cubicBezTo>
                    <a:pt x="668528" y="138172"/>
                    <a:pt x="592963" y="405634"/>
                    <a:pt x="473837" y="456307"/>
                  </a:cubicBezTo>
                  <a:cubicBezTo>
                    <a:pt x="433832" y="473325"/>
                    <a:pt x="389763" y="482723"/>
                    <a:pt x="343535" y="482723"/>
                  </a:cubicBezTo>
                  <a:lnTo>
                    <a:pt x="0" y="482977"/>
                  </a:lnTo>
                  <a:lnTo>
                    <a:pt x="0" y="1201416"/>
                  </a:lnTo>
                  <a:lnTo>
                    <a:pt x="1351788" y="1201416"/>
                  </a:lnTo>
                  <a:lnTo>
                    <a:pt x="1351788" y="482977"/>
                  </a:lnTo>
                  <a:lnTo>
                    <a:pt x="1010158" y="482723"/>
                  </a:lnTo>
                  <a:close/>
                </a:path>
              </a:pathLst>
            </a:custGeom>
            <a:solidFill>
              <a:srgbClr val="6877F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4340626" y="3286077"/>
            <a:ext cx="1605627" cy="1426638"/>
            <a:chOff x="0" y="0"/>
            <a:chExt cx="1351839" cy="1201141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351915" cy="1201083"/>
            </a:xfrm>
            <a:custGeom>
              <a:avLst/>
              <a:gdLst/>
              <a:ahLst/>
              <a:cxnLst/>
              <a:rect l="l" t="t" r="r" b="b"/>
              <a:pathLst>
                <a:path w="1351915" h="1201083">
                  <a:moveTo>
                    <a:pt x="341503" y="718439"/>
                  </a:moveTo>
                  <a:cubicBezTo>
                    <a:pt x="387731" y="718439"/>
                    <a:pt x="431673" y="727837"/>
                    <a:pt x="471805" y="744855"/>
                  </a:cubicBezTo>
                  <a:cubicBezTo>
                    <a:pt x="590804" y="795401"/>
                    <a:pt x="666369" y="1062863"/>
                    <a:pt x="666496" y="1192149"/>
                  </a:cubicBezTo>
                  <a:cubicBezTo>
                    <a:pt x="666496" y="1196467"/>
                    <a:pt x="669925" y="1200658"/>
                    <a:pt x="674116" y="1201039"/>
                  </a:cubicBezTo>
                  <a:cubicBezTo>
                    <a:pt x="679196" y="1201547"/>
                    <a:pt x="683514" y="1197610"/>
                    <a:pt x="683514" y="1192657"/>
                  </a:cubicBezTo>
                  <a:lnTo>
                    <a:pt x="683514" y="1192276"/>
                  </a:lnTo>
                  <a:cubicBezTo>
                    <a:pt x="683514" y="1076452"/>
                    <a:pt x="743458" y="818769"/>
                    <a:pt x="844296" y="761619"/>
                  </a:cubicBezTo>
                  <a:cubicBezTo>
                    <a:pt x="892683" y="734187"/>
                    <a:pt x="948690" y="718439"/>
                    <a:pt x="1008380" y="718439"/>
                  </a:cubicBezTo>
                  <a:cubicBezTo>
                    <a:pt x="1198118" y="718312"/>
                    <a:pt x="1351915" y="564515"/>
                    <a:pt x="1351915" y="374777"/>
                  </a:cubicBezTo>
                  <a:lnTo>
                    <a:pt x="1351915" y="343662"/>
                  </a:lnTo>
                  <a:cubicBezTo>
                    <a:pt x="1351788" y="153797"/>
                    <a:pt x="1197991" y="0"/>
                    <a:pt x="1008126" y="0"/>
                  </a:cubicBezTo>
                  <a:lnTo>
                    <a:pt x="0" y="0"/>
                  </a:lnTo>
                  <a:lnTo>
                    <a:pt x="0" y="718439"/>
                  </a:lnTo>
                  <a:lnTo>
                    <a:pt x="341630" y="718693"/>
                  </a:lnTo>
                  <a:close/>
                </a:path>
              </a:pathLst>
            </a:custGeom>
            <a:solidFill>
              <a:srgbClr val="153C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40" name="Freeform 40"/>
          <p:cNvSpPr/>
          <p:nvPr/>
        </p:nvSpPr>
        <p:spPr>
          <a:xfrm>
            <a:off x="11919812" y="3397444"/>
            <a:ext cx="458947" cy="573684"/>
          </a:xfrm>
          <a:custGeom>
            <a:avLst/>
            <a:gdLst/>
            <a:ahLst/>
            <a:cxnLst/>
            <a:rect l="l" t="t" r="r" b="b"/>
            <a:pathLst>
              <a:path w="458947" h="573684">
                <a:moveTo>
                  <a:pt x="0" y="0"/>
                </a:moveTo>
                <a:lnTo>
                  <a:pt x="458947" y="0"/>
                </a:lnTo>
                <a:lnTo>
                  <a:pt x="458947" y="573684"/>
                </a:lnTo>
                <a:lnTo>
                  <a:pt x="0" y="5736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1" name="Freeform 41"/>
          <p:cNvSpPr/>
          <p:nvPr/>
        </p:nvSpPr>
        <p:spPr>
          <a:xfrm>
            <a:off x="5440728" y="3731590"/>
            <a:ext cx="330014" cy="301813"/>
          </a:xfrm>
          <a:custGeom>
            <a:avLst/>
            <a:gdLst/>
            <a:ahLst/>
            <a:cxnLst/>
            <a:rect l="l" t="t" r="r" b="b"/>
            <a:pathLst>
              <a:path w="330014" h="301813">
                <a:moveTo>
                  <a:pt x="0" y="0"/>
                </a:moveTo>
                <a:lnTo>
                  <a:pt x="330014" y="0"/>
                </a:lnTo>
                <a:lnTo>
                  <a:pt x="330014" y="301813"/>
                </a:lnTo>
                <a:lnTo>
                  <a:pt x="0" y="3018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42" name="Group 42"/>
          <p:cNvGrpSpPr/>
          <p:nvPr/>
        </p:nvGrpSpPr>
        <p:grpSpPr>
          <a:xfrm>
            <a:off x="6800513" y="3406474"/>
            <a:ext cx="639736" cy="626929"/>
            <a:chOff x="0" y="0"/>
            <a:chExt cx="852981" cy="835905"/>
          </a:xfrm>
        </p:grpSpPr>
        <p:sp>
          <p:nvSpPr>
            <p:cNvPr id="43" name="Freeform 43"/>
            <p:cNvSpPr/>
            <p:nvPr/>
          </p:nvSpPr>
          <p:spPr>
            <a:xfrm>
              <a:off x="153861" y="0"/>
              <a:ext cx="699120" cy="835905"/>
            </a:xfrm>
            <a:custGeom>
              <a:avLst/>
              <a:gdLst/>
              <a:ahLst/>
              <a:cxnLst/>
              <a:rect l="l" t="t" r="r" b="b"/>
              <a:pathLst>
                <a:path w="699120" h="835905">
                  <a:moveTo>
                    <a:pt x="0" y="0"/>
                  </a:moveTo>
                  <a:lnTo>
                    <a:pt x="699120" y="0"/>
                  </a:lnTo>
                  <a:lnTo>
                    <a:pt x="699120" y="835905"/>
                  </a:lnTo>
                  <a:lnTo>
                    <a:pt x="0" y="835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44" name="Freeform 44"/>
            <p:cNvSpPr/>
            <p:nvPr/>
          </p:nvSpPr>
          <p:spPr>
            <a:xfrm>
              <a:off x="146565" y="234275"/>
              <a:ext cx="603116" cy="575702"/>
            </a:xfrm>
            <a:custGeom>
              <a:avLst/>
              <a:gdLst/>
              <a:ahLst/>
              <a:cxnLst/>
              <a:rect l="l" t="t" r="r" b="b"/>
              <a:pathLst>
                <a:path w="603116" h="575702">
                  <a:moveTo>
                    <a:pt x="0" y="0"/>
                  </a:moveTo>
                  <a:lnTo>
                    <a:pt x="603116" y="0"/>
                  </a:lnTo>
                  <a:lnTo>
                    <a:pt x="603116" y="575702"/>
                  </a:lnTo>
                  <a:lnTo>
                    <a:pt x="0" y="575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45" name="Freeform 45"/>
            <p:cNvSpPr/>
            <p:nvPr/>
          </p:nvSpPr>
          <p:spPr>
            <a:xfrm>
              <a:off x="0" y="126963"/>
              <a:ext cx="448123" cy="395163"/>
            </a:xfrm>
            <a:custGeom>
              <a:avLst/>
              <a:gdLst/>
              <a:ahLst/>
              <a:cxnLst/>
              <a:rect l="l" t="t" r="r" b="b"/>
              <a:pathLst>
                <a:path w="448123" h="395163">
                  <a:moveTo>
                    <a:pt x="0" y="0"/>
                  </a:moveTo>
                  <a:lnTo>
                    <a:pt x="448123" y="0"/>
                  </a:lnTo>
                  <a:lnTo>
                    <a:pt x="448123" y="395163"/>
                  </a:lnTo>
                  <a:lnTo>
                    <a:pt x="0" y="3951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46" name="Freeform 46"/>
          <p:cNvSpPr/>
          <p:nvPr/>
        </p:nvSpPr>
        <p:spPr>
          <a:xfrm rot="-1247679">
            <a:off x="5309025" y="3403621"/>
            <a:ext cx="409384" cy="369934"/>
          </a:xfrm>
          <a:custGeom>
            <a:avLst/>
            <a:gdLst/>
            <a:ahLst/>
            <a:cxnLst/>
            <a:rect l="l" t="t" r="r" b="b"/>
            <a:pathLst>
              <a:path w="409384" h="369934">
                <a:moveTo>
                  <a:pt x="0" y="0"/>
                </a:moveTo>
                <a:lnTo>
                  <a:pt x="409384" y="0"/>
                </a:lnTo>
                <a:lnTo>
                  <a:pt x="409384" y="369935"/>
                </a:lnTo>
                <a:lnTo>
                  <a:pt x="0" y="36993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7" name="Freeform 47"/>
          <p:cNvSpPr/>
          <p:nvPr/>
        </p:nvSpPr>
        <p:spPr>
          <a:xfrm rot="-5518366">
            <a:off x="15246260" y="3301311"/>
            <a:ext cx="333055" cy="705440"/>
          </a:xfrm>
          <a:custGeom>
            <a:avLst/>
            <a:gdLst/>
            <a:ahLst/>
            <a:cxnLst/>
            <a:rect l="l" t="t" r="r" b="b"/>
            <a:pathLst>
              <a:path w="333055" h="705440">
                <a:moveTo>
                  <a:pt x="0" y="0"/>
                </a:moveTo>
                <a:lnTo>
                  <a:pt x="333054" y="0"/>
                </a:lnTo>
                <a:lnTo>
                  <a:pt x="333054" y="705440"/>
                </a:lnTo>
                <a:lnTo>
                  <a:pt x="0" y="70544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t="-22725" b="-129379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8" name="Freeform 48"/>
          <p:cNvSpPr/>
          <p:nvPr/>
        </p:nvSpPr>
        <p:spPr>
          <a:xfrm flipH="1">
            <a:off x="5150749" y="3731590"/>
            <a:ext cx="330014" cy="301813"/>
          </a:xfrm>
          <a:custGeom>
            <a:avLst/>
            <a:gdLst/>
            <a:ahLst/>
            <a:cxnLst/>
            <a:rect l="l" t="t" r="r" b="b"/>
            <a:pathLst>
              <a:path w="330014" h="301813">
                <a:moveTo>
                  <a:pt x="330014" y="0"/>
                </a:moveTo>
                <a:lnTo>
                  <a:pt x="0" y="0"/>
                </a:lnTo>
                <a:lnTo>
                  <a:pt x="0" y="301813"/>
                </a:lnTo>
                <a:lnTo>
                  <a:pt x="330014" y="301813"/>
                </a:lnTo>
                <a:lnTo>
                  <a:pt x="33001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9" name="Freeform 49"/>
          <p:cNvSpPr/>
          <p:nvPr/>
        </p:nvSpPr>
        <p:spPr>
          <a:xfrm>
            <a:off x="13476453" y="3385986"/>
            <a:ext cx="541060" cy="617392"/>
          </a:xfrm>
          <a:custGeom>
            <a:avLst/>
            <a:gdLst/>
            <a:ahLst/>
            <a:cxnLst/>
            <a:rect l="l" t="t" r="r" b="b"/>
            <a:pathLst>
              <a:path w="541060" h="617392">
                <a:moveTo>
                  <a:pt x="0" y="0"/>
                </a:moveTo>
                <a:lnTo>
                  <a:pt x="541060" y="0"/>
                </a:lnTo>
                <a:lnTo>
                  <a:pt x="541060" y="617392"/>
                </a:lnTo>
                <a:lnTo>
                  <a:pt x="0" y="61739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0" name="Freeform 50"/>
          <p:cNvSpPr/>
          <p:nvPr/>
        </p:nvSpPr>
        <p:spPr>
          <a:xfrm>
            <a:off x="15335104" y="9055871"/>
            <a:ext cx="1254072" cy="1006393"/>
          </a:xfrm>
          <a:custGeom>
            <a:avLst/>
            <a:gdLst/>
            <a:ahLst/>
            <a:cxnLst/>
            <a:rect l="l" t="t" r="r" b="b"/>
            <a:pathLst>
              <a:path w="1254072" h="1006393">
                <a:moveTo>
                  <a:pt x="0" y="0"/>
                </a:moveTo>
                <a:lnTo>
                  <a:pt x="1254073" y="0"/>
                </a:lnTo>
                <a:lnTo>
                  <a:pt x="1254073" y="1006393"/>
                </a:lnTo>
                <a:lnTo>
                  <a:pt x="0" y="100639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1" name="Freeform 51"/>
          <p:cNvSpPr/>
          <p:nvPr/>
        </p:nvSpPr>
        <p:spPr>
          <a:xfrm>
            <a:off x="16636802" y="9247819"/>
            <a:ext cx="1244996" cy="622498"/>
          </a:xfrm>
          <a:custGeom>
            <a:avLst/>
            <a:gdLst/>
            <a:ahLst/>
            <a:cxnLst/>
            <a:rect l="l" t="t" r="r" b="b"/>
            <a:pathLst>
              <a:path w="1244996" h="622498">
                <a:moveTo>
                  <a:pt x="0" y="0"/>
                </a:moveTo>
                <a:lnTo>
                  <a:pt x="1244996" y="0"/>
                </a:lnTo>
                <a:lnTo>
                  <a:pt x="1244996" y="622498"/>
                </a:lnTo>
                <a:lnTo>
                  <a:pt x="0" y="62249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2" name="Freeform 52"/>
          <p:cNvSpPr/>
          <p:nvPr/>
        </p:nvSpPr>
        <p:spPr>
          <a:xfrm>
            <a:off x="15350434" y="206954"/>
            <a:ext cx="2618598" cy="1465318"/>
          </a:xfrm>
          <a:custGeom>
            <a:avLst/>
            <a:gdLst/>
            <a:ahLst/>
            <a:cxnLst/>
            <a:rect l="l" t="t" r="r" b="b"/>
            <a:pathLst>
              <a:path w="2618598" h="1465318">
                <a:moveTo>
                  <a:pt x="0" y="0"/>
                </a:moveTo>
                <a:lnTo>
                  <a:pt x="2618598" y="0"/>
                </a:lnTo>
                <a:lnTo>
                  <a:pt x="2618598" y="1465318"/>
                </a:lnTo>
                <a:lnTo>
                  <a:pt x="0" y="146531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t="-13231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53" name="Group 53"/>
          <p:cNvGrpSpPr/>
          <p:nvPr/>
        </p:nvGrpSpPr>
        <p:grpSpPr>
          <a:xfrm rot="-10800000">
            <a:off x="2669834" y="2719935"/>
            <a:ext cx="1605627" cy="1426638"/>
            <a:chOff x="0" y="0"/>
            <a:chExt cx="1351839" cy="1201141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351915" cy="1201083"/>
            </a:xfrm>
            <a:custGeom>
              <a:avLst/>
              <a:gdLst/>
              <a:ahLst/>
              <a:cxnLst/>
              <a:rect l="l" t="t" r="r" b="b"/>
              <a:pathLst>
                <a:path w="1351915" h="1201083">
                  <a:moveTo>
                    <a:pt x="341503" y="718439"/>
                  </a:moveTo>
                  <a:cubicBezTo>
                    <a:pt x="387731" y="718439"/>
                    <a:pt x="431673" y="727837"/>
                    <a:pt x="471805" y="744855"/>
                  </a:cubicBezTo>
                  <a:cubicBezTo>
                    <a:pt x="590804" y="795401"/>
                    <a:pt x="666369" y="1062863"/>
                    <a:pt x="666496" y="1192149"/>
                  </a:cubicBezTo>
                  <a:cubicBezTo>
                    <a:pt x="666496" y="1196467"/>
                    <a:pt x="669925" y="1200658"/>
                    <a:pt x="674116" y="1201039"/>
                  </a:cubicBezTo>
                  <a:cubicBezTo>
                    <a:pt x="679196" y="1201547"/>
                    <a:pt x="683514" y="1197610"/>
                    <a:pt x="683514" y="1192657"/>
                  </a:cubicBezTo>
                  <a:lnTo>
                    <a:pt x="683514" y="1192276"/>
                  </a:lnTo>
                  <a:cubicBezTo>
                    <a:pt x="683514" y="1076452"/>
                    <a:pt x="743458" y="818769"/>
                    <a:pt x="844296" y="761619"/>
                  </a:cubicBezTo>
                  <a:cubicBezTo>
                    <a:pt x="892683" y="734187"/>
                    <a:pt x="948690" y="718439"/>
                    <a:pt x="1008380" y="718439"/>
                  </a:cubicBezTo>
                  <a:cubicBezTo>
                    <a:pt x="1198118" y="718312"/>
                    <a:pt x="1351915" y="564515"/>
                    <a:pt x="1351915" y="374777"/>
                  </a:cubicBezTo>
                  <a:lnTo>
                    <a:pt x="1351915" y="343662"/>
                  </a:lnTo>
                  <a:cubicBezTo>
                    <a:pt x="1351788" y="153797"/>
                    <a:pt x="1197991" y="0"/>
                    <a:pt x="1008126" y="0"/>
                  </a:cubicBezTo>
                  <a:lnTo>
                    <a:pt x="0" y="0"/>
                  </a:lnTo>
                  <a:lnTo>
                    <a:pt x="0" y="718439"/>
                  </a:lnTo>
                  <a:lnTo>
                    <a:pt x="341630" y="718693"/>
                  </a:lnTo>
                  <a:close/>
                </a:path>
              </a:pathLst>
            </a:custGeom>
            <a:solidFill>
              <a:srgbClr val="FB766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5350434" y="206954"/>
            <a:ext cx="2618598" cy="1465318"/>
            <a:chOff x="0" y="0"/>
            <a:chExt cx="1084826" cy="607048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084826" cy="607048"/>
            </a:xfrm>
            <a:custGeom>
              <a:avLst/>
              <a:gdLst/>
              <a:ahLst/>
              <a:cxnLst/>
              <a:rect l="l" t="t" r="r" b="b"/>
              <a:pathLst>
                <a:path w="1084826" h="607048">
                  <a:moveTo>
                    <a:pt x="65043" y="0"/>
                  </a:moveTo>
                  <a:lnTo>
                    <a:pt x="1019783" y="0"/>
                  </a:lnTo>
                  <a:cubicBezTo>
                    <a:pt x="1037034" y="0"/>
                    <a:pt x="1053578" y="6853"/>
                    <a:pt x="1065776" y="19051"/>
                  </a:cubicBezTo>
                  <a:cubicBezTo>
                    <a:pt x="1077974" y="31249"/>
                    <a:pt x="1084826" y="47793"/>
                    <a:pt x="1084826" y="65043"/>
                  </a:cubicBezTo>
                  <a:lnTo>
                    <a:pt x="1084826" y="542005"/>
                  </a:lnTo>
                  <a:cubicBezTo>
                    <a:pt x="1084826" y="559256"/>
                    <a:pt x="1077974" y="575800"/>
                    <a:pt x="1065776" y="587998"/>
                  </a:cubicBezTo>
                  <a:cubicBezTo>
                    <a:pt x="1053578" y="600196"/>
                    <a:pt x="1037034" y="607048"/>
                    <a:pt x="1019783" y="607048"/>
                  </a:cubicBezTo>
                  <a:lnTo>
                    <a:pt x="65043" y="607048"/>
                  </a:lnTo>
                  <a:cubicBezTo>
                    <a:pt x="47793" y="607048"/>
                    <a:pt x="31249" y="600196"/>
                    <a:pt x="19051" y="587998"/>
                  </a:cubicBezTo>
                  <a:cubicBezTo>
                    <a:pt x="6853" y="575800"/>
                    <a:pt x="0" y="559256"/>
                    <a:pt x="0" y="542005"/>
                  </a:cubicBezTo>
                  <a:lnTo>
                    <a:pt x="0" y="65043"/>
                  </a:lnTo>
                  <a:cubicBezTo>
                    <a:pt x="0" y="47793"/>
                    <a:pt x="6853" y="31249"/>
                    <a:pt x="19051" y="19051"/>
                  </a:cubicBezTo>
                  <a:cubicBezTo>
                    <a:pt x="31249" y="6853"/>
                    <a:pt x="47793" y="0"/>
                    <a:pt x="6504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114300"/>
              <a:ext cx="1084826" cy="721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88"/>
                </a:lnSpc>
              </a:pPr>
              <a:endParaRPr/>
            </a:p>
          </p:txBody>
        </p:sp>
      </p:grpSp>
      <p:sp>
        <p:nvSpPr>
          <p:cNvPr id="58" name="Freeform 58"/>
          <p:cNvSpPr/>
          <p:nvPr/>
        </p:nvSpPr>
        <p:spPr>
          <a:xfrm>
            <a:off x="3559163" y="3433254"/>
            <a:ext cx="566279" cy="515829"/>
          </a:xfrm>
          <a:custGeom>
            <a:avLst/>
            <a:gdLst/>
            <a:ahLst/>
            <a:cxnLst/>
            <a:rect l="l" t="t" r="r" b="b"/>
            <a:pathLst>
              <a:path w="566279" h="515829">
                <a:moveTo>
                  <a:pt x="0" y="0"/>
                </a:moveTo>
                <a:lnTo>
                  <a:pt x="566279" y="0"/>
                </a:lnTo>
                <a:lnTo>
                  <a:pt x="566279" y="515829"/>
                </a:lnTo>
                <a:lnTo>
                  <a:pt x="0" y="515829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9" name="Freeform 59"/>
          <p:cNvSpPr/>
          <p:nvPr/>
        </p:nvSpPr>
        <p:spPr>
          <a:xfrm>
            <a:off x="10072209" y="3425651"/>
            <a:ext cx="557230" cy="557230"/>
          </a:xfrm>
          <a:custGeom>
            <a:avLst/>
            <a:gdLst/>
            <a:ahLst/>
            <a:cxnLst/>
            <a:rect l="l" t="t" r="r" b="b"/>
            <a:pathLst>
              <a:path w="557230" h="557230">
                <a:moveTo>
                  <a:pt x="0" y="0"/>
                </a:moveTo>
                <a:lnTo>
                  <a:pt x="557230" y="0"/>
                </a:lnTo>
                <a:lnTo>
                  <a:pt x="557230" y="557231"/>
                </a:lnTo>
                <a:lnTo>
                  <a:pt x="0" y="557231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0" name="TextBox 60"/>
          <p:cNvSpPr txBox="1"/>
          <p:nvPr/>
        </p:nvSpPr>
        <p:spPr>
          <a:xfrm>
            <a:off x="2888622" y="3425377"/>
            <a:ext cx="417668" cy="545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8"/>
              </a:lnSpc>
            </a:pPr>
            <a:r>
              <a:rPr lang="en-US" sz="304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4460038" y="3425377"/>
            <a:ext cx="417668" cy="545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8"/>
              </a:lnSpc>
            </a:pPr>
            <a:r>
              <a:rPr lang="en-US" sz="304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150574" y="3425377"/>
            <a:ext cx="417668" cy="545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8"/>
              </a:lnSpc>
            </a:pPr>
            <a:r>
              <a:rPr lang="en-US" sz="304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815996" y="3425377"/>
            <a:ext cx="417668" cy="545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8"/>
              </a:lnSpc>
            </a:pPr>
            <a:r>
              <a:rPr lang="en-US" sz="304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9483091" y="3425377"/>
            <a:ext cx="417668" cy="545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8"/>
              </a:lnSpc>
            </a:pPr>
            <a:r>
              <a:rPr lang="en-US" sz="304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1149720" y="3425377"/>
            <a:ext cx="417668" cy="545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8"/>
              </a:lnSpc>
            </a:pPr>
            <a:r>
              <a:rPr lang="en-US" sz="304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2801610" y="3425377"/>
            <a:ext cx="417668" cy="545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8"/>
              </a:lnSpc>
            </a:pPr>
            <a:r>
              <a:rPr lang="en-US" sz="304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07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4474951" y="3425377"/>
            <a:ext cx="417668" cy="545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8"/>
              </a:lnSpc>
            </a:pPr>
            <a:r>
              <a:rPr lang="en-US" sz="304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08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933245" y="1038225"/>
            <a:ext cx="3369651" cy="89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12"/>
              </a:lnSpc>
            </a:pPr>
            <a:r>
              <a:rPr lang="en-US" sz="5937" spc="-48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Workflow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028700" y="1038225"/>
            <a:ext cx="6090579" cy="89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12"/>
              </a:lnSpc>
            </a:pPr>
            <a:r>
              <a:rPr lang="en-US" sz="5937" b="1" spc="-48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PRE-PROCESSING 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8522958" y="3484985"/>
            <a:ext cx="526603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6"/>
              </a:lnSpc>
              <a:spcBef>
                <a:spcPct val="0"/>
              </a:spcBef>
            </a:pPr>
            <a:r>
              <a:rPr lang="en-US" sz="2800" b="1" spc="-271" dirty="0">
                <a:solidFill>
                  <a:srgbClr val="FEFEFF"/>
                </a:solidFill>
                <a:latin typeface="Poppins Bold"/>
                <a:ea typeface="Poppins Bold"/>
                <a:cs typeface="Poppins Bold"/>
                <a:sym typeface="Poppins Bold"/>
              </a:rPr>
              <a:t>Aa</a:t>
            </a:r>
            <a:endParaRPr lang="en-US" sz="3311" b="1" spc="-271" dirty="0">
              <a:solidFill>
                <a:srgbClr val="FEFE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71" name="Freeform 71"/>
          <p:cNvSpPr/>
          <p:nvPr/>
        </p:nvSpPr>
        <p:spPr>
          <a:xfrm>
            <a:off x="1252407" y="6400317"/>
            <a:ext cx="6591259" cy="927212"/>
          </a:xfrm>
          <a:custGeom>
            <a:avLst/>
            <a:gdLst/>
            <a:ahLst/>
            <a:cxnLst/>
            <a:rect l="l" t="t" r="r" b="b"/>
            <a:pathLst>
              <a:path w="6591259" h="927212">
                <a:moveTo>
                  <a:pt x="0" y="0"/>
                </a:moveTo>
                <a:lnTo>
                  <a:pt x="6591258" y="0"/>
                </a:lnTo>
                <a:lnTo>
                  <a:pt x="6591258" y="927212"/>
                </a:lnTo>
                <a:lnTo>
                  <a:pt x="0" y="92721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r="-2720"/>
            </a:stretch>
          </a:blipFill>
          <a:ln cap="rnd">
            <a:noFill/>
            <a:prstDash val="solid"/>
            <a:round/>
          </a:ln>
        </p:spPr>
        <p:txBody>
          <a:bodyPr/>
          <a:lstStyle/>
          <a:p>
            <a:endParaRPr lang="it-IT"/>
          </a:p>
        </p:txBody>
      </p:sp>
      <p:sp>
        <p:nvSpPr>
          <p:cNvPr id="72" name="Freeform 72"/>
          <p:cNvSpPr/>
          <p:nvPr/>
        </p:nvSpPr>
        <p:spPr>
          <a:xfrm>
            <a:off x="1593252" y="7247949"/>
            <a:ext cx="6776230" cy="347054"/>
          </a:xfrm>
          <a:custGeom>
            <a:avLst/>
            <a:gdLst/>
            <a:ahLst/>
            <a:cxnLst/>
            <a:rect l="l" t="t" r="r" b="b"/>
            <a:pathLst>
              <a:path w="6776230" h="347054">
                <a:moveTo>
                  <a:pt x="0" y="0"/>
                </a:moveTo>
                <a:lnTo>
                  <a:pt x="6776230" y="0"/>
                </a:lnTo>
                <a:lnTo>
                  <a:pt x="6776230" y="347054"/>
                </a:lnTo>
                <a:lnTo>
                  <a:pt x="0" y="347054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3" name="TextBox 73"/>
          <p:cNvSpPr txBox="1"/>
          <p:nvPr/>
        </p:nvSpPr>
        <p:spPr>
          <a:xfrm>
            <a:off x="5849421" y="7761457"/>
            <a:ext cx="2413925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Neutral ≠ always problem-free</a:t>
            </a:r>
          </a:p>
        </p:txBody>
      </p:sp>
      <p:sp>
        <p:nvSpPr>
          <p:cNvPr id="74" name="Freeform 74"/>
          <p:cNvSpPr/>
          <p:nvPr/>
        </p:nvSpPr>
        <p:spPr>
          <a:xfrm>
            <a:off x="1660587" y="8094832"/>
            <a:ext cx="3780141" cy="1001652"/>
          </a:xfrm>
          <a:custGeom>
            <a:avLst/>
            <a:gdLst/>
            <a:ahLst/>
            <a:cxnLst/>
            <a:rect l="l" t="t" r="r" b="b"/>
            <a:pathLst>
              <a:path w="3780141" h="1001652">
                <a:moveTo>
                  <a:pt x="0" y="0"/>
                </a:moveTo>
                <a:lnTo>
                  <a:pt x="3780141" y="0"/>
                </a:lnTo>
                <a:lnTo>
                  <a:pt x="3780141" y="1001651"/>
                </a:lnTo>
                <a:lnTo>
                  <a:pt x="0" y="1001651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-89605" t="-345321" r="-313" b="-244121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75" name="Group 75"/>
          <p:cNvGrpSpPr/>
          <p:nvPr/>
        </p:nvGrpSpPr>
        <p:grpSpPr>
          <a:xfrm rot="5168040">
            <a:off x="2779557" y="6531577"/>
            <a:ext cx="530794" cy="2859989"/>
            <a:chOff x="0" y="0"/>
            <a:chExt cx="194508" cy="1048036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194508" cy="1048036"/>
            </a:xfrm>
            <a:custGeom>
              <a:avLst/>
              <a:gdLst/>
              <a:ahLst/>
              <a:cxnLst/>
              <a:rect l="l" t="t" r="r" b="b"/>
              <a:pathLst>
                <a:path w="194508" h="1048036">
                  <a:moveTo>
                    <a:pt x="0" y="0"/>
                  </a:moveTo>
                  <a:lnTo>
                    <a:pt x="194508" y="0"/>
                  </a:lnTo>
                  <a:lnTo>
                    <a:pt x="194508" y="1048036"/>
                  </a:lnTo>
                  <a:lnTo>
                    <a:pt x="0" y="1048036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0" y="-57150"/>
              <a:ext cx="194508" cy="11051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78" name="Group 78"/>
          <p:cNvGrpSpPr/>
          <p:nvPr/>
        </p:nvGrpSpPr>
        <p:grpSpPr>
          <a:xfrm rot="6325620">
            <a:off x="2523650" y="7462048"/>
            <a:ext cx="766318" cy="3221008"/>
            <a:chOff x="0" y="0"/>
            <a:chExt cx="280815" cy="1180331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280815" cy="1180331"/>
            </a:xfrm>
            <a:custGeom>
              <a:avLst/>
              <a:gdLst/>
              <a:ahLst/>
              <a:cxnLst/>
              <a:rect l="l" t="t" r="r" b="b"/>
              <a:pathLst>
                <a:path w="280815" h="1180331">
                  <a:moveTo>
                    <a:pt x="0" y="0"/>
                  </a:moveTo>
                  <a:lnTo>
                    <a:pt x="280815" y="0"/>
                  </a:lnTo>
                  <a:lnTo>
                    <a:pt x="280815" y="1180331"/>
                  </a:lnTo>
                  <a:lnTo>
                    <a:pt x="0" y="1180331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0" y="-57150"/>
              <a:ext cx="280815" cy="12374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sp>
        <p:nvSpPr>
          <p:cNvPr id="81" name="Freeform 81"/>
          <p:cNvSpPr/>
          <p:nvPr/>
        </p:nvSpPr>
        <p:spPr>
          <a:xfrm rot="2700000" flipH="1">
            <a:off x="2395659" y="8507257"/>
            <a:ext cx="548350" cy="500826"/>
          </a:xfrm>
          <a:custGeom>
            <a:avLst/>
            <a:gdLst/>
            <a:ahLst/>
            <a:cxnLst/>
            <a:rect l="l" t="t" r="r" b="b"/>
            <a:pathLst>
              <a:path w="548350" h="500826">
                <a:moveTo>
                  <a:pt x="548349" y="0"/>
                </a:moveTo>
                <a:lnTo>
                  <a:pt x="0" y="0"/>
                </a:lnTo>
                <a:lnTo>
                  <a:pt x="0" y="500826"/>
                </a:lnTo>
                <a:lnTo>
                  <a:pt x="548349" y="500826"/>
                </a:lnTo>
                <a:lnTo>
                  <a:pt x="548349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82" name="TextBox 82"/>
          <p:cNvSpPr txBox="1"/>
          <p:nvPr/>
        </p:nvSpPr>
        <p:spPr>
          <a:xfrm>
            <a:off x="2669834" y="8957974"/>
            <a:ext cx="1340709" cy="459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9"/>
              </a:lnSpc>
            </a:pPr>
            <a:r>
              <a:rPr lang="en-US" sz="1619" b="1" spc="-13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222 Negative</a:t>
            </a:r>
          </a:p>
          <a:p>
            <a:pPr algn="l">
              <a:lnSpc>
                <a:spcPts val="1749"/>
              </a:lnSpc>
              <a:spcBef>
                <a:spcPct val="0"/>
              </a:spcBef>
            </a:pPr>
            <a:r>
              <a:rPr lang="en-US" sz="1619" b="1" spc="-13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115 Positive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397710" y="5554039"/>
            <a:ext cx="563047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47"/>
              </a:lnSpc>
            </a:pPr>
            <a:r>
              <a:rPr lang="en-US" sz="4373" b="1">
                <a:solidFill>
                  <a:srgbClr val="FB766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sp>
        <p:nvSpPr>
          <p:cNvPr id="84" name="Freeform 84"/>
          <p:cNvSpPr/>
          <p:nvPr/>
        </p:nvSpPr>
        <p:spPr>
          <a:xfrm>
            <a:off x="10141670" y="6874646"/>
            <a:ext cx="7734628" cy="280143"/>
          </a:xfrm>
          <a:custGeom>
            <a:avLst/>
            <a:gdLst/>
            <a:ahLst/>
            <a:cxnLst/>
            <a:rect l="l" t="t" r="r" b="b"/>
            <a:pathLst>
              <a:path w="7734628" h="280143">
                <a:moveTo>
                  <a:pt x="0" y="0"/>
                </a:moveTo>
                <a:lnTo>
                  <a:pt x="7734627" y="0"/>
                </a:lnTo>
                <a:lnTo>
                  <a:pt x="7734627" y="280144"/>
                </a:lnTo>
                <a:lnTo>
                  <a:pt x="0" y="280144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r="-83737" b="-77552"/>
            </a:stretch>
          </a:blipFill>
          <a:ln cap="rnd">
            <a:noFill/>
            <a:prstDash val="solid"/>
            <a:round/>
          </a:ln>
        </p:spPr>
        <p:txBody>
          <a:bodyPr/>
          <a:lstStyle/>
          <a:p>
            <a:endParaRPr lang="it-IT"/>
          </a:p>
        </p:txBody>
      </p:sp>
      <p:sp>
        <p:nvSpPr>
          <p:cNvPr id="85" name="Freeform 85"/>
          <p:cNvSpPr/>
          <p:nvPr/>
        </p:nvSpPr>
        <p:spPr>
          <a:xfrm>
            <a:off x="11363021" y="7154790"/>
            <a:ext cx="6532650" cy="275978"/>
          </a:xfrm>
          <a:custGeom>
            <a:avLst/>
            <a:gdLst/>
            <a:ahLst/>
            <a:cxnLst/>
            <a:rect l="l" t="t" r="r" b="b"/>
            <a:pathLst>
              <a:path w="6532650" h="275978">
                <a:moveTo>
                  <a:pt x="0" y="0"/>
                </a:moveTo>
                <a:lnTo>
                  <a:pt x="6532650" y="0"/>
                </a:lnTo>
                <a:lnTo>
                  <a:pt x="6532650" y="275977"/>
                </a:lnTo>
                <a:lnTo>
                  <a:pt x="0" y="275977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-117544" b="-80232"/>
            </a:stretch>
          </a:blipFill>
          <a:ln cap="rnd">
            <a:noFill/>
            <a:prstDash val="solid"/>
            <a:round/>
          </a:ln>
        </p:spPr>
        <p:txBody>
          <a:bodyPr/>
          <a:lstStyle/>
          <a:p>
            <a:endParaRPr lang="it-IT"/>
          </a:p>
        </p:txBody>
      </p:sp>
      <p:grpSp>
        <p:nvGrpSpPr>
          <p:cNvPr id="86" name="Group 86"/>
          <p:cNvGrpSpPr/>
          <p:nvPr/>
        </p:nvGrpSpPr>
        <p:grpSpPr>
          <a:xfrm>
            <a:off x="10855993" y="6400317"/>
            <a:ext cx="6849307" cy="474329"/>
            <a:chOff x="0" y="0"/>
            <a:chExt cx="9132409" cy="632439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8870387" cy="322586"/>
            </a:xfrm>
            <a:custGeom>
              <a:avLst/>
              <a:gdLst/>
              <a:ahLst/>
              <a:cxnLst/>
              <a:rect l="l" t="t" r="r" b="b"/>
              <a:pathLst>
                <a:path w="8870387" h="322586">
                  <a:moveTo>
                    <a:pt x="0" y="0"/>
                  </a:moveTo>
                  <a:lnTo>
                    <a:pt x="8870387" y="0"/>
                  </a:lnTo>
                  <a:lnTo>
                    <a:pt x="8870387" y="322586"/>
                  </a:lnTo>
                  <a:lnTo>
                    <a:pt x="0" y="3225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 t="-105588" r="-113616"/>
              </a:stretch>
            </a:blip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88" name="Freeform 88"/>
            <p:cNvSpPr/>
            <p:nvPr/>
          </p:nvSpPr>
          <p:spPr>
            <a:xfrm>
              <a:off x="1509798" y="310651"/>
              <a:ext cx="7622611" cy="321789"/>
            </a:xfrm>
            <a:custGeom>
              <a:avLst/>
              <a:gdLst/>
              <a:ahLst/>
              <a:cxnLst/>
              <a:rect l="l" t="t" r="r" b="b"/>
              <a:pathLst>
                <a:path w="7622611" h="321789">
                  <a:moveTo>
                    <a:pt x="0" y="0"/>
                  </a:moveTo>
                  <a:lnTo>
                    <a:pt x="7622611" y="0"/>
                  </a:lnTo>
                  <a:lnTo>
                    <a:pt x="7622611" y="321788"/>
                  </a:lnTo>
                  <a:lnTo>
                    <a:pt x="0" y="3217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 l="-116769" t="-106098" r="-31814"/>
              </a:stretch>
            </a:blip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89" name="TextBox 89"/>
          <p:cNvSpPr txBox="1"/>
          <p:nvPr/>
        </p:nvSpPr>
        <p:spPr>
          <a:xfrm>
            <a:off x="9588148" y="5554039"/>
            <a:ext cx="563047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47"/>
              </a:lnSpc>
            </a:pPr>
            <a:r>
              <a:rPr lang="en-US" sz="4373" b="1">
                <a:solidFill>
                  <a:srgbClr val="6877F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07</a:t>
            </a:r>
          </a:p>
        </p:txBody>
      </p:sp>
      <p:sp>
        <p:nvSpPr>
          <p:cNvPr id="90" name="AutoShape 90"/>
          <p:cNvSpPr/>
          <p:nvPr/>
        </p:nvSpPr>
        <p:spPr>
          <a:xfrm>
            <a:off x="9206983" y="5649289"/>
            <a:ext cx="0" cy="420158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it-IT"/>
          </a:p>
        </p:txBody>
      </p:sp>
      <p:sp>
        <p:nvSpPr>
          <p:cNvPr id="91" name="TextBox 91"/>
          <p:cNvSpPr txBox="1"/>
          <p:nvPr/>
        </p:nvSpPr>
        <p:spPr>
          <a:xfrm>
            <a:off x="10881574" y="7954123"/>
            <a:ext cx="5995876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After comparing TF-IDF, SBERT, and E5, we opted for a basic </a:t>
            </a:r>
            <a:r>
              <a:rPr lang="en-US" sz="21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TF-IDF approach.</a:t>
            </a:r>
          </a:p>
        </p:txBody>
      </p:sp>
      <p:grpSp>
        <p:nvGrpSpPr>
          <p:cNvPr id="92" name="Group 92"/>
          <p:cNvGrpSpPr/>
          <p:nvPr/>
        </p:nvGrpSpPr>
        <p:grpSpPr>
          <a:xfrm>
            <a:off x="10668273" y="7729821"/>
            <a:ext cx="6465681" cy="1110629"/>
            <a:chOff x="0" y="0"/>
            <a:chExt cx="1702895" cy="292511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1702895" cy="292511"/>
            </a:xfrm>
            <a:custGeom>
              <a:avLst/>
              <a:gdLst/>
              <a:ahLst/>
              <a:cxnLst/>
              <a:rect l="l" t="t" r="r" b="b"/>
              <a:pathLst>
                <a:path w="1702895" h="292511">
                  <a:moveTo>
                    <a:pt x="26343" y="0"/>
                  </a:moveTo>
                  <a:lnTo>
                    <a:pt x="1676553" y="0"/>
                  </a:lnTo>
                  <a:cubicBezTo>
                    <a:pt x="1683539" y="0"/>
                    <a:pt x="1690240" y="2775"/>
                    <a:pt x="1695180" y="7716"/>
                  </a:cubicBezTo>
                  <a:cubicBezTo>
                    <a:pt x="1700120" y="12656"/>
                    <a:pt x="1702895" y="19356"/>
                    <a:pt x="1702895" y="26343"/>
                  </a:cubicBezTo>
                  <a:lnTo>
                    <a:pt x="1702895" y="266169"/>
                  </a:lnTo>
                  <a:cubicBezTo>
                    <a:pt x="1702895" y="280717"/>
                    <a:pt x="1691101" y="292511"/>
                    <a:pt x="1676553" y="292511"/>
                  </a:cubicBezTo>
                  <a:lnTo>
                    <a:pt x="26343" y="292511"/>
                  </a:lnTo>
                  <a:cubicBezTo>
                    <a:pt x="19356" y="292511"/>
                    <a:pt x="12656" y="289736"/>
                    <a:pt x="7716" y="284796"/>
                  </a:cubicBezTo>
                  <a:cubicBezTo>
                    <a:pt x="2775" y="279856"/>
                    <a:pt x="0" y="273155"/>
                    <a:pt x="0" y="266169"/>
                  </a:cubicBezTo>
                  <a:lnTo>
                    <a:pt x="0" y="26343"/>
                  </a:lnTo>
                  <a:cubicBezTo>
                    <a:pt x="0" y="11794"/>
                    <a:pt x="11794" y="0"/>
                    <a:pt x="2634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6877F3"/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0" y="9525"/>
              <a:ext cx="1702895" cy="282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75"/>
                </a:lnSpc>
              </a:pPr>
              <a:endParaRPr/>
            </a:p>
          </p:txBody>
        </p:sp>
      </p:grpSp>
      <p:sp>
        <p:nvSpPr>
          <p:cNvPr id="95" name="Freeform 95"/>
          <p:cNvSpPr/>
          <p:nvPr/>
        </p:nvSpPr>
        <p:spPr>
          <a:xfrm rot="6047574">
            <a:off x="16692770" y="8507496"/>
            <a:ext cx="743974" cy="530250"/>
          </a:xfrm>
          <a:custGeom>
            <a:avLst/>
            <a:gdLst/>
            <a:ahLst/>
            <a:cxnLst/>
            <a:rect l="l" t="t" r="r" b="b"/>
            <a:pathLst>
              <a:path w="743974" h="530250">
                <a:moveTo>
                  <a:pt x="0" y="0"/>
                </a:moveTo>
                <a:lnTo>
                  <a:pt x="743974" y="0"/>
                </a:lnTo>
                <a:lnTo>
                  <a:pt x="743974" y="530250"/>
                </a:lnTo>
                <a:lnTo>
                  <a:pt x="0" y="530250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335104" y="9055871"/>
            <a:ext cx="1254072" cy="1006393"/>
          </a:xfrm>
          <a:custGeom>
            <a:avLst/>
            <a:gdLst/>
            <a:ahLst/>
            <a:cxnLst/>
            <a:rect l="l" t="t" r="r" b="b"/>
            <a:pathLst>
              <a:path w="1254072" h="1006393">
                <a:moveTo>
                  <a:pt x="0" y="0"/>
                </a:moveTo>
                <a:lnTo>
                  <a:pt x="1254073" y="0"/>
                </a:lnTo>
                <a:lnTo>
                  <a:pt x="1254073" y="1006393"/>
                </a:lnTo>
                <a:lnTo>
                  <a:pt x="0" y="10063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6636802" y="9247819"/>
            <a:ext cx="1244996" cy="622498"/>
          </a:xfrm>
          <a:custGeom>
            <a:avLst/>
            <a:gdLst/>
            <a:ahLst/>
            <a:cxnLst/>
            <a:rect l="l" t="t" r="r" b="b"/>
            <a:pathLst>
              <a:path w="1244996" h="622498">
                <a:moveTo>
                  <a:pt x="0" y="0"/>
                </a:moveTo>
                <a:lnTo>
                  <a:pt x="1244996" y="0"/>
                </a:lnTo>
                <a:lnTo>
                  <a:pt x="1244996" y="622498"/>
                </a:lnTo>
                <a:lnTo>
                  <a:pt x="0" y="6224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15537290" y="206954"/>
            <a:ext cx="2344509" cy="1465318"/>
          </a:xfrm>
          <a:custGeom>
            <a:avLst/>
            <a:gdLst/>
            <a:ahLst/>
            <a:cxnLst/>
            <a:rect l="l" t="t" r="r" b="b"/>
            <a:pathLst>
              <a:path w="2344509" h="1465318">
                <a:moveTo>
                  <a:pt x="0" y="0"/>
                </a:moveTo>
                <a:lnTo>
                  <a:pt x="2344508" y="0"/>
                </a:lnTo>
                <a:lnTo>
                  <a:pt x="2344508" y="1465318"/>
                </a:lnTo>
                <a:lnTo>
                  <a:pt x="0" y="14653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1078553" y="3109678"/>
            <a:ext cx="2733175" cy="2677112"/>
          </a:xfrm>
          <a:custGeom>
            <a:avLst/>
            <a:gdLst/>
            <a:ahLst/>
            <a:cxnLst/>
            <a:rect l="l" t="t" r="r" b="b"/>
            <a:pathLst>
              <a:path w="2733175" h="2677112">
                <a:moveTo>
                  <a:pt x="0" y="0"/>
                </a:moveTo>
                <a:lnTo>
                  <a:pt x="2733175" y="0"/>
                </a:lnTo>
                <a:lnTo>
                  <a:pt x="2733175" y="2677112"/>
                </a:lnTo>
                <a:lnTo>
                  <a:pt x="0" y="26771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094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4082078" y="3141747"/>
            <a:ext cx="2733175" cy="2677112"/>
          </a:xfrm>
          <a:custGeom>
            <a:avLst/>
            <a:gdLst/>
            <a:ahLst/>
            <a:cxnLst/>
            <a:rect l="l" t="t" r="r" b="b"/>
            <a:pathLst>
              <a:path w="2733175" h="2677112">
                <a:moveTo>
                  <a:pt x="0" y="0"/>
                </a:moveTo>
                <a:lnTo>
                  <a:pt x="2733176" y="0"/>
                </a:lnTo>
                <a:lnTo>
                  <a:pt x="2733176" y="2677112"/>
                </a:lnTo>
                <a:lnTo>
                  <a:pt x="0" y="26771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094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7081954" y="3141747"/>
            <a:ext cx="2733175" cy="2677112"/>
          </a:xfrm>
          <a:custGeom>
            <a:avLst/>
            <a:gdLst/>
            <a:ahLst/>
            <a:cxnLst/>
            <a:rect l="l" t="t" r="r" b="b"/>
            <a:pathLst>
              <a:path w="2733175" h="2677112">
                <a:moveTo>
                  <a:pt x="0" y="0"/>
                </a:moveTo>
                <a:lnTo>
                  <a:pt x="2733175" y="0"/>
                </a:lnTo>
                <a:lnTo>
                  <a:pt x="2733175" y="2677112"/>
                </a:lnTo>
                <a:lnTo>
                  <a:pt x="0" y="26771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094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8" name="Group 8"/>
          <p:cNvGrpSpPr/>
          <p:nvPr/>
        </p:nvGrpSpPr>
        <p:grpSpPr>
          <a:xfrm>
            <a:off x="1129404" y="3109678"/>
            <a:ext cx="2581178" cy="2583760"/>
            <a:chOff x="0" y="0"/>
            <a:chExt cx="679816" cy="68049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79816" cy="680496"/>
            </a:xfrm>
            <a:custGeom>
              <a:avLst/>
              <a:gdLst/>
              <a:ahLst/>
              <a:cxnLst/>
              <a:rect l="l" t="t" r="r" b="b"/>
              <a:pathLst>
                <a:path w="679816" h="680496">
                  <a:moveTo>
                    <a:pt x="0" y="0"/>
                  </a:moveTo>
                  <a:lnTo>
                    <a:pt x="679816" y="0"/>
                  </a:lnTo>
                  <a:lnTo>
                    <a:pt x="679816" y="680496"/>
                  </a:lnTo>
                  <a:lnTo>
                    <a:pt x="0" y="680496"/>
                  </a:lnTo>
                  <a:close/>
                </a:path>
              </a:pathLst>
            </a:custGeom>
            <a:solidFill>
              <a:srgbClr val="FEFEF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9525"/>
              <a:ext cx="679816" cy="6709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75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158402" y="3141747"/>
            <a:ext cx="2581178" cy="2583760"/>
            <a:chOff x="0" y="0"/>
            <a:chExt cx="679816" cy="68049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79816" cy="680496"/>
            </a:xfrm>
            <a:custGeom>
              <a:avLst/>
              <a:gdLst/>
              <a:ahLst/>
              <a:cxnLst/>
              <a:rect l="l" t="t" r="r" b="b"/>
              <a:pathLst>
                <a:path w="679816" h="680496">
                  <a:moveTo>
                    <a:pt x="0" y="0"/>
                  </a:moveTo>
                  <a:lnTo>
                    <a:pt x="679816" y="0"/>
                  </a:lnTo>
                  <a:lnTo>
                    <a:pt x="679816" y="680496"/>
                  </a:lnTo>
                  <a:lnTo>
                    <a:pt x="0" y="680496"/>
                  </a:lnTo>
                  <a:close/>
                </a:path>
              </a:pathLst>
            </a:custGeom>
            <a:solidFill>
              <a:srgbClr val="FEFEF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9525"/>
              <a:ext cx="679816" cy="6709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75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157952" y="3173816"/>
            <a:ext cx="2581178" cy="2583760"/>
            <a:chOff x="0" y="0"/>
            <a:chExt cx="679816" cy="68049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79816" cy="680496"/>
            </a:xfrm>
            <a:custGeom>
              <a:avLst/>
              <a:gdLst/>
              <a:ahLst/>
              <a:cxnLst/>
              <a:rect l="l" t="t" r="r" b="b"/>
              <a:pathLst>
                <a:path w="679816" h="680496">
                  <a:moveTo>
                    <a:pt x="0" y="0"/>
                  </a:moveTo>
                  <a:lnTo>
                    <a:pt x="679816" y="0"/>
                  </a:lnTo>
                  <a:lnTo>
                    <a:pt x="679816" y="680496"/>
                  </a:lnTo>
                  <a:lnTo>
                    <a:pt x="0" y="680496"/>
                  </a:lnTo>
                  <a:close/>
                </a:path>
              </a:pathLst>
            </a:custGeom>
            <a:solidFill>
              <a:srgbClr val="FEFEF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9525"/>
              <a:ext cx="679816" cy="6709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75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129404" y="3645694"/>
            <a:ext cx="2581178" cy="1334092"/>
          </a:xfrm>
          <a:custGeom>
            <a:avLst/>
            <a:gdLst/>
            <a:ahLst/>
            <a:cxnLst/>
            <a:rect l="l" t="t" r="r" b="b"/>
            <a:pathLst>
              <a:path w="2581178" h="1334092">
                <a:moveTo>
                  <a:pt x="0" y="0"/>
                </a:moveTo>
                <a:lnTo>
                  <a:pt x="2581179" y="0"/>
                </a:lnTo>
                <a:lnTo>
                  <a:pt x="2581179" y="1334092"/>
                </a:lnTo>
                <a:lnTo>
                  <a:pt x="0" y="13340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8" name="Freeform 18"/>
          <p:cNvSpPr/>
          <p:nvPr/>
        </p:nvSpPr>
        <p:spPr>
          <a:xfrm>
            <a:off x="4153706" y="3606881"/>
            <a:ext cx="2585874" cy="1618230"/>
          </a:xfrm>
          <a:custGeom>
            <a:avLst/>
            <a:gdLst/>
            <a:ahLst/>
            <a:cxnLst/>
            <a:rect l="l" t="t" r="r" b="b"/>
            <a:pathLst>
              <a:path w="2585874" h="1618230">
                <a:moveTo>
                  <a:pt x="0" y="0"/>
                </a:moveTo>
                <a:lnTo>
                  <a:pt x="2585874" y="0"/>
                </a:lnTo>
                <a:lnTo>
                  <a:pt x="2585874" y="1618230"/>
                </a:lnTo>
                <a:lnTo>
                  <a:pt x="0" y="16182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9" name="Freeform 19"/>
          <p:cNvSpPr/>
          <p:nvPr/>
        </p:nvSpPr>
        <p:spPr>
          <a:xfrm>
            <a:off x="7157952" y="3606881"/>
            <a:ext cx="2581178" cy="1690821"/>
          </a:xfrm>
          <a:custGeom>
            <a:avLst/>
            <a:gdLst/>
            <a:ahLst/>
            <a:cxnLst/>
            <a:rect l="l" t="t" r="r" b="b"/>
            <a:pathLst>
              <a:path w="2581178" h="1690821">
                <a:moveTo>
                  <a:pt x="0" y="0"/>
                </a:moveTo>
                <a:lnTo>
                  <a:pt x="2581178" y="0"/>
                </a:lnTo>
                <a:lnTo>
                  <a:pt x="2581178" y="1690821"/>
                </a:lnTo>
                <a:lnTo>
                  <a:pt x="0" y="16908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0" name="Freeform 20"/>
          <p:cNvSpPr/>
          <p:nvPr/>
        </p:nvSpPr>
        <p:spPr>
          <a:xfrm>
            <a:off x="10081829" y="3113736"/>
            <a:ext cx="2733175" cy="2677112"/>
          </a:xfrm>
          <a:custGeom>
            <a:avLst/>
            <a:gdLst/>
            <a:ahLst/>
            <a:cxnLst/>
            <a:rect l="l" t="t" r="r" b="b"/>
            <a:pathLst>
              <a:path w="2733175" h="2677112">
                <a:moveTo>
                  <a:pt x="0" y="0"/>
                </a:moveTo>
                <a:lnTo>
                  <a:pt x="2733175" y="0"/>
                </a:lnTo>
                <a:lnTo>
                  <a:pt x="2733175" y="2677112"/>
                </a:lnTo>
                <a:lnTo>
                  <a:pt x="0" y="26771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094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1" name="Freeform 21"/>
          <p:cNvSpPr/>
          <p:nvPr/>
        </p:nvSpPr>
        <p:spPr>
          <a:xfrm>
            <a:off x="13085680" y="3113736"/>
            <a:ext cx="2733175" cy="2677112"/>
          </a:xfrm>
          <a:custGeom>
            <a:avLst/>
            <a:gdLst/>
            <a:ahLst/>
            <a:cxnLst/>
            <a:rect l="l" t="t" r="r" b="b"/>
            <a:pathLst>
              <a:path w="2733175" h="2677112">
                <a:moveTo>
                  <a:pt x="0" y="0"/>
                </a:moveTo>
                <a:lnTo>
                  <a:pt x="2733175" y="0"/>
                </a:lnTo>
                <a:lnTo>
                  <a:pt x="2733175" y="2677112"/>
                </a:lnTo>
                <a:lnTo>
                  <a:pt x="0" y="26771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094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22" name="Group 22"/>
          <p:cNvGrpSpPr/>
          <p:nvPr/>
        </p:nvGrpSpPr>
        <p:grpSpPr>
          <a:xfrm>
            <a:off x="10132681" y="3119527"/>
            <a:ext cx="2581178" cy="2583760"/>
            <a:chOff x="0" y="0"/>
            <a:chExt cx="679816" cy="68049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79816" cy="680496"/>
            </a:xfrm>
            <a:custGeom>
              <a:avLst/>
              <a:gdLst/>
              <a:ahLst/>
              <a:cxnLst/>
              <a:rect l="l" t="t" r="r" b="b"/>
              <a:pathLst>
                <a:path w="679816" h="680496">
                  <a:moveTo>
                    <a:pt x="0" y="0"/>
                  </a:moveTo>
                  <a:lnTo>
                    <a:pt x="679816" y="0"/>
                  </a:lnTo>
                  <a:lnTo>
                    <a:pt x="679816" y="680496"/>
                  </a:lnTo>
                  <a:lnTo>
                    <a:pt x="0" y="680496"/>
                  </a:lnTo>
                  <a:close/>
                </a:path>
              </a:pathLst>
            </a:custGeom>
            <a:solidFill>
              <a:srgbClr val="FEFEF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9525"/>
              <a:ext cx="679816" cy="6709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75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3161678" y="3119527"/>
            <a:ext cx="2581178" cy="2583760"/>
            <a:chOff x="0" y="0"/>
            <a:chExt cx="679816" cy="68049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79816" cy="680496"/>
            </a:xfrm>
            <a:custGeom>
              <a:avLst/>
              <a:gdLst/>
              <a:ahLst/>
              <a:cxnLst/>
              <a:rect l="l" t="t" r="r" b="b"/>
              <a:pathLst>
                <a:path w="679816" h="680496">
                  <a:moveTo>
                    <a:pt x="0" y="0"/>
                  </a:moveTo>
                  <a:lnTo>
                    <a:pt x="679816" y="0"/>
                  </a:lnTo>
                  <a:lnTo>
                    <a:pt x="679816" y="680496"/>
                  </a:lnTo>
                  <a:lnTo>
                    <a:pt x="0" y="680496"/>
                  </a:lnTo>
                  <a:close/>
                </a:path>
              </a:pathLst>
            </a:custGeom>
            <a:solidFill>
              <a:srgbClr val="FEFEF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9525"/>
              <a:ext cx="679816" cy="6709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75"/>
                </a:lnSpc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>
            <a:off x="10132087" y="3649041"/>
            <a:ext cx="2581772" cy="1437236"/>
          </a:xfrm>
          <a:custGeom>
            <a:avLst/>
            <a:gdLst/>
            <a:ahLst/>
            <a:cxnLst/>
            <a:rect l="l" t="t" r="r" b="b"/>
            <a:pathLst>
              <a:path w="2581772" h="1437236">
                <a:moveTo>
                  <a:pt x="0" y="0"/>
                </a:moveTo>
                <a:lnTo>
                  <a:pt x="2581772" y="0"/>
                </a:lnTo>
                <a:lnTo>
                  <a:pt x="2581772" y="1437236"/>
                </a:lnTo>
                <a:lnTo>
                  <a:pt x="0" y="143723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9" name="Freeform 29"/>
          <p:cNvSpPr/>
          <p:nvPr/>
        </p:nvSpPr>
        <p:spPr>
          <a:xfrm>
            <a:off x="13211057" y="3873726"/>
            <a:ext cx="2531799" cy="867141"/>
          </a:xfrm>
          <a:custGeom>
            <a:avLst/>
            <a:gdLst/>
            <a:ahLst/>
            <a:cxnLst/>
            <a:rect l="l" t="t" r="r" b="b"/>
            <a:pathLst>
              <a:path w="2531799" h="867141">
                <a:moveTo>
                  <a:pt x="0" y="0"/>
                </a:moveTo>
                <a:lnTo>
                  <a:pt x="2531799" y="0"/>
                </a:lnTo>
                <a:lnTo>
                  <a:pt x="2531799" y="867142"/>
                </a:lnTo>
                <a:lnTo>
                  <a:pt x="0" y="86714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0" name="Freeform 30"/>
          <p:cNvSpPr/>
          <p:nvPr/>
        </p:nvSpPr>
        <p:spPr>
          <a:xfrm>
            <a:off x="15962141" y="2508000"/>
            <a:ext cx="632595" cy="633747"/>
          </a:xfrm>
          <a:custGeom>
            <a:avLst/>
            <a:gdLst/>
            <a:ahLst/>
            <a:cxnLst/>
            <a:rect l="l" t="t" r="r" b="b"/>
            <a:pathLst>
              <a:path w="632595" h="633747">
                <a:moveTo>
                  <a:pt x="0" y="0"/>
                </a:moveTo>
                <a:lnTo>
                  <a:pt x="632595" y="0"/>
                </a:lnTo>
                <a:lnTo>
                  <a:pt x="632595" y="633747"/>
                </a:lnTo>
                <a:lnTo>
                  <a:pt x="0" y="63374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1" name="Freeform 31"/>
          <p:cNvSpPr/>
          <p:nvPr/>
        </p:nvSpPr>
        <p:spPr>
          <a:xfrm>
            <a:off x="9640378" y="6056984"/>
            <a:ext cx="3243252" cy="2594602"/>
          </a:xfrm>
          <a:custGeom>
            <a:avLst/>
            <a:gdLst/>
            <a:ahLst/>
            <a:cxnLst/>
            <a:rect l="l" t="t" r="r" b="b"/>
            <a:pathLst>
              <a:path w="3243252" h="2594602">
                <a:moveTo>
                  <a:pt x="0" y="0"/>
                </a:moveTo>
                <a:lnTo>
                  <a:pt x="3243253" y="0"/>
                </a:lnTo>
                <a:lnTo>
                  <a:pt x="3243253" y="2594602"/>
                </a:lnTo>
                <a:lnTo>
                  <a:pt x="0" y="259460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32" name="Freeform 32"/>
          <p:cNvSpPr/>
          <p:nvPr/>
        </p:nvSpPr>
        <p:spPr>
          <a:xfrm>
            <a:off x="1337427" y="5973695"/>
            <a:ext cx="2611216" cy="2611216"/>
          </a:xfrm>
          <a:custGeom>
            <a:avLst/>
            <a:gdLst/>
            <a:ahLst/>
            <a:cxnLst/>
            <a:rect l="l" t="t" r="r" b="b"/>
            <a:pathLst>
              <a:path w="2611216" h="2611216">
                <a:moveTo>
                  <a:pt x="0" y="0"/>
                </a:moveTo>
                <a:lnTo>
                  <a:pt x="2611216" y="0"/>
                </a:lnTo>
                <a:lnTo>
                  <a:pt x="2611216" y="2611216"/>
                </a:lnTo>
                <a:lnTo>
                  <a:pt x="0" y="261121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33" name="Freeform 33"/>
          <p:cNvSpPr/>
          <p:nvPr/>
        </p:nvSpPr>
        <p:spPr>
          <a:xfrm>
            <a:off x="6885259" y="6039905"/>
            <a:ext cx="2583670" cy="2583670"/>
          </a:xfrm>
          <a:custGeom>
            <a:avLst/>
            <a:gdLst/>
            <a:ahLst/>
            <a:cxnLst/>
            <a:rect l="l" t="t" r="r" b="b"/>
            <a:pathLst>
              <a:path w="2583670" h="2583670">
                <a:moveTo>
                  <a:pt x="0" y="0"/>
                </a:moveTo>
                <a:lnTo>
                  <a:pt x="2583669" y="0"/>
                </a:lnTo>
                <a:lnTo>
                  <a:pt x="2583669" y="2583669"/>
                </a:lnTo>
                <a:lnTo>
                  <a:pt x="0" y="25836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34" name="Freeform 34"/>
          <p:cNvSpPr/>
          <p:nvPr/>
        </p:nvSpPr>
        <p:spPr>
          <a:xfrm>
            <a:off x="4120796" y="6030561"/>
            <a:ext cx="2593013" cy="2593013"/>
          </a:xfrm>
          <a:custGeom>
            <a:avLst/>
            <a:gdLst/>
            <a:ahLst/>
            <a:cxnLst/>
            <a:rect l="l" t="t" r="r" b="b"/>
            <a:pathLst>
              <a:path w="2593013" h="2593013">
                <a:moveTo>
                  <a:pt x="0" y="0"/>
                </a:moveTo>
                <a:lnTo>
                  <a:pt x="2593013" y="0"/>
                </a:lnTo>
                <a:lnTo>
                  <a:pt x="2593013" y="2593013"/>
                </a:lnTo>
                <a:lnTo>
                  <a:pt x="0" y="259301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35" name="Freeform 35"/>
          <p:cNvSpPr/>
          <p:nvPr/>
        </p:nvSpPr>
        <p:spPr>
          <a:xfrm>
            <a:off x="12933200" y="6057548"/>
            <a:ext cx="3242548" cy="2594038"/>
          </a:xfrm>
          <a:custGeom>
            <a:avLst/>
            <a:gdLst/>
            <a:ahLst/>
            <a:cxnLst/>
            <a:rect l="l" t="t" r="r" b="b"/>
            <a:pathLst>
              <a:path w="3242548" h="2594038">
                <a:moveTo>
                  <a:pt x="0" y="0"/>
                </a:moveTo>
                <a:lnTo>
                  <a:pt x="3242548" y="0"/>
                </a:lnTo>
                <a:lnTo>
                  <a:pt x="3242548" y="2594038"/>
                </a:lnTo>
                <a:lnTo>
                  <a:pt x="0" y="259403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Box 36"/>
          <p:cNvSpPr txBox="1"/>
          <p:nvPr/>
        </p:nvSpPr>
        <p:spPr>
          <a:xfrm>
            <a:off x="1028700" y="1038225"/>
            <a:ext cx="9173529" cy="89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12"/>
              </a:lnSpc>
            </a:pPr>
            <a:r>
              <a:rPr lang="en-US" sz="5937" spc="-48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Topic Detection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28700" y="1693135"/>
            <a:ext cx="8295954" cy="89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12"/>
              </a:lnSpc>
            </a:pPr>
            <a:r>
              <a:rPr lang="en-US" sz="5937" b="1" spc="-48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BERTopic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403039" y="3109678"/>
            <a:ext cx="2084203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000" b="1" spc="-164">
                <a:solidFill>
                  <a:srgbClr val="153CFF"/>
                </a:solidFill>
                <a:latin typeface="Poppins Bold"/>
                <a:ea typeface="Poppins Bold"/>
                <a:cs typeface="Poppins Bold"/>
                <a:sym typeface="Poppins Bold"/>
              </a:rPr>
              <a:t>SBERT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406565" y="3141747"/>
            <a:ext cx="2084203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000" b="1" spc="-164">
                <a:solidFill>
                  <a:srgbClr val="153CFF"/>
                </a:solidFill>
                <a:latin typeface="Poppins Bold"/>
                <a:ea typeface="Poppins Bold"/>
                <a:cs typeface="Poppins Bold"/>
                <a:sym typeface="Poppins Bold"/>
              </a:rPr>
              <a:t>UMAP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405804" y="3141747"/>
            <a:ext cx="2084203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000" b="1" spc="-164">
                <a:solidFill>
                  <a:srgbClr val="153CFF"/>
                </a:solidFill>
                <a:latin typeface="Poppins Bold"/>
                <a:ea typeface="Poppins Bold"/>
                <a:cs typeface="Poppins Bold"/>
                <a:sym typeface="Poppins Bold"/>
              </a:rPr>
              <a:t>HDBSCAN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403039" y="5117043"/>
            <a:ext cx="2084203" cy="563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000" b="1" spc="-164">
                <a:solidFill>
                  <a:srgbClr val="FB796D"/>
                </a:solidFill>
                <a:latin typeface="Poppins Bold"/>
                <a:ea typeface="Poppins Bold"/>
                <a:cs typeface="Poppins Bold"/>
                <a:sym typeface="Poppins Bold"/>
              </a:rPr>
              <a:t>Embedding</a:t>
            </a:r>
          </a:p>
          <a:p>
            <a:pPr algn="ctr">
              <a:lnSpc>
                <a:spcPts val="2160"/>
              </a:lnSpc>
            </a:pPr>
            <a:r>
              <a:rPr lang="en-US" sz="2000" b="1" spc="-164">
                <a:solidFill>
                  <a:srgbClr val="FB796D"/>
                </a:solidFill>
                <a:latin typeface="Poppins Bold"/>
                <a:ea typeface="Poppins Bold"/>
                <a:cs typeface="Poppins Bold"/>
                <a:sym typeface="Poppins Bold"/>
              </a:rPr>
              <a:t>Extraction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404542" y="5149112"/>
            <a:ext cx="2084203" cy="563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000" b="1" spc="-164">
                <a:solidFill>
                  <a:srgbClr val="FB796D"/>
                </a:solidFill>
                <a:latin typeface="Poppins Bold"/>
                <a:ea typeface="Poppins Bold"/>
                <a:cs typeface="Poppins Bold"/>
                <a:sym typeface="Poppins Bold"/>
              </a:rPr>
              <a:t>Dimensionality</a:t>
            </a:r>
          </a:p>
          <a:p>
            <a:pPr algn="ctr">
              <a:lnSpc>
                <a:spcPts val="2160"/>
              </a:lnSpc>
            </a:pPr>
            <a:r>
              <a:rPr lang="en-US" sz="2000" b="1" spc="-164">
                <a:solidFill>
                  <a:srgbClr val="FB796D"/>
                </a:solidFill>
                <a:latin typeface="Poppins Bold"/>
                <a:ea typeface="Poppins Bold"/>
                <a:cs typeface="Poppins Bold"/>
                <a:sym typeface="Poppins Bold"/>
              </a:rPr>
              <a:t>Reduction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405804" y="5225111"/>
            <a:ext cx="2084203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000" b="1" spc="-164">
                <a:solidFill>
                  <a:srgbClr val="FB796D"/>
                </a:solidFill>
                <a:latin typeface="Poppins Bold"/>
                <a:ea typeface="Poppins Bold"/>
                <a:cs typeface="Poppins Bold"/>
                <a:sym typeface="Poppins Bold"/>
              </a:rPr>
              <a:t>Clustering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410491" y="3113736"/>
            <a:ext cx="2084203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000" b="1" spc="-164">
                <a:solidFill>
                  <a:srgbClr val="153CFF"/>
                </a:solidFill>
                <a:latin typeface="Poppins Bold"/>
                <a:ea typeface="Poppins Bold"/>
                <a:cs typeface="Poppins Bold"/>
                <a:sym typeface="Poppins Bold"/>
              </a:rPr>
              <a:t>c - TF-IDF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406315" y="3113736"/>
            <a:ext cx="2084203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000" b="1" spc="-164">
                <a:solidFill>
                  <a:srgbClr val="153CFF"/>
                </a:solidFill>
                <a:latin typeface="Poppins Bold"/>
                <a:ea typeface="Poppins Bold"/>
                <a:cs typeface="Poppins Bold"/>
                <a:sym typeface="Poppins Bold"/>
              </a:rPr>
              <a:t>CountVectorizer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406315" y="5203678"/>
            <a:ext cx="2084203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000" b="1" spc="-164">
                <a:solidFill>
                  <a:srgbClr val="FB796D"/>
                </a:solidFill>
                <a:latin typeface="Poppins Bold"/>
                <a:ea typeface="Poppins Bold"/>
                <a:cs typeface="Poppins Bold"/>
                <a:sym typeface="Poppins Bold"/>
              </a:rPr>
              <a:t>Bag Of words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3408143" y="5055193"/>
            <a:ext cx="2084203" cy="563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000" b="1" spc="-164">
                <a:solidFill>
                  <a:srgbClr val="FB796D"/>
                </a:solidFill>
                <a:latin typeface="Poppins Bold"/>
                <a:ea typeface="Poppins Bold"/>
                <a:cs typeface="Poppins Bold"/>
                <a:sym typeface="Poppins Bold"/>
              </a:rPr>
              <a:t>Topic Representation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3625549" y="8672754"/>
            <a:ext cx="1857851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“Login Issues”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78553" y="8789171"/>
            <a:ext cx="11212105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0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 its enterprise application, the system allows the final number of topics to be </a:t>
            </a:r>
            <a:r>
              <a:rPr lang="en-US" sz="1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manually defined </a:t>
            </a: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by the user directly or through the topic reduction function, after a qualitative evaluation of the initial BERTopic output.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5874031" y="1749506"/>
            <a:ext cx="1671025" cy="185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 b="1">
                <a:solidFill>
                  <a:srgbClr val="FB766A"/>
                </a:solidFill>
                <a:latin typeface="Poppins Bold"/>
                <a:ea typeface="Poppins Bold"/>
                <a:cs typeface="Poppins Bold"/>
                <a:sym typeface="Poppins Bold"/>
              </a:rPr>
              <a:t>LLM-based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description of the   </a:t>
            </a:r>
          </a:p>
          <a:p>
            <a:pPr algn="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topics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endParaRPr lang="en-US" sz="2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2400"/>
              </a:lnSpc>
              <a:spcBef>
                <a:spcPct val="0"/>
              </a:spcBef>
            </a:pPr>
            <a:endParaRPr lang="en-US" sz="2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335104" y="9055871"/>
            <a:ext cx="1254072" cy="1006393"/>
          </a:xfrm>
          <a:custGeom>
            <a:avLst/>
            <a:gdLst/>
            <a:ahLst/>
            <a:cxnLst/>
            <a:rect l="l" t="t" r="r" b="b"/>
            <a:pathLst>
              <a:path w="1254072" h="1006393">
                <a:moveTo>
                  <a:pt x="0" y="0"/>
                </a:moveTo>
                <a:lnTo>
                  <a:pt x="1254073" y="0"/>
                </a:lnTo>
                <a:lnTo>
                  <a:pt x="1254073" y="1006393"/>
                </a:lnTo>
                <a:lnTo>
                  <a:pt x="0" y="10063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6636802" y="9247819"/>
            <a:ext cx="1244996" cy="622498"/>
          </a:xfrm>
          <a:custGeom>
            <a:avLst/>
            <a:gdLst/>
            <a:ahLst/>
            <a:cxnLst/>
            <a:rect l="l" t="t" r="r" b="b"/>
            <a:pathLst>
              <a:path w="1244996" h="622498">
                <a:moveTo>
                  <a:pt x="0" y="0"/>
                </a:moveTo>
                <a:lnTo>
                  <a:pt x="1244996" y="0"/>
                </a:lnTo>
                <a:lnTo>
                  <a:pt x="1244996" y="622498"/>
                </a:lnTo>
                <a:lnTo>
                  <a:pt x="0" y="6224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16416087" y="263976"/>
            <a:ext cx="1427611" cy="1328846"/>
          </a:xfrm>
          <a:custGeom>
            <a:avLst/>
            <a:gdLst/>
            <a:ahLst/>
            <a:cxnLst/>
            <a:rect l="l" t="t" r="r" b="b"/>
            <a:pathLst>
              <a:path w="1427611" h="1328846">
                <a:moveTo>
                  <a:pt x="0" y="0"/>
                </a:moveTo>
                <a:lnTo>
                  <a:pt x="1427611" y="0"/>
                </a:lnTo>
                <a:lnTo>
                  <a:pt x="1427611" y="1328846"/>
                </a:lnTo>
                <a:lnTo>
                  <a:pt x="0" y="13288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14133420" y="263976"/>
            <a:ext cx="2174491" cy="1360671"/>
          </a:xfrm>
          <a:custGeom>
            <a:avLst/>
            <a:gdLst/>
            <a:ahLst/>
            <a:cxnLst/>
            <a:rect l="l" t="t" r="r" b="b"/>
            <a:pathLst>
              <a:path w="2174491" h="1360671">
                <a:moveTo>
                  <a:pt x="0" y="0"/>
                </a:moveTo>
                <a:lnTo>
                  <a:pt x="2174490" y="0"/>
                </a:lnTo>
                <a:lnTo>
                  <a:pt x="2174490" y="1360671"/>
                </a:lnTo>
                <a:lnTo>
                  <a:pt x="0" y="13606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it-IT"/>
          </a:p>
        </p:txBody>
      </p:sp>
      <p:sp>
        <p:nvSpPr>
          <p:cNvPr id="6" name="AutoShape 6"/>
          <p:cNvSpPr/>
          <p:nvPr/>
        </p:nvSpPr>
        <p:spPr>
          <a:xfrm>
            <a:off x="9226481" y="8455884"/>
            <a:ext cx="350868" cy="0"/>
          </a:xfrm>
          <a:prstGeom prst="line">
            <a:avLst/>
          </a:prstGeom>
          <a:ln w="38100" cap="flat">
            <a:solidFill>
              <a:srgbClr val="626EF5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1597589" y="5471749"/>
            <a:ext cx="1750836" cy="728786"/>
          </a:xfrm>
          <a:custGeom>
            <a:avLst/>
            <a:gdLst/>
            <a:ahLst/>
            <a:cxnLst/>
            <a:rect l="l" t="t" r="r" b="b"/>
            <a:pathLst>
              <a:path w="1750836" h="728786">
                <a:moveTo>
                  <a:pt x="0" y="0"/>
                </a:moveTo>
                <a:lnTo>
                  <a:pt x="1750836" y="0"/>
                </a:lnTo>
                <a:lnTo>
                  <a:pt x="1750836" y="728785"/>
                </a:lnTo>
                <a:lnTo>
                  <a:pt x="0" y="7287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8" name="Freeform 8"/>
          <p:cNvSpPr/>
          <p:nvPr/>
        </p:nvSpPr>
        <p:spPr>
          <a:xfrm>
            <a:off x="1307045" y="3237549"/>
            <a:ext cx="14745627" cy="3815431"/>
          </a:xfrm>
          <a:custGeom>
            <a:avLst/>
            <a:gdLst/>
            <a:ahLst/>
            <a:cxnLst/>
            <a:rect l="l" t="t" r="r" b="b"/>
            <a:pathLst>
              <a:path w="14745627" h="3815431">
                <a:moveTo>
                  <a:pt x="0" y="0"/>
                </a:moveTo>
                <a:lnTo>
                  <a:pt x="14745627" y="0"/>
                </a:lnTo>
                <a:lnTo>
                  <a:pt x="14745627" y="3815431"/>
                </a:lnTo>
                <a:lnTo>
                  <a:pt x="0" y="38154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9" name="Freeform 9"/>
          <p:cNvSpPr/>
          <p:nvPr/>
        </p:nvSpPr>
        <p:spPr>
          <a:xfrm>
            <a:off x="533872" y="7859423"/>
            <a:ext cx="8610128" cy="1196449"/>
          </a:xfrm>
          <a:custGeom>
            <a:avLst/>
            <a:gdLst/>
            <a:ahLst/>
            <a:cxnLst/>
            <a:rect l="l" t="t" r="r" b="b"/>
            <a:pathLst>
              <a:path w="8610128" h="1196449">
                <a:moveTo>
                  <a:pt x="0" y="0"/>
                </a:moveTo>
                <a:lnTo>
                  <a:pt x="8610128" y="0"/>
                </a:lnTo>
                <a:lnTo>
                  <a:pt x="8610128" y="1196448"/>
                </a:lnTo>
                <a:lnTo>
                  <a:pt x="0" y="119644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68434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0" name="Freeform 10"/>
          <p:cNvSpPr/>
          <p:nvPr/>
        </p:nvSpPr>
        <p:spPr>
          <a:xfrm flipH="1">
            <a:off x="16856651" y="5563007"/>
            <a:ext cx="546483" cy="1633508"/>
          </a:xfrm>
          <a:custGeom>
            <a:avLst/>
            <a:gdLst/>
            <a:ahLst/>
            <a:cxnLst/>
            <a:rect l="l" t="t" r="r" b="b"/>
            <a:pathLst>
              <a:path w="546483" h="1633508">
                <a:moveTo>
                  <a:pt x="546483" y="0"/>
                </a:moveTo>
                <a:lnTo>
                  <a:pt x="0" y="0"/>
                </a:lnTo>
                <a:lnTo>
                  <a:pt x="0" y="1633507"/>
                </a:lnTo>
                <a:lnTo>
                  <a:pt x="546483" y="1633507"/>
                </a:lnTo>
                <a:lnTo>
                  <a:pt x="546483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1" name="Freeform 11"/>
          <p:cNvSpPr/>
          <p:nvPr/>
        </p:nvSpPr>
        <p:spPr>
          <a:xfrm>
            <a:off x="9879104" y="7859423"/>
            <a:ext cx="7050644" cy="1170191"/>
          </a:xfrm>
          <a:custGeom>
            <a:avLst/>
            <a:gdLst/>
            <a:ahLst/>
            <a:cxnLst/>
            <a:rect l="l" t="t" r="r" b="b"/>
            <a:pathLst>
              <a:path w="7050644" h="1170191">
                <a:moveTo>
                  <a:pt x="0" y="0"/>
                </a:moveTo>
                <a:lnTo>
                  <a:pt x="7050643" y="0"/>
                </a:lnTo>
                <a:lnTo>
                  <a:pt x="7050643" y="1170190"/>
                </a:lnTo>
                <a:lnTo>
                  <a:pt x="0" y="117019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2" name="Freeform 12"/>
          <p:cNvSpPr/>
          <p:nvPr/>
        </p:nvSpPr>
        <p:spPr>
          <a:xfrm>
            <a:off x="15335104" y="5064368"/>
            <a:ext cx="2892223" cy="904877"/>
          </a:xfrm>
          <a:custGeom>
            <a:avLst/>
            <a:gdLst/>
            <a:ahLst/>
            <a:cxnLst/>
            <a:rect l="l" t="t" r="r" b="b"/>
            <a:pathLst>
              <a:path w="2892223" h="904877">
                <a:moveTo>
                  <a:pt x="0" y="0"/>
                </a:moveTo>
                <a:lnTo>
                  <a:pt x="2892224" y="0"/>
                </a:lnTo>
                <a:lnTo>
                  <a:pt x="2892224" y="904877"/>
                </a:lnTo>
                <a:lnTo>
                  <a:pt x="0" y="90487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3956" t="-9958" r="-5770"/>
            </a:stretch>
          </a:blipFill>
          <a:ln w="19050" cap="rnd">
            <a:solidFill>
              <a:srgbClr val="FB7D71"/>
            </a:solidFill>
            <a:prstDash val="solid"/>
            <a:round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Box 13"/>
          <p:cNvSpPr txBox="1"/>
          <p:nvPr/>
        </p:nvSpPr>
        <p:spPr>
          <a:xfrm>
            <a:off x="1028700" y="1038225"/>
            <a:ext cx="9173529" cy="89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12"/>
              </a:lnSpc>
            </a:pPr>
            <a:r>
              <a:rPr lang="en-US" sz="5937" spc="-48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Aligning Topics to the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1797910"/>
            <a:ext cx="8295954" cy="89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12"/>
              </a:lnSpc>
            </a:pPr>
            <a:r>
              <a:rPr lang="en-US" sz="5937" b="1" spc="-48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HYPE TAXONOMY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744004" y="2812326"/>
            <a:ext cx="4506039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sz="2200" b="1">
                <a:solidFill>
                  <a:srgbClr val="6877F3"/>
                </a:solidFill>
                <a:latin typeface="Poppins Bold"/>
                <a:ea typeface="Poppins Bold"/>
                <a:cs typeface="Poppins Bold"/>
                <a:sym typeface="Poppins Bold"/>
              </a:rPr>
              <a:t>EVALUATION AND COMPARISON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597166" y="2812326"/>
            <a:ext cx="3350300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sz="2200" b="1">
                <a:solidFill>
                  <a:srgbClr val="6877F3"/>
                </a:solidFill>
                <a:latin typeface="Poppins Bold"/>
                <a:ea typeface="Poppins Bold"/>
                <a:cs typeface="Poppins Bold"/>
                <a:sym typeface="Poppins Bold"/>
              </a:rPr>
              <a:t>TAXONOMY ALIGNMENT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632167" y="7457451"/>
            <a:ext cx="2595161" cy="238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9"/>
              </a:lnSpc>
            </a:pPr>
            <a:r>
              <a:rPr lang="en-US" sz="137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Precision = ¼ (1+0+1+1)  =  0.75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6074063" y="8338414"/>
            <a:ext cx="6101210" cy="919886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algn="ctr">
              <a:lnSpc>
                <a:spcPts val="4320"/>
              </a:lnSpc>
            </a:pPr>
            <a:r>
              <a:rPr lang="en-US" sz="3600" b="1" dirty="0">
                <a:solidFill>
                  <a:srgbClr val="FB766A"/>
                </a:solidFill>
                <a:latin typeface="Poppins Bold"/>
                <a:ea typeface="Poppins Bold"/>
                <a:cs typeface="Poppins Bold"/>
                <a:sym typeface="Poppins Bold"/>
              </a:rPr>
              <a:t>Topic Diversity Score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666628" y="2553701"/>
            <a:ext cx="5592672" cy="1048766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40CDFF"/>
                </a:solidFill>
                <a:latin typeface="Poppins Bold"/>
                <a:ea typeface="Poppins Bold"/>
                <a:cs typeface="Poppins Bold"/>
                <a:sym typeface="Poppins Bold"/>
              </a:rPr>
              <a:t>Topic Coherence Score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9175" y="2761392"/>
            <a:ext cx="3833251" cy="1017156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algn="r">
              <a:lnSpc>
                <a:spcPts val="4320"/>
              </a:lnSpc>
            </a:pPr>
            <a:r>
              <a:rPr lang="en-US" sz="3600" b="1">
                <a:solidFill>
                  <a:srgbClr val="153CFF"/>
                </a:solidFill>
                <a:latin typeface="Poppins Bold"/>
                <a:ea typeface="Poppins Bold"/>
                <a:cs typeface="Poppins Bold"/>
                <a:sym typeface="Poppins Bold"/>
              </a:rPr>
              <a:t>Silhouette Score</a:t>
            </a:r>
          </a:p>
        </p:txBody>
      </p:sp>
      <p:sp>
        <p:nvSpPr>
          <p:cNvPr id="11" name="Freeform 11"/>
          <p:cNvSpPr/>
          <p:nvPr/>
        </p:nvSpPr>
        <p:spPr>
          <a:xfrm>
            <a:off x="15335104" y="9055871"/>
            <a:ext cx="1254072" cy="1006393"/>
          </a:xfrm>
          <a:custGeom>
            <a:avLst/>
            <a:gdLst/>
            <a:ahLst/>
            <a:cxnLst/>
            <a:rect l="l" t="t" r="r" b="b"/>
            <a:pathLst>
              <a:path w="1254072" h="1006393">
                <a:moveTo>
                  <a:pt x="0" y="0"/>
                </a:moveTo>
                <a:lnTo>
                  <a:pt x="1254073" y="0"/>
                </a:lnTo>
                <a:lnTo>
                  <a:pt x="1254073" y="1006393"/>
                </a:lnTo>
                <a:lnTo>
                  <a:pt x="0" y="10063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2" name="Freeform 12"/>
          <p:cNvSpPr/>
          <p:nvPr/>
        </p:nvSpPr>
        <p:spPr>
          <a:xfrm>
            <a:off x="16636802" y="9247819"/>
            <a:ext cx="1244996" cy="622498"/>
          </a:xfrm>
          <a:custGeom>
            <a:avLst/>
            <a:gdLst/>
            <a:ahLst/>
            <a:cxnLst/>
            <a:rect l="l" t="t" r="r" b="b"/>
            <a:pathLst>
              <a:path w="1244996" h="622498">
                <a:moveTo>
                  <a:pt x="0" y="0"/>
                </a:moveTo>
                <a:lnTo>
                  <a:pt x="1244996" y="0"/>
                </a:lnTo>
                <a:lnTo>
                  <a:pt x="1244996" y="622498"/>
                </a:lnTo>
                <a:lnTo>
                  <a:pt x="0" y="6224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3" name="Freeform 13"/>
          <p:cNvSpPr/>
          <p:nvPr/>
        </p:nvSpPr>
        <p:spPr>
          <a:xfrm>
            <a:off x="10925019" y="3526267"/>
            <a:ext cx="5257215" cy="1210239"/>
          </a:xfrm>
          <a:custGeom>
            <a:avLst/>
            <a:gdLst/>
            <a:ahLst/>
            <a:cxnLst/>
            <a:rect l="l" t="t" r="r" b="b"/>
            <a:pathLst>
              <a:path w="5257215" h="1210239">
                <a:moveTo>
                  <a:pt x="0" y="0"/>
                </a:moveTo>
                <a:lnTo>
                  <a:pt x="5257215" y="0"/>
                </a:lnTo>
                <a:lnTo>
                  <a:pt x="5257215" y="1210239"/>
                </a:lnTo>
                <a:lnTo>
                  <a:pt x="0" y="12102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40CDFF"/>
            </a:solidFill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14" name="Freeform 14"/>
          <p:cNvSpPr/>
          <p:nvPr/>
        </p:nvSpPr>
        <p:spPr>
          <a:xfrm>
            <a:off x="7210844" y="6255875"/>
            <a:ext cx="3882950" cy="1085436"/>
          </a:xfrm>
          <a:custGeom>
            <a:avLst/>
            <a:gdLst/>
            <a:ahLst/>
            <a:cxnLst/>
            <a:rect l="l" t="t" r="r" b="b"/>
            <a:pathLst>
              <a:path w="3882950" h="1085436">
                <a:moveTo>
                  <a:pt x="0" y="0"/>
                </a:moveTo>
                <a:lnTo>
                  <a:pt x="3882951" y="0"/>
                </a:lnTo>
                <a:lnTo>
                  <a:pt x="3882951" y="1085436"/>
                </a:lnTo>
                <a:lnTo>
                  <a:pt x="0" y="10854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w="19050" cap="sq">
            <a:solidFill>
              <a:srgbClr val="FB766A"/>
            </a:solidFill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15" name="Freeform 15"/>
          <p:cNvSpPr/>
          <p:nvPr/>
        </p:nvSpPr>
        <p:spPr>
          <a:xfrm>
            <a:off x="3540595" y="3657796"/>
            <a:ext cx="3654404" cy="1199249"/>
          </a:xfrm>
          <a:custGeom>
            <a:avLst/>
            <a:gdLst/>
            <a:ahLst/>
            <a:cxnLst/>
            <a:rect l="l" t="t" r="r" b="b"/>
            <a:pathLst>
              <a:path w="3654404" h="1199249">
                <a:moveTo>
                  <a:pt x="0" y="0"/>
                </a:moveTo>
                <a:lnTo>
                  <a:pt x="3654404" y="0"/>
                </a:lnTo>
                <a:lnTo>
                  <a:pt x="3654404" y="1199248"/>
                </a:lnTo>
                <a:lnTo>
                  <a:pt x="0" y="11992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w="19050" cap="sq">
            <a:solidFill>
              <a:srgbClr val="153CFF"/>
            </a:solidFill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16" name="Freeform 16"/>
          <p:cNvSpPr/>
          <p:nvPr/>
        </p:nvSpPr>
        <p:spPr>
          <a:xfrm>
            <a:off x="6806510" y="2323146"/>
            <a:ext cx="4655931" cy="4283324"/>
          </a:xfrm>
          <a:custGeom>
            <a:avLst/>
            <a:gdLst/>
            <a:ahLst/>
            <a:cxnLst/>
            <a:rect l="l" t="t" r="r" b="b"/>
            <a:pathLst>
              <a:path w="4655931" h="4283324">
                <a:moveTo>
                  <a:pt x="0" y="0"/>
                </a:moveTo>
                <a:lnTo>
                  <a:pt x="4655930" y="0"/>
                </a:lnTo>
                <a:lnTo>
                  <a:pt x="4655930" y="4283324"/>
                </a:lnTo>
                <a:lnTo>
                  <a:pt x="0" y="42833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7" name="Freeform 17"/>
          <p:cNvSpPr/>
          <p:nvPr/>
        </p:nvSpPr>
        <p:spPr>
          <a:xfrm>
            <a:off x="7194999" y="2735429"/>
            <a:ext cx="990626" cy="952802"/>
          </a:xfrm>
          <a:custGeom>
            <a:avLst/>
            <a:gdLst/>
            <a:ahLst/>
            <a:cxnLst/>
            <a:rect l="l" t="t" r="r" b="b"/>
            <a:pathLst>
              <a:path w="990626" h="952802">
                <a:moveTo>
                  <a:pt x="0" y="0"/>
                </a:moveTo>
                <a:lnTo>
                  <a:pt x="990626" y="0"/>
                </a:lnTo>
                <a:lnTo>
                  <a:pt x="990626" y="952802"/>
                </a:lnTo>
                <a:lnTo>
                  <a:pt x="0" y="95280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8" name="Freeform 18"/>
          <p:cNvSpPr/>
          <p:nvPr/>
        </p:nvSpPr>
        <p:spPr>
          <a:xfrm>
            <a:off x="9957013" y="2641766"/>
            <a:ext cx="1136782" cy="1136782"/>
          </a:xfrm>
          <a:custGeom>
            <a:avLst/>
            <a:gdLst/>
            <a:ahLst/>
            <a:cxnLst/>
            <a:rect l="l" t="t" r="r" b="b"/>
            <a:pathLst>
              <a:path w="1136782" h="1136782">
                <a:moveTo>
                  <a:pt x="0" y="0"/>
                </a:moveTo>
                <a:lnTo>
                  <a:pt x="1136782" y="0"/>
                </a:lnTo>
                <a:lnTo>
                  <a:pt x="1136782" y="1136782"/>
                </a:lnTo>
                <a:lnTo>
                  <a:pt x="0" y="113678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9" name="Freeform 19"/>
          <p:cNvSpPr/>
          <p:nvPr/>
        </p:nvSpPr>
        <p:spPr>
          <a:xfrm>
            <a:off x="8666691" y="5200516"/>
            <a:ext cx="935567" cy="843712"/>
          </a:xfrm>
          <a:custGeom>
            <a:avLst/>
            <a:gdLst/>
            <a:ahLst/>
            <a:cxnLst/>
            <a:rect l="l" t="t" r="r" b="b"/>
            <a:pathLst>
              <a:path w="935567" h="843712">
                <a:moveTo>
                  <a:pt x="0" y="0"/>
                </a:moveTo>
                <a:lnTo>
                  <a:pt x="935568" y="0"/>
                </a:lnTo>
                <a:lnTo>
                  <a:pt x="935568" y="843712"/>
                </a:lnTo>
                <a:lnTo>
                  <a:pt x="0" y="84371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0" name="TextBox 20"/>
          <p:cNvSpPr txBox="1"/>
          <p:nvPr/>
        </p:nvSpPr>
        <p:spPr>
          <a:xfrm>
            <a:off x="1028700" y="1038225"/>
            <a:ext cx="6118511" cy="89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12"/>
              </a:lnSpc>
            </a:pPr>
            <a:r>
              <a:rPr lang="en-US" sz="5937" spc="-48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General Evaluation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1761331"/>
            <a:ext cx="10109775" cy="89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12"/>
              </a:lnSpc>
            </a:pPr>
            <a:r>
              <a:rPr lang="en-US" sz="5937" b="1" spc="-48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METRICS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16851" y="7350836"/>
            <a:ext cx="7670936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Measures how different topics are from each other by </a:t>
            </a:r>
          </a:p>
          <a:p>
            <a:pPr algn="ctr">
              <a:lnSpc>
                <a:spcPts val="2399"/>
              </a:lnSpc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computing the ratio between the </a:t>
            </a:r>
            <a:r>
              <a:rPr lang="en-US" sz="19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number of unique words</a:t>
            </a: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W and the total number of representative</a:t>
            </a:r>
            <a:r>
              <a:rPr lang="en-US" sz="19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words across</a:t>
            </a:r>
          </a:p>
          <a:p>
            <a:pPr algn="ctr">
              <a:lnSpc>
                <a:spcPts val="2399"/>
              </a:lnSpc>
            </a:pPr>
            <a:r>
              <a:rPr lang="en-US" sz="19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all topics</a:t>
            </a: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T, considering the top K=10 words per topic.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735300" y="4837994"/>
            <a:ext cx="5483660" cy="1790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99"/>
              </a:lnSpc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Measures the semantic consistency of topics by computing, for each topic t, the average </a:t>
            </a:r>
            <a:r>
              <a:rPr lang="en-US" sz="19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cosine similarity between the embeddings</a:t>
            </a: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ewi and ewj​​ of all pairs of its top representative words.</a:t>
            </a:r>
          </a:p>
          <a:p>
            <a:pPr algn="r">
              <a:lnSpc>
                <a:spcPts val="2399"/>
              </a:lnSpc>
            </a:pPr>
            <a:endParaRPr lang="en-US" sz="19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019175" y="5029066"/>
            <a:ext cx="5580576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Measures how well documents are clustered by comparing the average</a:t>
            </a:r>
            <a:r>
              <a:rPr lang="en-US" sz="19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intra-cluster distance</a:t>
            </a: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99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a </a:t>
            </a: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of each document with the average </a:t>
            </a:r>
            <a:r>
              <a:rPr lang="en-US" sz="19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inter-cluster distance</a:t>
            </a: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999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b</a:t>
            </a: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038103" y="543116"/>
            <a:ext cx="5713022" cy="1460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458"/>
              </a:lnSpc>
            </a:pPr>
            <a:r>
              <a:rPr lang="en-US" sz="5570" b="1">
                <a:solidFill>
                  <a:srgbClr val="FB766A"/>
                </a:solidFill>
                <a:latin typeface="Poppins Bold"/>
                <a:ea typeface="Poppins Bold"/>
                <a:cs typeface="Poppins Bold"/>
                <a:sym typeface="Poppins Bold"/>
              </a:rPr>
              <a:t>EXPERIMENT &amp; RESULT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6967" y="2979694"/>
            <a:ext cx="1895317" cy="1967080"/>
          </a:xfrm>
          <a:custGeom>
            <a:avLst/>
            <a:gdLst/>
            <a:ahLst/>
            <a:cxnLst/>
            <a:rect l="l" t="t" r="r" b="b"/>
            <a:pathLst>
              <a:path w="1895317" h="1967080">
                <a:moveTo>
                  <a:pt x="0" y="0"/>
                </a:moveTo>
                <a:lnTo>
                  <a:pt x="1895317" y="0"/>
                </a:lnTo>
                <a:lnTo>
                  <a:pt x="1895317" y="1967080"/>
                </a:lnTo>
                <a:lnTo>
                  <a:pt x="0" y="19670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059" t="-15171" r="-51174" b="-9692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2189121" y="3800897"/>
            <a:ext cx="3040383" cy="1532734"/>
          </a:xfrm>
          <a:custGeom>
            <a:avLst/>
            <a:gdLst/>
            <a:ahLst/>
            <a:cxnLst/>
            <a:rect l="l" t="t" r="r" b="b"/>
            <a:pathLst>
              <a:path w="3040383" h="1532734">
                <a:moveTo>
                  <a:pt x="0" y="0"/>
                </a:moveTo>
                <a:lnTo>
                  <a:pt x="3040382" y="0"/>
                </a:lnTo>
                <a:lnTo>
                  <a:pt x="3040382" y="1532734"/>
                </a:lnTo>
                <a:lnTo>
                  <a:pt x="0" y="1532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96071" t="-296307" b="-235168"/>
            </a:stretch>
          </a:blipFill>
          <a:ln w="38100" cap="rnd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10075248" y="5083355"/>
            <a:ext cx="2318346" cy="500553"/>
          </a:xfrm>
          <a:custGeom>
            <a:avLst/>
            <a:gdLst/>
            <a:ahLst/>
            <a:cxnLst/>
            <a:rect l="l" t="t" r="r" b="b"/>
            <a:pathLst>
              <a:path w="2318346" h="500553">
                <a:moveTo>
                  <a:pt x="0" y="0"/>
                </a:moveTo>
                <a:lnTo>
                  <a:pt x="2318346" y="0"/>
                </a:lnTo>
                <a:lnTo>
                  <a:pt x="2318346" y="500552"/>
                </a:lnTo>
                <a:lnTo>
                  <a:pt x="0" y="5005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69886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13234345" y="5083355"/>
            <a:ext cx="3280853" cy="500553"/>
          </a:xfrm>
          <a:custGeom>
            <a:avLst/>
            <a:gdLst/>
            <a:ahLst/>
            <a:cxnLst/>
            <a:rect l="l" t="t" r="r" b="b"/>
            <a:pathLst>
              <a:path w="3280853" h="500553">
                <a:moveTo>
                  <a:pt x="0" y="0"/>
                </a:moveTo>
                <a:lnTo>
                  <a:pt x="3280854" y="0"/>
                </a:lnTo>
                <a:lnTo>
                  <a:pt x="3280854" y="500552"/>
                </a:lnTo>
                <a:lnTo>
                  <a:pt x="0" y="5005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0709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 rot="114203">
            <a:off x="12694595" y="5107575"/>
            <a:ext cx="238075" cy="348780"/>
          </a:xfrm>
          <a:custGeom>
            <a:avLst/>
            <a:gdLst/>
            <a:ahLst/>
            <a:cxnLst/>
            <a:rect l="l" t="t" r="r" b="b"/>
            <a:pathLst>
              <a:path w="238075" h="348780">
                <a:moveTo>
                  <a:pt x="0" y="0"/>
                </a:moveTo>
                <a:lnTo>
                  <a:pt x="238075" y="0"/>
                </a:lnTo>
                <a:lnTo>
                  <a:pt x="238075" y="348780"/>
                </a:lnTo>
                <a:lnTo>
                  <a:pt x="0" y="3487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15335104" y="9055871"/>
            <a:ext cx="1254072" cy="1006393"/>
          </a:xfrm>
          <a:custGeom>
            <a:avLst/>
            <a:gdLst/>
            <a:ahLst/>
            <a:cxnLst/>
            <a:rect l="l" t="t" r="r" b="b"/>
            <a:pathLst>
              <a:path w="1254072" h="1006393">
                <a:moveTo>
                  <a:pt x="0" y="0"/>
                </a:moveTo>
                <a:lnTo>
                  <a:pt x="1254073" y="0"/>
                </a:lnTo>
                <a:lnTo>
                  <a:pt x="1254073" y="1006393"/>
                </a:lnTo>
                <a:lnTo>
                  <a:pt x="0" y="10063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8" name="Freeform 8"/>
          <p:cNvSpPr/>
          <p:nvPr/>
        </p:nvSpPr>
        <p:spPr>
          <a:xfrm>
            <a:off x="16636802" y="9247819"/>
            <a:ext cx="1244996" cy="622498"/>
          </a:xfrm>
          <a:custGeom>
            <a:avLst/>
            <a:gdLst/>
            <a:ahLst/>
            <a:cxnLst/>
            <a:rect l="l" t="t" r="r" b="b"/>
            <a:pathLst>
              <a:path w="1244996" h="622498">
                <a:moveTo>
                  <a:pt x="0" y="0"/>
                </a:moveTo>
                <a:lnTo>
                  <a:pt x="1244996" y="0"/>
                </a:lnTo>
                <a:lnTo>
                  <a:pt x="1244996" y="622498"/>
                </a:lnTo>
                <a:lnTo>
                  <a:pt x="0" y="6224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9" name="Freeform 9"/>
          <p:cNvSpPr/>
          <p:nvPr/>
        </p:nvSpPr>
        <p:spPr>
          <a:xfrm>
            <a:off x="16636802" y="-585185"/>
            <a:ext cx="2187184" cy="2201864"/>
          </a:xfrm>
          <a:custGeom>
            <a:avLst/>
            <a:gdLst/>
            <a:ahLst/>
            <a:cxnLst/>
            <a:rect l="l" t="t" r="r" b="b"/>
            <a:pathLst>
              <a:path w="2187184" h="2201864">
                <a:moveTo>
                  <a:pt x="0" y="0"/>
                </a:moveTo>
                <a:lnTo>
                  <a:pt x="2187184" y="0"/>
                </a:lnTo>
                <a:lnTo>
                  <a:pt x="2187184" y="2201864"/>
                </a:lnTo>
                <a:lnTo>
                  <a:pt x="0" y="220186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0" name="Freeform 10"/>
          <p:cNvSpPr/>
          <p:nvPr/>
        </p:nvSpPr>
        <p:spPr>
          <a:xfrm>
            <a:off x="9300627" y="4342889"/>
            <a:ext cx="774621" cy="608429"/>
          </a:xfrm>
          <a:custGeom>
            <a:avLst/>
            <a:gdLst/>
            <a:ahLst/>
            <a:cxnLst/>
            <a:rect l="l" t="t" r="r" b="b"/>
            <a:pathLst>
              <a:path w="774621" h="608429">
                <a:moveTo>
                  <a:pt x="0" y="0"/>
                </a:moveTo>
                <a:lnTo>
                  <a:pt x="774621" y="0"/>
                </a:lnTo>
                <a:lnTo>
                  <a:pt x="774621" y="608429"/>
                </a:lnTo>
                <a:lnTo>
                  <a:pt x="0" y="60842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1" name="Freeform 11"/>
          <p:cNvSpPr/>
          <p:nvPr/>
        </p:nvSpPr>
        <p:spPr>
          <a:xfrm rot="10348740" flipV="1">
            <a:off x="712984" y="7355677"/>
            <a:ext cx="1929860" cy="547378"/>
          </a:xfrm>
          <a:custGeom>
            <a:avLst/>
            <a:gdLst/>
            <a:ahLst/>
            <a:cxnLst/>
            <a:rect l="l" t="t" r="r" b="b"/>
            <a:pathLst>
              <a:path w="1929860" h="547378">
                <a:moveTo>
                  <a:pt x="0" y="547378"/>
                </a:moveTo>
                <a:lnTo>
                  <a:pt x="1929860" y="547378"/>
                </a:lnTo>
                <a:lnTo>
                  <a:pt x="1929860" y="0"/>
                </a:lnTo>
                <a:lnTo>
                  <a:pt x="0" y="0"/>
                </a:lnTo>
                <a:lnTo>
                  <a:pt x="0" y="547378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aphicFrame>
        <p:nvGraphicFramePr>
          <p:cNvPr id="12" name="Object 12"/>
          <p:cNvGraphicFramePr/>
          <p:nvPr/>
        </p:nvGraphicFramePr>
        <p:xfrm>
          <a:off x="1590359" y="6094152"/>
          <a:ext cx="7586157" cy="427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5" imgW="9105900" imgH="5791200" progId="Excel.Sheet.12">
                  <p:embed/>
                </p:oleObj>
              </mc:Choice>
              <mc:Fallback>
                <p:oleObj name="Worksheet" r:id="rId15" imgW="9105900" imgH="5791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90359" y="6094152"/>
                        <a:ext cx="7586157" cy="4274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3"/>
          <p:cNvSpPr txBox="1"/>
          <p:nvPr/>
        </p:nvSpPr>
        <p:spPr>
          <a:xfrm>
            <a:off x="6424190" y="3368256"/>
            <a:ext cx="10695288" cy="614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75"/>
              </a:lnSpc>
              <a:spcBef>
                <a:spcPct val="0"/>
              </a:spcBef>
            </a:pPr>
            <a:r>
              <a:rPr lang="en-US" sz="2199" spc="-18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Some reviews are written in languages </a:t>
            </a:r>
            <a:r>
              <a:rPr lang="en-US" sz="2199" b="1" spc="-18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other than Italian</a:t>
            </a:r>
            <a:r>
              <a:rPr lang="en-US" sz="2199" spc="-18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To ensure consistent analysis, all non-Italian reviews are automatically</a:t>
            </a:r>
            <a:r>
              <a:rPr lang="en-US" sz="2199" b="1" spc="-18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translated into Italian</a:t>
            </a:r>
            <a:r>
              <a:rPr lang="en-US" sz="2199" spc="-18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using NLLB.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75248" y="4342889"/>
            <a:ext cx="6908926" cy="60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3999" b="1" spc="-32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NLLB -</a:t>
            </a:r>
            <a:r>
              <a:rPr lang="en-US" sz="3999" spc="-3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No Language Left Behind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119479" y="158916"/>
            <a:ext cx="1678079" cy="732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49"/>
              </a:lnSpc>
            </a:pPr>
            <a:r>
              <a:rPr lang="en-US" sz="4953" b="1" spc="-406">
                <a:solidFill>
                  <a:srgbClr val="EBEBEC"/>
                </a:solidFill>
                <a:latin typeface="Poppins Bold"/>
                <a:ea typeface="Poppins Bold"/>
                <a:cs typeface="Poppins Bold"/>
                <a:sym typeface="Poppins Bold"/>
              </a:rPr>
              <a:t>RQ1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1038225"/>
            <a:ext cx="7102605" cy="89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12"/>
              </a:lnSpc>
            </a:pPr>
            <a:r>
              <a:rPr lang="en-US" sz="5937" spc="-48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Handling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174024" y="1038225"/>
            <a:ext cx="8295954" cy="89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12"/>
              </a:lnSpc>
            </a:pPr>
            <a:r>
              <a:rPr lang="en-US" sz="5937" b="1" spc="-48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MULTILINGUAL REVIEWS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1809038"/>
            <a:ext cx="7293301" cy="89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12"/>
              </a:lnSpc>
            </a:pPr>
            <a:r>
              <a:rPr lang="en-US" sz="5937" spc="-48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Method and Results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056080" y="6304595"/>
            <a:ext cx="2672838" cy="127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Machine translation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does not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degrade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topic semantic quality!</a:t>
            </a:r>
          </a:p>
        </p:txBody>
      </p:sp>
      <p:grpSp>
        <p:nvGrpSpPr>
          <p:cNvPr id="20" name="Group 20"/>
          <p:cNvGrpSpPr/>
          <p:nvPr/>
        </p:nvGrpSpPr>
        <p:grpSpPr>
          <a:xfrm rot="5400000">
            <a:off x="14534355" y="5360621"/>
            <a:ext cx="1716288" cy="3183349"/>
            <a:chOff x="0" y="0"/>
            <a:chExt cx="500944" cy="92927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00944" cy="929274"/>
            </a:xfrm>
            <a:custGeom>
              <a:avLst/>
              <a:gdLst/>
              <a:ahLst/>
              <a:cxnLst/>
              <a:rect l="l" t="t" r="r" b="b"/>
              <a:pathLst>
                <a:path w="500944" h="929274">
                  <a:moveTo>
                    <a:pt x="500944" y="0"/>
                  </a:moveTo>
                  <a:lnTo>
                    <a:pt x="500944" y="929274"/>
                  </a:lnTo>
                  <a:lnTo>
                    <a:pt x="0" y="9292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153CFF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500944" cy="986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677914" y="8007950"/>
            <a:ext cx="9292731" cy="135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2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Precision </a:t>
            </a: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is computed by comparing the inferred taxonomy labels with the reference labels for each review. It measures the proportion of predicted labels that correctly match the reference label set.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335104" y="9055871"/>
            <a:ext cx="1254072" cy="1006393"/>
          </a:xfrm>
          <a:custGeom>
            <a:avLst/>
            <a:gdLst/>
            <a:ahLst/>
            <a:cxnLst/>
            <a:rect l="l" t="t" r="r" b="b"/>
            <a:pathLst>
              <a:path w="1254072" h="1006393">
                <a:moveTo>
                  <a:pt x="0" y="0"/>
                </a:moveTo>
                <a:lnTo>
                  <a:pt x="1254073" y="0"/>
                </a:lnTo>
                <a:lnTo>
                  <a:pt x="1254073" y="1006393"/>
                </a:lnTo>
                <a:lnTo>
                  <a:pt x="0" y="10063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6636802" y="9247819"/>
            <a:ext cx="1244996" cy="622498"/>
          </a:xfrm>
          <a:custGeom>
            <a:avLst/>
            <a:gdLst/>
            <a:ahLst/>
            <a:cxnLst/>
            <a:rect l="l" t="t" r="r" b="b"/>
            <a:pathLst>
              <a:path w="1244996" h="622498">
                <a:moveTo>
                  <a:pt x="0" y="0"/>
                </a:moveTo>
                <a:lnTo>
                  <a:pt x="1244996" y="0"/>
                </a:lnTo>
                <a:lnTo>
                  <a:pt x="1244996" y="622498"/>
                </a:lnTo>
                <a:lnTo>
                  <a:pt x="0" y="6224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16610373" y="-585185"/>
            <a:ext cx="2187184" cy="2201864"/>
          </a:xfrm>
          <a:custGeom>
            <a:avLst/>
            <a:gdLst/>
            <a:ahLst/>
            <a:cxnLst/>
            <a:rect l="l" t="t" r="r" b="b"/>
            <a:pathLst>
              <a:path w="2187184" h="2201864">
                <a:moveTo>
                  <a:pt x="0" y="0"/>
                </a:moveTo>
                <a:lnTo>
                  <a:pt x="2187184" y="0"/>
                </a:lnTo>
                <a:lnTo>
                  <a:pt x="2187184" y="2201864"/>
                </a:lnTo>
                <a:lnTo>
                  <a:pt x="0" y="22018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TextBox 5"/>
          <p:cNvSpPr txBox="1"/>
          <p:nvPr/>
        </p:nvSpPr>
        <p:spPr>
          <a:xfrm>
            <a:off x="1561029" y="3800475"/>
            <a:ext cx="1687473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Raw Banking 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Reviews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09632" y="7714187"/>
            <a:ext cx="3579019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2000" spc="-16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Load Italian Stopwords from NLTK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018734" y="5166998"/>
            <a:ext cx="2406967" cy="563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2000" spc="-16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Language Detection &amp;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2000" spc="-16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Translation (Italian)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86638" y="5166998"/>
            <a:ext cx="1799511" cy="563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2000" spc="-16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High-Frequency 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2000" spc="-16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Domain Terms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186856" y="3992466"/>
            <a:ext cx="2151698" cy="563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2000" spc="-16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TF-IDF Stopword List 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2000" spc="-16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(Top 200)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292526" y="3912235"/>
            <a:ext cx="1392079" cy="563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2000" spc="-16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TF-IDF 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2000" spc="-16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Vectorization</a:t>
            </a:r>
          </a:p>
        </p:txBody>
      </p:sp>
      <p:grpSp>
        <p:nvGrpSpPr>
          <p:cNvPr id="11" name="Group 11"/>
          <p:cNvGrpSpPr/>
          <p:nvPr/>
        </p:nvGrpSpPr>
        <p:grpSpPr>
          <a:xfrm rot="5400000">
            <a:off x="1906929" y="3114980"/>
            <a:ext cx="1023572" cy="2088101"/>
            <a:chOff x="0" y="0"/>
            <a:chExt cx="298757" cy="60955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98757" cy="609552"/>
            </a:xfrm>
            <a:custGeom>
              <a:avLst/>
              <a:gdLst/>
              <a:ahLst/>
              <a:cxnLst/>
              <a:rect l="l" t="t" r="r" b="b"/>
              <a:pathLst>
                <a:path w="298757" h="609552">
                  <a:moveTo>
                    <a:pt x="298757" y="0"/>
                  </a:moveTo>
                  <a:lnTo>
                    <a:pt x="298757" y="609552"/>
                  </a:lnTo>
                  <a:lnTo>
                    <a:pt x="0" y="6095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FB766A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298757" cy="6667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3116051" y="3444974"/>
            <a:ext cx="541028" cy="550446"/>
          </a:xfrm>
          <a:custGeom>
            <a:avLst/>
            <a:gdLst/>
            <a:ahLst/>
            <a:cxnLst/>
            <a:rect l="l" t="t" r="r" b="b"/>
            <a:pathLst>
              <a:path w="541028" h="550446">
                <a:moveTo>
                  <a:pt x="0" y="0"/>
                </a:moveTo>
                <a:lnTo>
                  <a:pt x="541029" y="0"/>
                </a:lnTo>
                <a:lnTo>
                  <a:pt x="541029" y="550446"/>
                </a:lnTo>
                <a:lnTo>
                  <a:pt x="0" y="5504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0063" t="-9946" r="-10063" b="-8125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15" name="Group 15"/>
          <p:cNvGrpSpPr/>
          <p:nvPr/>
        </p:nvGrpSpPr>
        <p:grpSpPr>
          <a:xfrm rot="5400000">
            <a:off x="5476779" y="3114980"/>
            <a:ext cx="1023572" cy="2088101"/>
            <a:chOff x="0" y="0"/>
            <a:chExt cx="298757" cy="60955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98757" cy="609552"/>
            </a:xfrm>
            <a:custGeom>
              <a:avLst/>
              <a:gdLst/>
              <a:ahLst/>
              <a:cxnLst/>
              <a:rect l="l" t="t" r="r" b="b"/>
              <a:pathLst>
                <a:path w="298757" h="609552">
                  <a:moveTo>
                    <a:pt x="298757" y="0"/>
                  </a:moveTo>
                  <a:lnTo>
                    <a:pt x="298757" y="609552"/>
                  </a:lnTo>
                  <a:lnTo>
                    <a:pt x="0" y="6095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FB766A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298757" cy="6667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5400000">
            <a:off x="8715956" y="2959724"/>
            <a:ext cx="1023572" cy="2468902"/>
            <a:chOff x="0" y="0"/>
            <a:chExt cx="298757" cy="72071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98757" cy="720715"/>
            </a:xfrm>
            <a:custGeom>
              <a:avLst/>
              <a:gdLst/>
              <a:ahLst/>
              <a:cxnLst/>
              <a:rect l="l" t="t" r="r" b="b"/>
              <a:pathLst>
                <a:path w="298757" h="720715">
                  <a:moveTo>
                    <a:pt x="298757" y="0"/>
                  </a:moveTo>
                  <a:lnTo>
                    <a:pt x="298757" y="720715"/>
                  </a:lnTo>
                  <a:lnTo>
                    <a:pt x="0" y="7207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FB766A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298757" cy="7778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 rot="5400000">
            <a:off x="3687270" y="4054018"/>
            <a:ext cx="1023572" cy="2809620"/>
            <a:chOff x="0" y="0"/>
            <a:chExt cx="298757" cy="82017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98757" cy="820176"/>
            </a:xfrm>
            <a:custGeom>
              <a:avLst/>
              <a:gdLst/>
              <a:ahLst/>
              <a:cxnLst/>
              <a:rect l="l" t="t" r="r" b="b"/>
              <a:pathLst>
                <a:path w="298757" h="820176">
                  <a:moveTo>
                    <a:pt x="298757" y="0"/>
                  </a:moveTo>
                  <a:lnTo>
                    <a:pt x="298757" y="820176"/>
                  </a:lnTo>
                  <a:lnTo>
                    <a:pt x="0" y="820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FB766A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298757" cy="8773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 rot="5400000">
            <a:off x="7037520" y="4314566"/>
            <a:ext cx="1023572" cy="2288523"/>
            <a:chOff x="0" y="0"/>
            <a:chExt cx="298757" cy="66805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98757" cy="668059"/>
            </a:xfrm>
            <a:custGeom>
              <a:avLst/>
              <a:gdLst/>
              <a:ahLst/>
              <a:cxnLst/>
              <a:rect l="l" t="t" r="r" b="b"/>
              <a:pathLst>
                <a:path w="298757" h="668059">
                  <a:moveTo>
                    <a:pt x="298757" y="0"/>
                  </a:moveTo>
                  <a:lnTo>
                    <a:pt x="298757" y="668059"/>
                  </a:lnTo>
                  <a:lnTo>
                    <a:pt x="0" y="6680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FB766A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298757" cy="7252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 rot="5400000">
            <a:off x="3032927" y="5803625"/>
            <a:ext cx="1023572" cy="4118305"/>
            <a:chOff x="0" y="0"/>
            <a:chExt cx="298757" cy="120220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98757" cy="1202204"/>
            </a:xfrm>
            <a:custGeom>
              <a:avLst/>
              <a:gdLst/>
              <a:ahLst/>
              <a:cxnLst/>
              <a:rect l="l" t="t" r="r" b="b"/>
              <a:pathLst>
                <a:path w="298757" h="1202204">
                  <a:moveTo>
                    <a:pt x="298757" y="0"/>
                  </a:moveTo>
                  <a:lnTo>
                    <a:pt x="298757" y="1202204"/>
                  </a:lnTo>
                  <a:lnTo>
                    <a:pt x="0" y="12022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40CDFF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298757" cy="12593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sp>
        <p:nvSpPr>
          <p:cNvPr id="30" name="Freeform 30"/>
          <p:cNvSpPr/>
          <p:nvPr/>
        </p:nvSpPr>
        <p:spPr>
          <a:xfrm>
            <a:off x="8693568" y="4670816"/>
            <a:ext cx="734655" cy="816154"/>
          </a:xfrm>
          <a:custGeom>
            <a:avLst/>
            <a:gdLst/>
            <a:ahLst/>
            <a:cxnLst/>
            <a:rect l="l" t="t" r="r" b="b"/>
            <a:pathLst>
              <a:path w="734655" h="816154">
                <a:moveTo>
                  <a:pt x="0" y="0"/>
                </a:moveTo>
                <a:lnTo>
                  <a:pt x="734655" y="0"/>
                </a:lnTo>
                <a:lnTo>
                  <a:pt x="734655" y="816154"/>
                </a:lnTo>
                <a:lnTo>
                  <a:pt x="0" y="8161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50814" t="-21752" b="-2236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1" name="Freeform 31"/>
          <p:cNvSpPr/>
          <p:nvPr/>
        </p:nvSpPr>
        <p:spPr>
          <a:xfrm flipV="1">
            <a:off x="6971620" y="4148269"/>
            <a:ext cx="734655" cy="816154"/>
          </a:xfrm>
          <a:custGeom>
            <a:avLst/>
            <a:gdLst/>
            <a:ahLst/>
            <a:cxnLst/>
            <a:rect l="l" t="t" r="r" b="b"/>
            <a:pathLst>
              <a:path w="734655" h="816154">
                <a:moveTo>
                  <a:pt x="0" y="816153"/>
                </a:moveTo>
                <a:lnTo>
                  <a:pt x="734655" y="816153"/>
                </a:lnTo>
                <a:lnTo>
                  <a:pt x="734655" y="0"/>
                </a:lnTo>
                <a:lnTo>
                  <a:pt x="0" y="0"/>
                </a:lnTo>
                <a:lnTo>
                  <a:pt x="0" y="816153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50814" t="-21752" b="-2236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2" name="Freeform 32"/>
          <p:cNvSpPr/>
          <p:nvPr/>
        </p:nvSpPr>
        <p:spPr>
          <a:xfrm flipH="1" flipV="1">
            <a:off x="4272121" y="4194175"/>
            <a:ext cx="734655" cy="816154"/>
          </a:xfrm>
          <a:custGeom>
            <a:avLst/>
            <a:gdLst/>
            <a:ahLst/>
            <a:cxnLst/>
            <a:rect l="l" t="t" r="r" b="b"/>
            <a:pathLst>
              <a:path w="734655" h="816154">
                <a:moveTo>
                  <a:pt x="734655" y="816154"/>
                </a:moveTo>
                <a:lnTo>
                  <a:pt x="0" y="816154"/>
                </a:lnTo>
                <a:lnTo>
                  <a:pt x="0" y="0"/>
                </a:lnTo>
                <a:lnTo>
                  <a:pt x="734655" y="0"/>
                </a:lnTo>
                <a:lnTo>
                  <a:pt x="734655" y="81615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50814" t="-21752" b="-2236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3" name="Freeform 33"/>
          <p:cNvSpPr/>
          <p:nvPr/>
        </p:nvSpPr>
        <p:spPr>
          <a:xfrm flipH="1">
            <a:off x="2145431" y="4642674"/>
            <a:ext cx="734655" cy="816154"/>
          </a:xfrm>
          <a:custGeom>
            <a:avLst/>
            <a:gdLst/>
            <a:ahLst/>
            <a:cxnLst/>
            <a:rect l="l" t="t" r="r" b="b"/>
            <a:pathLst>
              <a:path w="734655" h="816154">
                <a:moveTo>
                  <a:pt x="734655" y="0"/>
                </a:moveTo>
                <a:lnTo>
                  <a:pt x="0" y="0"/>
                </a:lnTo>
                <a:lnTo>
                  <a:pt x="0" y="816153"/>
                </a:lnTo>
                <a:lnTo>
                  <a:pt x="734655" y="816153"/>
                </a:lnTo>
                <a:lnTo>
                  <a:pt x="734655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50814" t="-21752" b="-2236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4" name="Freeform 34"/>
          <p:cNvSpPr/>
          <p:nvPr/>
        </p:nvSpPr>
        <p:spPr>
          <a:xfrm rot="-8165557">
            <a:off x="8968424" y="4926958"/>
            <a:ext cx="457515" cy="303870"/>
          </a:xfrm>
          <a:custGeom>
            <a:avLst/>
            <a:gdLst/>
            <a:ahLst/>
            <a:cxnLst/>
            <a:rect l="l" t="t" r="r" b="b"/>
            <a:pathLst>
              <a:path w="457515" h="303870">
                <a:moveTo>
                  <a:pt x="0" y="0"/>
                </a:moveTo>
                <a:lnTo>
                  <a:pt x="457515" y="0"/>
                </a:lnTo>
                <a:lnTo>
                  <a:pt x="457515" y="303870"/>
                </a:lnTo>
                <a:lnTo>
                  <a:pt x="0" y="3038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99061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5" name="Freeform 35"/>
          <p:cNvSpPr/>
          <p:nvPr/>
        </p:nvSpPr>
        <p:spPr>
          <a:xfrm rot="-2552064">
            <a:off x="7206973" y="4369266"/>
            <a:ext cx="457515" cy="303870"/>
          </a:xfrm>
          <a:custGeom>
            <a:avLst/>
            <a:gdLst/>
            <a:ahLst/>
            <a:cxnLst/>
            <a:rect l="l" t="t" r="r" b="b"/>
            <a:pathLst>
              <a:path w="457515" h="303870">
                <a:moveTo>
                  <a:pt x="0" y="0"/>
                </a:moveTo>
                <a:lnTo>
                  <a:pt x="457515" y="0"/>
                </a:lnTo>
                <a:lnTo>
                  <a:pt x="457515" y="303869"/>
                </a:lnTo>
                <a:lnTo>
                  <a:pt x="0" y="30386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99061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6" name="Freeform 36"/>
          <p:cNvSpPr/>
          <p:nvPr/>
        </p:nvSpPr>
        <p:spPr>
          <a:xfrm rot="-8165557">
            <a:off x="4368738" y="4370767"/>
            <a:ext cx="457515" cy="303870"/>
          </a:xfrm>
          <a:custGeom>
            <a:avLst/>
            <a:gdLst/>
            <a:ahLst/>
            <a:cxnLst/>
            <a:rect l="l" t="t" r="r" b="b"/>
            <a:pathLst>
              <a:path w="457515" h="303870">
                <a:moveTo>
                  <a:pt x="0" y="0"/>
                </a:moveTo>
                <a:lnTo>
                  <a:pt x="457516" y="0"/>
                </a:lnTo>
                <a:lnTo>
                  <a:pt x="457516" y="303869"/>
                </a:lnTo>
                <a:lnTo>
                  <a:pt x="0" y="30386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99061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7" name="Freeform 37"/>
          <p:cNvSpPr/>
          <p:nvPr/>
        </p:nvSpPr>
        <p:spPr>
          <a:xfrm rot="-2856472">
            <a:off x="2189957" y="4930236"/>
            <a:ext cx="457515" cy="303870"/>
          </a:xfrm>
          <a:custGeom>
            <a:avLst/>
            <a:gdLst/>
            <a:ahLst/>
            <a:cxnLst/>
            <a:rect l="l" t="t" r="r" b="b"/>
            <a:pathLst>
              <a:path w="457515" h="303870">
                <a:moveTo>
                  <a:pt x="0" y="0"/>
                </a:moveTo>
                <a:lnTo>
                  <a:pt x="457516" y="0"/>
                </a:lnTo>
                <a:lnTo>
                  <a:pt x="457516" y="303869"/>
                </a:lnTo>
                <a:lnTo>
                  <a:pt x="0" y="30386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99061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8" name="Freeform 38"/>
          <p:cNvSpPr/>
          <p:nvPr/>
        </p:nvSpPr>
        <p:spPr>
          <a:xfrm>
            <a:off x="5287526" y="7142188"/>
            <a:ext cx="469595" cy="469595"/>
          </a:xfrm>
          <a:custGeom>
            <a:avLst/>
            <a:gdLst/>
            <a:ahLst/>
            <a:cxnLst/>
            <a:rect l="l" t="t" r="r" b="b"/>
            <a:pathLst>
              <a:path w="469595" h="469595">
                <a:moveTo>
                  <a:pt x="0" y="0"/>
                </a:moveTo>
                <a:lnTo>
                  <a:pt x="469595" y="0"/>
                </a:lnTo>
                <a:lnTo>
                  <a:pt x="469595" y="469595"/>
                </a:lnTo>
                <a:lnTo>
                  <a:pt x="0" y="46959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9" name="TextBox 39"/>
          <p:cNvSpPr txBox="1"/>
          <p:nvPr/>
        </p:nvSpPr>
        <p:spPr>
          <a:xfrm>
            <a:off x="1028700" y="1038225"/>
            <a:ext cx="9173529" cy="89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12"/>
              </a:lnSpc>
            </a:pPr>
            <a:r>
              <a:rPr lang="en-US" sz="5937" spc="-48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Comparative Evaluation of 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28700" y="1693135"/>
            <a:ext cx="8295954" cy="787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12"/>
              </a:lnSpc>
            </a:pPr>
            <a:r>
              <a:rPr lang="en-US" sz="4800" b="1" spc="-486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STOPWORD STRATEGIES: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6922076" y="158916"/>
            <a:ext cx="1678079" cy="732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49"/>
              </a:lnSpc>
            </a:pPr>
            <a:r>
              <a:rPr lang="en-US" sz="4953" b="1" spc="-406">
                <a:solidFill>
                  <a:srgbClr val="EBEBEC"/>
                </a:solidFill>
                <a:latin typeface="Poppins Bold"/>
                <a:ea typeface="Poppins Bold"/>
                <a:cs typeface="Poppins Bold"/>
                <a:sym typeface="Poppins Bold"/>
              </a:rPr>
              <a:t>RQ2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549306" y="1721367"/>
            <a:ext cx="6313884" cy="787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12"/>
              </a:lnSpc>
            </a:pPr>
            <a:r>
              <a:rPr lang="en-US" sz="4800" spc="-48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Method and Results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83298" y="8669839"/>
            <a:ext cx="3050501" cy="2834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2000" b="1" spc="-164" dirty="0">
                <a:solidFill>
                  <a:srgbClr val="40CDFF"/>
                </a:solidFill>
                <a:latin typeface="Poppins Bold"/>
                <a:ea typeface="Poppins Bold"/>
                <a:cs typeface="Poppins Bold"/>
                <a:sym typeface="Poppins Bold"/>
              </a:rPr>
              <a:t>GENERIC STOPWORD LIST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41580" y="3023969"/>
            <a:ext cx="4287620" cy="2834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2000" b="1" spc="-164" dirty="0">
                <a:solidFill>
                  <a:srgbClr val="FB766A"/>
                </a:solidFill>
                <a:latin typeface="Poppins Bold"/>
                <a:ea typeface="Poppins Bold"/>
                <a:cs typeface="Poppins Bold"/>
                <a:sym typeface="Poppins Bold"/>
              </a:rPr>
              <a:t>DOMAIN-SPECIFIC STOPWORD LIST</a:t>
            </a:r>
          </a:p>
        </p:txBody>
      </p:sp>
      <p:grpSp>
        <p:nvGrpSpPr>
          <p:cNvPr id="45" name="Group 45"/>
          <p:cNvGrpSpPr/>
          <p:nvPr/>
        </p:nvGrpSpPr>
        <p:grpSpPr>
          <a:xfrm rot="5400000">
            <a:off x="4459092" y="-354360"/>
            <a:ext cx="2824799" cy="10244248"/>
            <a:chOff x="0" y="0"/>
            <a:chExt cx="824493" cy="2990471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24493" cy="2990471"/>
            </a:xfrm>
            <a:custGeom>
              <a:avLst/>
              <a:gdLst/>
              <a:ahLst/>
              <a:cxnLst/>
              <a:rect l="l" t="t" r="r" b="b"/>
              <a:pathLst>
                <a:path w="824493" h="2990471">
                  <a:moveTo>
                    <a:pt x="824493" y="41110"/>
                  </a:moveTo>
                  <a:lnTo>
                    <a:pt x="824493" y="2949360"/>
                  </a:lnTo>
                  <a:cubicBezTo>
                    <a:pt x="824493" y="2960263"/>
                    <a:pt x="820162" y="2970720"/>
                    <a:pt x="812452" y="2978430"/>
                  </a:cubicBezTo>
                  <a:cubicBezTo>
                    <a:pt x="804742" y="2986139"/>
                    <a:pt x="794286" y="2990471"/>
                    <a:pt x="783382" y="2990471"/>
                  </a:cubicBezTo>
                  <a:lnTo>
                    <a:pt x="41110" y="2990471"/>
                  </a:lnTo>
                  <a:cubicBezTo>
                    <a:pt x="30207" y="2990471"/>
                    <a:pt x="19751" y="2986139"/>
                    <a:pt x="12041" y="2978430"/>
                  </a:cubicBezTo>
                  <a:cubicBezTo>
                    <a:pt x="4331" y="2970720"/>
                    <a:pt x="0" y="2960263"/>
                    <a:pt x="0" y="2949360"/>
                  </a:cubicBezTo>
                  <a:lnTo>
                    <a:pt x="0" y="41110"/>
                  </a:lnTo>
                  <a:cubicBezTo>
                    <a:pt x="0" y="30207"/>
                    <a:pt x="4331" y="19751"/>
                    <a:pt x="12041" y="12041"/>
                  </a:cubicBezTo>
                  <a:cubicBezTo>
                    <a:pt x="19751" y="4331"/>
                    <a:pt x="30207" y="0"/>
                    <a:pt x="41110" y="0"/>
                  </a:cubicBezTo>
                  <a:lnTo>
                    <a:pt x="783382" y="0"/>
                  </a:lnTo>
                  <a:cubicBezTo>
                    <a:pt x="806087" y="0"/>
                    <a:pt x="824493" y="18406"/>
                    <a:pt x="824493" y="4111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57150"/>
              <a:ext cx="824493" cy="3047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 rot="5400000">
            <a:off x="2886486" y="4843145"/>
            <a:ext cx="1661000" cy="5935237"/>
            <a:chOff x="0" y="0"/>
            <a:chExt cx="484807" cy="1732597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484807" cy="1732597"/>
            </a:xfrm>
            <a:custGeom>
              <a:avLst/>
              <a:gdLst/>
              <a:ahLst/>
              <a:cxnLst/>
              <a:rect l="l" t="t" r="r" b="b"/>
              <a:pathLst>
                <a:path w="484807" h="1732597">
                  <a:moveTo>
                    <a:pt x="484807" y="69915"/>
                  </a:moveTo>
                  <a:lnTo>
                    <a:pt x="484807" y="1662682"/>
                  </a:lnTo>
                  <a:cubicBezTo>
                    <a:pt x="484807" y="1701295"/>
                    <a:pt x="453505" y="1732597"/>
                    <a:pt x="414892" y="1732597"/>
                  </a:cubicBezTo>
                  <a:lnTo>
                    <a:pt x="69915" y="1732597"/>
                  </a:lnTo>
                  <a:cubicBezTo>
                    <a:pt x="31302" y="1732597"/>
                    <a:pt x="0" y="1701295"/>
                    <a:pt x="0" y="1662682"/>
                  </a:cubicBezTo>
                  <a:lnTo>
                    <a:pt x="0" y="69915"/>
                  </a:lnTo>
                  <a:cubicBezTo>
                    <a:pt x="0" y="31302"/>
                    <a:pt x="31302" y="0"/>
                    <a:pt x="69915" y="0"/>
                  </a:cubicBezTo>
                  <a:lnTo>
                    <a:pt x="414892" y="0"/>
                  </a:lnTo>
                  <a:cubicBezTo>
                    <a:pt x="453505" y="0"/>
                    <a:pt x="484807" y="31302"/>
                    <a:pt x="484807" y="69915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57150"/>
              <a:ext cx="484807" cy="1789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sp>
        <p:nvSpPr>
          <p:cNvPr id="51" name="AutoShape 51"/>
          <p:cNvSpPr/>
          <p:nvPr/>
        </p:nvSpPr>
        <p:spPr>
          <a:xfrm>
            <a:off x="6684586" y="7853252"/>
            <a:ext cx="48456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52" name="AutoShape 52"/>
          <p:cNvSpPr/>
          <p:nvPr/>
        </p:nvSpPr>
        <p:spPr>
          <a:xfrm flipV="1">
            <a:off x="10993651" y="4786814"/>
            <a:ext cx="536562" cy="9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53" name="AutoShape 53"/>
          <p:cNvSpPr/>
          <p:nvPr/>
        </p:nvSpPr>
        <p:spPr>
          <a:xfrm flipH="1" flipV="1">
            <a:off x="11530213" y="4767764"/>
            <a:ext cx="0" cy="309501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54" name="AutoShape 54"/>
          <p:cNvSpPr/>
          <p:nvPr/>
        </p:nvSpPr>
        <p:spPr>
          <a:xfrm>
            <a:off x="11530213" y="6479496"/>
            <a:ext cx="52823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it-IT"/>
          </a:p>
        </p:txBody>
      </p:sp>
      <p:grpSp>
        <p:nvGrpSpPr>
          <p:cNvPr id="55" name="Group 55"/>
          <p:cNvGrpSpPr/>
          <p:nvPr/>
        </p:nvGrpSpPr>
        <p:grpSpPr>
          <a:xfrm>
            <a:off x="12726398" y="3116185"/>
            <a:ext cx="920010" cy="920008"/>
            <a:chOff x="0" y="0"/>
            <a:chExt cx="1163598" cy="1163595"/>
          </a:xfrm>
        </p:grpSpPr>
        <p:sp>
          <p:nvSpPr>
            <p:cNvPr id="56" name="Freeform 56"/>
            <p:cNvSpPr/>
            <p:nvPr/>
          </p:nvSpPr>
          <p:spPr>
            <a:xfrm>
              <a:off x="9017" y="9017"/>
              <a:ext cx="1145540" cy="1145540"/>
            </a:xfrm>
            <a:custGeom>
              <a:avLst/>
              <a:gdLst/>
              <a:ahLst/>
              <a:cxnLst/>
              <a:rect l="l" t="t" r="r" b="b"/>
              <a:pathLst>
                <a:path w="1145540" h="1145540">
                  <a:moveTo>
                    <a:pt x="0" y="572770"/>
                  </a:moveTo>
                  <a:cubicBezTo>
                    <a:pt x="0" y="256413"/>
                    <a:pt x="256413" y="0"/>
                    <a:pt x="572770" y="0"/>
                  </a:cubicBezTo>
                  <a:cubicBezTo>
                    <a:pt x="889127" y="0"/>
                    <a:pt x="1145540" y="256413"/>
                    <a:pt x="1145540" y="572770"/>
                  </a:cubicBezTo>
                  <a:cubicBezTo>
                    <a:pt x="1145540" y="889127"/>
                    <a:pt x="889127" y="1145540"/>
                    <a:pt x="572770" y="1145540"/>
                  </a:cubicBezTo>
                  <a:cubicBezTo>
                    <a:pt x="256413" y="1145540"/>
                    <a:pt x="0" y="889127"/>
                    <a:pt x="0" y="572770"/>
                  </a:cubicBezTo>
                  <a:close/>
                </a:path>
              </a:pathLst>
            </a:custGeom>
            <a:solidFill>
              <a:srgbClr val="153C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2729409" y="4172868"/>
            <a:ext cx="916999" cy="916997"/>
            <a:chOff x="0" y="0"/>
            <a:chExt cx="1163598" cy="1163595"/>
          </a:xfrm>
        </p:grpSpPr>
        <p:sp>
          <p:nvSpPr>
            <p:cNvPr id="58" name="Freeform 58"/>
            <p:cNvSpPr/>
            <p:nvPr/>
          </p:nvSpPr>
          <p:spPr>
            <a:xfrm>
              <a:off x="9017" y="9017"/>
              <a:ext cx="1145540" cy="1145540"/>
            </a:xfrm>
            <a:custGeom>
              <a:avLst/>
              <a:gdLst/>
              <a:ahLst/>
              <a:cxnLst/>
              <a:rect l="l" t="t" r="r" b="b"/>
              <a:pathLst>
                <a:path w="1145540" h="1145540">
                  <a:moveTo>
                    <a:pt x="0" y="572770"/>
                  </a:moveTo>
                  <a:cubicBezTo>
                    <a:pt x="0" y="256413"/>
                    <a:pt x="256413" y="0"/>
                    <a:pt x="572770" y="0"/>
                  </a:cubicBezTo>
                  <a:cubicBezTo>
                    <a:pt x="889127" y="0"/>
                    <a:pt x="1145540" y="256413"/>
                    <a:pt x="1145540" y="572770"/>
                  </a:cubicBezTo>
                  <a:cubicBezTo>
                    <a:pt x="1145540" y="889127"/>
                    <a:pt x="889127" y="1145540"/>
                    <a:pt x="572770" y="1145540"/>
                  </a:cubicBezTo>
                  <a:cubicBezTo>
                    <a:pt x="256413" y="1145540"/>
                    <a:pt x="0" y="889127"/>
                    <a:pt x="0" y="572770"/>
                  </a:cubicBezTo>
                  <a:close/>
                </a:path>
              </a:pathLst>
            </a:custGeom>
            <a:solidFill>
              <a:srgbClr val="FB766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2729409" y="5413715"/>
            <a:ext cx="920010" cy="920008"/>
            <a:chOff x="0" y="0"/>
            <a:chExt cx="1163598" cy="1163595"/>
          </a:xfrm>
        </p:grpSpPr>
        <p:sp>
          <p:nvSpPr>
            <p:cNvPr id="60" name="Freeform 60"/>
            <p:cNvSpPr/>
            <p:nvPr/>
          </p:nvSpPr>
          <p:spPr>
            <a:xfrm>
              <a:off x="9017" y="9017"/>
              <a:ext cx="1145540" cy="1145540"/>
            </a:xfrm>
            <a:custGeom>
              <a:avLst/>
              <a:gdLst/>
              <a:ahLst/>
              <a:cxnLst/>
              <a:rect l="l" t="t" r="r" b="b"/>
              <a:pathLst>
                <a:path w="1145540" h="1145540">
                  <a:moveTo>
                    <a:pt x="0" y="572770"/>
                  </a:moveTo>
                  <a:cubicBezTo>
                    <a:pt x="0" y="256413"/>
                    <a:pt x="256413" y="0"/>
                    <a:pt x="572770" y="0"/>
                  </a:cubicBezTo>
                  <a:cubicBezTo>
                    <a:pt x="889127" y="0"/>
                    <a:pt x="1145540" y="256413"/>
                    <a:pt x="1145540" y="572770"/>
                  </a:cubicBezTo>
                  <a:cubicBezTo>
                    <a:pt x="1145540" y="889127"/>
                    <a:pt x="889127" y="1145540"/>
                    <a:pt x="572770" y="1145540"/>
                  </a:cubicBezTo>
                  <a:cubicBezTo>
                    <a:pt x="256413" y="1145540"/>
                    <a:pt x="0" y="889127"/>
                    <a:pt x="0" y="572770"/>
                  </a:cubicBezTo>
                  <a:close/>
                </a:path>
              </a:pathLst>
            </a:custGeom>
            <a:solidFill>
              <a:srgbClr val="626EF5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2729409" y="6657574"/>
            <a:ext cx="920010" cy="920008"/>
            <a:chOff x="0" y="0"/>
            <a:chExt cx="1163598" cy="1163595"/>
          </a:xfrm>
        </p:grpSpPr>
        <p:sp>
          <p:nvSpPr>
            <p:cNvPr id="62" name="Freeform 62"/>
            <p:cNvSpPr/>
            <p:nvPr/>
          </p:nvSpPr>
          <p:spPr>
            <a:xfrm>
              <a:off x="9017" y="9017"/>
              <a:ext cx="1145540" cy="1145540"/>
            </a:xfrm>
            <a:custGeom>
              <a:avLst/>
              <a:gdLst/>
              <a:ahLst/>
              <a:cxnLst/>
              <a:rect l="l" t="t" r="r" b="b"/>
              <a:pathLst>
                <a:path w="1145540" h="1145540">
                  <a:moveTo>
                    <a:pt x="0" y="572770"/>
                  </a:moveTo>
                  <a:cubicBezTo>
                    <a:pt x="0" y="256413"/>
                    <a:pt x="256413" y="0"/>
                    <a:pt x="572770" y="0"/>
                  </a:cubicBezTo>
                  <a:cubicBezTo>
                    <a:pt x="889127" y="0"/>
                    <a:pt x="1145540" y="256413"/>
                    <a:pt x="1145540" y="572770"/>
                  </a:cubicBezTo>
                  <a:cubicBezTo>
                    <a:pt x="1145540" y="889127"/>
                    <a:pt x="889127" y="1145540"/>
                    <a:pt x="572770" y="1145540"/>
                  </a:cubicBezTo>
                  <a:cubicBezTo>
                    <a:pt x="256413" y="1145540"/>
                    <a:pt x="0" y="889127"/>
                    <a:pt x="0" y="572770"/>
                  </a:cubicBezTo>
                  <a:close/>
                </a:path>
              </a:pathLst>
            </a:custGeom>
            <a:solidFill>
              <a:srgbClr val="40CD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63" name="Freeform 63"/>
          <p:cNvSpPr/>
          <p:nvPr/>
        </p:nvSpPr>
        <p:spPr>
          <a:xfrm>
            <a:off x="12933714" y="3307890"/>
            <a:ext cx="505377" cy="536597"/>
          </a:xfrm>
          <a:custGeom>
            <a:avLst/>
            <a:gdLst/>
            <a:ahLst/>
            <a:cxnLst/>
            <a:rect l="l" t="t" r="r" b="b"/>
            <a:pathLst>
              <a:path w="505377" h="536597">
                <a:moveTo>
                  <a:pt x="0" y="0"/>
                </a:moveTo>
                <a:lnTo>
                  <a:pt x="505377" y="0"/>
                </a:lnTo>
                <a:lnTo>
                  <a:pt x="505377" y="536597"/>
                </a:lnTo>
                <a:lnTo>
                  <a:pt x="0" y="53659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4" name="Freeform 64"/>
          <p:cNvSpPr/>
          <p:nvPr/>
        </p:nvSpPr>
        <p:spPr>
          <a:xfrm rot="5316811">
            <a:off x="12909957" y="4419476"/>
            <a:ext cx="555904" cy="396208"/>
          </a:xfrm>
          <a:custGeom>
            <a:avLst/>
            <a:gdLst/>
            <a:ahLst/>
            <a:cxnLst/>
            <a:rect l="l" t="t" r="r" b="b"/>
            <a:pathLst>
              <a:path w="555904" h="396208">
                <a:moveTo>
                  <a:pt x="0" y="0"/>
                </a:moveTo>
                <a:lnTo>
                  <a:pt x="555903" y="0"/>
                </a:lnTo>
                <a:lnTo>
                  <a:pt x="555903" y="396208"/>
                </a:lnTo>
                <a:lnTo>
                  <a:pt x="0" y="39620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5" name="Freeform 65"/>
          <p:cNvSpPr/>
          <p:nvPr/>
        </p:nvSpPr>
        <p:spPr>
          <a:xfrm>
            <a:off x="12882759" y="5543477"/>
            <a:ext cx="582830" cy="560577"/>
          </a:xfrm>
          <a:custGeom>
            <a:avLst/>
            <a:gdLst/>
            <a:ahLst/>
            <a:cxnLst/>
            <a:rect l="l" t="t" r="r" b="b"/>
            <a:pathLst>
              <a:path w="582830" h="560577">
                <a:moveTo>
                  <a:pt x="0" y="0"/>
                </a:moveTo>
                <a:lnTo>
                  <a:pt x="582830" y="0"/>
                </a:lnTo>
                <a:lnTo>
                  <a:pt x="582830" y="560577"/>
                </a:lnTo>
                <a:lnTo>
                  <a:pt x="0" y="56057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6" name="Freeform 66"/>
          <p:cNvSpPr/>
          <p:nvPr/>
        </p:nvSpPr>
        <p:spPr>
          <a:xfrm>
            <a:off x="12968544" y="6872501"/>
            <a:ext cx="441739" cy="491050"/>
          </a:xfrm>
          <a:custGeom>
            <a:avLst/>
            <a:gdLst/>
            <a:ahLst/>
            <a:cxnLst/>
            <a:rect l="l" t="t" r="r" b="b"/>
            <a:pathLst>
              <a:path w="441739" h="491050">
                <a:moveTo>
                  <a:pt x="0" y="0"/>
                </a:moveTo>
                <a:lnTo>
                  <a:pt x="441740" y="0"/>
                </a:lnTo>
                <a:lnTo>
                  <a:pt x="441740" y="491050"/>
                </a:lnTo>
                <a:lnTo>
                  <a:pt x="0" y="49105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67" name="Group 67"/>
          <p:cNvGrpSpPr/>
          <p:nvPr/>
        </p:nvGrpSpPr>
        <p:grpSpPr>
          <a:xfrm>
            <a:off x="12715675" y="7901432"/>
            <a:ext cx="916999" cy="916997"/>
            <a:chOff x="0" y="0"/>
            <a:chExt cx="1163598" cy="1163595"/>
          </a:xfrm>
        </p:grpSpPr>
        <p:sp>
          <p:nvSpPr>
            <p:cNvPr id="68" name="Freeform 68"/>
            <p:cNvSpPr/>
            <p:nvPr/>
          </p:nvSpPr>
          <p:spPr>
            <a:xfrm>
              <a:off x="9017" y="9017"/>
              <a:ext cx="1145540" cy="1145540"/>
            </a:xfrm>
            <a:custGeom>
              <a:avLst/>
              <a:gdLst/>
              <a:ahLst/>
              <a:cxnLst/>
              <a:rect l="l" t="t" r="r" b="b"/>
              <a:pathLst>
                <a:path w="1145540" h="1145540">
                  <a:moveTo>
                    <a:pt x="0" y="572770"/>
                  </a:moveTo>
                  <a:cubicBezTo>
                    <a:pt x="0" y="256413"/>
                    <a:pt x="256413" y="0"/>
                    <a:pt x="572770" y="0"/>
                  </a:cubicBezTo>
                  <a:cubicBezTo>
                    <a:pt x="889127" y="0"/>
                    <a:pt x="1145540" y="256413"/>
                    <a:pt x="1145540" y="572770"/>
                  </a:cubicBezTo>
                  <a:cubicBezTo>
                    <a:pt x="1145540" y="889127"/>
                    <a:pt x="889127" y="1145540"/>
                    <a:pt x="572770" y="1145540"/>
                  </a:cubicBezTo>
                  <a:cubicBezTo>
                    <a:pt x="256413" y="1145540"/>
                    <a:pt x="0" y="889127"/>
                    <a:pt x="0" y="572770"/>
                  </a:cubicBezTo>
                  <a:close/>
                </a:path>
              </a:pathLst>
            </a:custGeom>
            <a:solidFill>
              <a:srgbClr val="A6A6A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69" name="Freeform 69"/>
          <p:cNvSpPr/>
          <p:nvPr/>
        </p:nvSpPr>
        <p:spPr>
          <a:xfrm>
            <a:off x="12904227" y="8083354"/>
            <a:ext cx="539895" cy="539895"/>
          </a:xfrm>
          <a:custGeom>
            <a:avLst/>
            <a:gdLst/>
            <a:ahLst/>
            <a:cxnLst/>
            <a:rect l="l" t="t" r="r" b="b"/>
            <a:pathLst>
              <a:path w="539895" h="539895">
                <a:moveTo>
                  <a:pt x="0" y="0"/>
                </a:moveTo>
                <a:lnTo>
                  <a:pt x="539895" y="0"/>
                </a:lnTo>
                <a:lnTo>
                  <a:pt x="539895" y="539894"/>
                </a:lnTo>
                <a:lnTo>
                  <a:pt x="0" y="53989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70" name="Group 70"/>
          <p:cNvGrpSpPr/>
          <p:nvPr/>
        </p:nvGrpSpPr>
        <p:grpSpPr>
          <a:xfrm>
            <a:off x="13979783" y="3161472"/>
            <a:ext cx="4562421" cy="692497"/>
            <a:chOff x="0" y="0"/>
            <a:chExt cx="4325851" cy="65659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4325851" cy="656590"/>
            </a:xfrm>
            <a:custGeom>
              <a:avLst/>
              <a:gdLst/>
              <a:ahLst/>
              <a:cxnLst/>
              <a:rect l="l" t="t" r="r" b="b"/>
              <a:pathLst>
                <a:path w="4325851" h="656590">
                  <a:moveTo>
                    <a:pt x="0" y="0"/>
                  </a:moveTo>
                  <a:lnTo>
                    <a:pt x="4325851" y="0"/>
                  </a:lnTo>
                  <a:lnTo>
                    <a:pt x="4325851" y="656590"/>
                  </a:lnTo>
                  <a:lnTo>
                    <a:pt x="0" y="6565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0" y="-19050"/>
              <a:ext cx="4325851" cy="67564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2639"/>
                </a:lnSpc>
              </a:pPr>
              <a:r>
                <a:rPr lang="en-US" sz="2199" b="1">
                  <a:solidFill>
                    <a:srgbClr val="153C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No Stopword Removal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3979783" y="4198145"/>
            <a:ext cx="3295596" cy="692497"/>
            <a:chOff x="0" y="0"/>
            <a:chExt cx="3124713" cy="65659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3124713" cy="656590"/>
            </a:xfrm>
            <a:custGeom>
              <a:avLst/>
              <a:gdLst/>
              <a:ahLst/>
              <a:cxnLst/>
              <a:rect l="l" t="t" r="r" b="b"/>
              <a:pathLst>
                <a:path w="3124713" h="656590">
                  <a:moveTo>
                    <a:pt x="0" y="0"/>
                  </a:moveTo>
                  <a:lnTo>
                    <a:pt x="3124713" y="0"/>
                  </a:lnTo>
                  <a:lnTo>
                    <a:pt x="3124713" y="656590"/>
                  </a:lnTo>
                  <a:lnTo>
                    <a:pt x="0" y="656590"/>
                  </a:lnTo>
                  <a:close/>
                </a:path>
              </a:pathLst>
            </a:custGeom>
            <a:solidFill>
              <a:srgbClr val="FB796D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0" y="-19050"/>
              <a:ext cx="3124713" cy="67564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2639"/>
                </a:lnSpc>
              </a:pPr>
              <a:r>
                <a:rPr lang="en-US" sz="2199" b="1">
                  <a:solidFill>
                    <a:srgbClr val="FB766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Generic Stopword List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4011369" y="5433893"/>
            <a:ext cx="2804142" cy="879653"/>
            <a:chOff x="0" y="0"/>
            <a:chExt cx="2658742" cy="834041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2658742" cy="834041"/>
            </a:xfrm>
            <a:custGeom>
              <a:avLst/>
              <a:gdLst/>
              <a:ahLst/>
              <a:cxnLst/>
              <a:rect l="l" t="t" r="r" b="b"/>
              <a:pathLst>
                <a:path w="2658742" h="834041">
                  <a:moveTo>
                    <a:pt x="0" y="0"/>
                  </a:moveTo>
                  <a:lnTo>
                    <a:pt x="2658742" y="0"/>
                  </a:lnTo>
                  <a:lnTo>
                    <a:pt x="2658742" y="834041"/>
                  </a:lnTo>
                  <a:lnTo>
                    <a:pt x="0" y="834041"/>
                  </a:lnTo>
                  <a:close/>
                </a:path>
              </a:pathLst>
            </a:custGeom>
            <a:solidFill>
              <a:srgbClr val="626EF5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-19050"/>
              <a:ext cx="2658742" cy="853091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2639"/>
                </a:lnSpc>
              </a:pPr>
              <a:r>
                <a:rPr lang="en-US" sz="2199" b="1">
                  <a:solidFill>
                    <a:srgbClr val="6877F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Domain-Specific Stopword Removal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4011369" y="6669566"/>
            <a:ext cx="3051577" cy="919395"/>
            <a:chOff x="0" y="0"/>
            <a:chExt cx="2893347" cy="871723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2893347" cy="871723"/>
            </a:xfrm>
            <a:custGeom>
              <a:avLst/>
              <a:gdLst/>
              <a:ahLst/>
              <a:cxnLst/>
              <a:rect l="l" t="t" r="r" b="b"/>
              <a:pathLst>
                <a:path w="2893347" h="871723">
                  <a:moveTo>
                    <a:pt x="0" y="0"/>
                  </a:moveTo>
                  <a:lnTo>
                    <a:pt x="2893347" y="0"/>
                  </a:lnTo>
                  <a:lnTo>
                    <a:pt x="2893347" y="871723"/>
                  </a:lnTo>
                  <a:lnTo>
                    <a:pt x="0" y="8717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0" y="-19050"/>
              <a:ext cx="2893347" cy="890773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2639"/>
                </a:lnSpc>
              </a:pPr>
              <a:r>
                <a:rPr lang="en-US" sz="2199" b="1">
                  <a:solidFill>
                    <a:srgbClr val="40CD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Delta Stopwords (Domain – Generic)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13979783" y="7863684"/>
            <a:ext cx="3051577" cy="919395"/>
            <a:chOff x="0" y="0"/>
            <a:chExt cx="2893347" cy="871723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2893347" cy="871723"/>
            </a:xfrm>
            <a:custGeom>
              <a:avLst/>
              <a:gdLst/>
              <a:ahLst/>
              <a:cxnLst/>
              <a:rect l="l" t="t" r="r" b="b"/>
              <a:pathLst>
                <a:path w="2893347" h="871723">
                  <a:moveTo>
                    <a:pt x="0" y="0"/>
                  </a:moveTo>
                  <a:lnTo>
                    <a:pt x="2893347" y="0"/>
                  </a:lnTo>
                  <a:lnTo>
                    <a:pt x="2893347" y="871723"/>
                  </a:lnTo>
                  <a:lnTo>
                    <a:pt x="0" y="8717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0" y="-19050"/>
              <a:ext cx="2893347" cy="890773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2639"/>
                </a:lnSpc>
              </a:pPr>
              <a:r>
                <a:rPr lang="en-US" sz="2199" b="1">
                  <a:solidFill>
                    <a:srgbClr val="A6A6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Union Stopwords (Domain + Generic)</a:t>
              </a:r>
            </a:p>
          </p:txBody>
        </p:sp>
      </p:grpSp>
      <p:sp>
        <p:nvSpPr>
          <p:cNvPr id="85" name="TextBox 85"/>
          <p:cNvSpPr txBox="1"/>
          <p:nvPr/>
        </p:nvSpPr>
        <p:spPr>
          <a:xfrm>
            <a:off x="1004341" y="9294522"/>
            <a:ext cx="8992671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</a:t>
            </a:r>
            <a:r>
              <a:rPr lang="en-US" sz="1800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Stop Words for Processing Software Engineering Documents: Do they Matter?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335104" y="9055871"/>
            <a:ext cx="1254072" cy="1006393"/>
          </a:xfrm>
          <a:custGeom>
            <a:avLst/>
            <a:gdLst/>
            <a:ahLst/>
            <a:cxnLst/>
            <a:rect l="l" t="t" r="r" b="b"/>
            <a:pathLst>
              <a:path w="1254072" h="1006393">
                <a:moveTo>
                  <a:pt x="0" y="0"/>
                </a:moveTo>
                <a:lnTo>
                  <a:pt x="1254073" y="0"/>
                </a:lnTo>
                <a:lnTo>
                  <a:pt x="1254073" y="1006393"/>
                </a:lnTo>
                <a:lnTo>
                  <a:pt x="0" y="10063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6636802" y="9247819"/>
            <a:ext cx="1244996" cy="622498"/>
          </a:xfrm>
          <a:custGeom>
            <a:avLst/>
            <a:gdLst/>
            <a:ahLst/>
            <a:cxnLst/>
            <a:rect l="l" t="t" r="r" b="b"/>
            <a:pathLst>
              <a:path w="1244996" h="622498">
                <a:moveTo>
                  <a:pt x="0" y="0"/>
                </a:moveTo>
                <a:lnTo>
                  <a:pt x="1244996" y="0"/>
                </a:lnTo>
                <a:lnTo>
                  <a:pt x="1244996" y="622498"/>
                </a:lnTo>
                <a:lnTo>
                  <a:pt x="0" y="6224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16610373" y="-585185"/>
            <a:ext cx="2187184" cy="2201864"/>
          </a:xfrm>
          <a:custGeom>
            <a:avLst/>
            <a:gdLst/>
            <a:ahLst/>
            <a:cxnLst/>
            <a:rect l="l" t="t" r="r" b="b"/>
            <a:pathLst>
              <a:path w="2187184" h="2201864">
                <a:moveTo>
                  <a:pt x="0" y="0"/>
                </a:moveTo>
                <a:lnTo>
                  <a:pt x="2187184" y="0"/>
                </a:lnTo>
                <a:lnTo>
                  <a:pt x="2187184" y="2201864"/>
                </a:lnTo>
                <a:lnTo>
                  <a:pt x="0" y="22018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TextBox 5"/>
          <p:cNvSpPr txBox="1"/>
          <p:nvPr/>
        </p:nvSpPr>
        <p:spPr>
          <a:xfrm>
            <a:off x="1028700" y="1038225"/>
            <a:ext cx="9173529" cy="89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12"/>
              </a:lnSpc>
            </a:pPr>
            <a:r>
              <a:rPr lang="en-US" sz="5937" spc="-48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Comparative Evaluation of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693135"/>
            <a:ext cx="8295954" cy="787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12"/>
              </a:lnSpc>
            </a:pPr>
            <a:r>
              <a:rPr lang="en-US" sz="4800" b="1" spc="-486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STOPWORD STRATEGIES: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922076" y="158916"/>
            <a:ext cx="1678079" cy="732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49"/>
              </a:lnSpc>
            </a:pPr>
            <a:r>
              <a:rPr lang="en-US" sz="4953" b="1" spc="-406">
                <a:solidFill>
                  <a:srgbClr val="EBEBEC"/>
                </a:solidFill>
                <a:latin typeface="Poppins Bold"/>
                <a:ea typeface="Poppins Bold"/>
                <a:cs typeface="Poppins Bold"/>
                <a:sym typeface="Poppins Bold"/>
              </a:rPr>
              <a:t>RQ2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84075" y="1700702"/>
            <a:ext cx="6313884" cy="787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12"/>
              </a:lnSpc>
            </a:pPr>
            <a:r>
              <a:rPr lang="en-US" sz="4800" spc="-48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Method and Results</a:t>
            </a:r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2641614" y="3281386"/>
          <a:ext cx="13228570" cy="5076826"/>
        </p:xfrm>
        <a:graphic>
          <a:graphicData uri="http://schemas.openxmlformats.org/drawingml/2006/table">
            <a:tbl>
              <a:tblPr/>
              <a:tblGrid>
                <a:gridCol w="44686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9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11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196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5718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FEFE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Strategy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FEFE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Silhouette 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FEFE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Topic Coherence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FEFE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Topic Diversity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C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5718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No Stopword Removal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0.0636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0.5375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0.8071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5718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Generic Stopword List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0.0508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0.5313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0.8000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6977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Domain-Specific Stopword Removal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0.0427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0.4993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0.8786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06977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Delta Stopword                                          (Domain - Generic)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0.0389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0.5044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0.8857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5718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Union Stopword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0.0434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0.5236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0.8714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0" name="Group 10"/>
          <p:cNvGrpSpPr/>
          <p:nvPr/>
        </p:nvGrpSpPr>
        <p:grpSpPr>
          <a:xfrm>
            <a:off x="7061413" y="3948241"/>
            <a:ext cx="2668825" cy="814259"/>
            <a:chOff x="0" y="0"/>
            <a:chExt cx="3558433" cy="1181791"/>
          </a:xfrm>
        </p:grpSpPr>
        <p:grpSp>
          <p:nvGrpSpPr>
            <p:cNvPr id="11" name="Group 11"/>
            <p:cNvGrpSpPr/>
            <p:nvPr/>
          </p:nvGrpSpPr>
          <p:grpSpPr>
            <a:xfrm rot="5400000">
              <a:off x="1188321" y="-1188321"/>
              <a:ext cx="1181791" cy="3558433"/>
              <a:chOff x="0" y="0"/>
              <a:chExt cx="258703" cy="77907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258703" cy="779075"/>
              </a:xfrm>
              <a:custGeom>
                <a:avLst/>
                <a:gdLst/>
                <a:ahLst/>
                <a:cxnLst/>
                <a:rect l="l" t="t" r="r" b="b"/>
                <a:pathLst>
                  <a:path w="258703" h="779075">
                    <a:moveTo>
                      <a:pt x="258703" y="0"/>
                    </a:moveTo>
                    <a:lnTo>
                      <a:pt x="258703" y="779075"/>
                    </a:lnTo>
                    <a:lnTo>
                      <a:pt x="0" y="77907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04775" cap="sq">
                <a:solidFill>
                  <a:srgbClr val="FB766A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57150"/>
                <a:ext cx="258703" cy="8362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5400000">
              <a:off x="1188321" y="-1188321"/>
              <a:ext cx="1181791" cy="3558433"/>
              <a:chOff x="0" y="0"/>
              <a:chExt cx="258703" cy="779075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258703" cy="779075"/>
              </a:xfrm>
              <a:custGeom>
                <a:avLst/>
                <a:gdLst/>
                <a:ahLst/>
                <a:cxnLst/>
                <a:rect l="l" t="t" r="r" b="b"/>
                <a:pathLst>
                  <a:path w="258703" h="779075">
                    <a:moveTo>
                      <a:pt x="258703" y="0"/>
                    </a:moveTo>
                    <a:lnTo>
                      <a:pt x="258703" y="779075"/>
                    </a:lnTo>
                    <a:lnTo>
                      <a:pt x="0" y="77907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67979">
                  <a:alpha val="41961"/>
                </a:srgbClr>
              </a:solidFill>
              <a:ln w="104775" cap="sq">
                <a:solidFill>
                  <a:srgbClr val="E67979">
                    <a:alpha val="41961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57150"/>
                <a:ext cx="258703" cy="8362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</p:grpSp>
      <p:grpSp>
        <p:nvGrpSpPr>
          <p:cNvPr id="17" name="Group 17"/>
          <p:cNvGrpSpPr/>
          <p:nvPr/>
        </p:nvGrpSpPr>
        <p:grpSpPr>
          <a:xfrm>
            <a:off x="9730238" y="3948241"/>
            <a:ext cx="3261875" cy="814259"/>
            <a:chOff x="0" y="0"/>
            <a:chExt cx="4349166" cy="1181791"/>
          </a:xfrm>
        </p:grpSpPr>
        <p:grpSp>
          <p:nvGrpSpPr>
            <p:cNvPr id="18" name="Group 18"/>
            <p:cNvGrpSpPr/>
            <p:nvPr/>
          </p:nvGrpSpPr>
          <p:grpSpPr>
            <a:xfrm rot="5400000">
              <a:off x="1583688" y="-1583688"/>
              <a:ext cx="1181791" cy="4349166"/>
              <a:chOff x="0" y="0"/>
              <a:chExt cx="258703" cy="952197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258703" cy="952197"/>
              </a:xfrm>
              <a:custGeom>
                <a:avLst/>
                <a:gdLst/>
                <a:ahLst/>
                <a:cxnLst/>
                <a:rect l="l" t="t" r="r" b="b"/>
                <a:pathLst>
                  <a:path w="258703" h="952197">
                    <a:moveTo>
                      <a:pt x="258703" y="0"/>
                    </a:moveTo>
                    <a:lnTo>
                      <a:pt x="258703" y="952197"/>
                    </a:lnTo>
                    <a:lnTo>
                      <a:pt x="0" y="95219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04775" cap="sq">
                <a:solidFill>
                  <a:srgbClr val="FB766A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57150"/>
                <a:ext cx="258703" cy="10093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 rot="5400000">
              <a:off x="1583688" y="-1583688"/>
              <a:ext cx="1181791" cy="4349166"/>
              <a:chOff x="0" y="0"/>
              <a:chExt cx="258703" cy="952197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258703" cy="952197"/>
              </a:xfrm>
              <a:custGeom>
                <a:avLst/>
                <a:gdLst/>
                <a:ahLst/>
                <a:cxnLst/>
                <a:rect l="l" t="t" r="r" b="b"/>
                <a:pathLst>
                  <a:path w="258703" h="952197">
                    <a:moveTo>
                      <a:pt x="258703" y="0"/>
                    </a:moveTo>
                    <a:lnTo>
                      <a:pt x="258703" y="952197"/>
                    </a:lnTo>
                    <a:lnTo>
                      <a:pt x="0" y="95219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67979">
                  <a:alpha val="41961"/>
                </a:srgbClr>
              </a:solidFill>
              <a:ln w="104775" cap="sq">
                <a:solidFill>
                  <a:srgbClr val="E67979">
                    <a:alpha val="41961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57150"/>
                <a:ext cx="258703" cy="10093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</p:grpSp>
      <p:grpSp>
        <p:nvGrpSpPr>
          <p:cNvPr id="24" name="Group 24"/>
          <p:cNvGrpSpPr/>
          <p:nvPr/>
        </p:nvGrpSpPr>
        <p:grpSpPr>
          <a:xfrm>
            <a:off x="12905325" y="6515100"/>
            <a:ext cx="2964859" cy="1138405"/>
            <a:chOff x="0" y="0"/>
            <a:chExt cx="4075754" cy="1650982"/>
          </a:xfrm>
        </p:grpSpPr>
        <p:grpSp>
          <p:nvGrpSpPr>
            <p:cNvPr id="25" name="Group 25"/>
            <p:cNvGrpSpPr/>
            <p:nvPr/>
          </p:nvGrpSpPr>
          <p:grpSpPr>
            <a:xfrm rot="5400000">
              <a:off x="1212386" y="-1212386"/>
              <a:ext cx="1650982" cy="4075754"/>
              <a:chOff x="0" y="0"/>
              <a:chExt cx="361412" cy="892337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361412" cy="892337"/>
              </a:xfrm>
              <a:custGeom>
                <a:avLst/>
                <a:gdLst/>
                <a:ahLst/>
                <a:cxnLst/>
                <a:rect l="l" t="t" r="r" b="b"/>
                <a:pathLst>
                  <a:path w="361412" h="892337">
                    <a:moveTo>
                      <a:pt x="361412" y="0"/>
                    </a:moveTo>
                    <a:lnTo>
                      <a:pt x="361412" y="892337"/>
                    </a:lnTo>
                    <a:lnTo>
                      <a:pt x="0" y="8923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04775" cap="sq">
                <a:solidFill>
                  <a:srgbClr val="FB766A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57150"/>
                <a:ext cx="361412" cy="9494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 rot="5400000">
              <a:off x="1212386" y="-1212386"/>
              <a:ext cx="1650982" cy="4075754"/>
              <a:chOff x="0" y="0"/>
              <a:chExt cx="361412" cy="892337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361412" cy="892337"/>
              </a:xfrm>
              <a:custGeom>
                <a:avLst/>
                <a:gdLst/>
                <a:ahLst/>
                <a:cxnLst/>
                <a:rect l="l" t="t" r="r" b="b"/>
                <a:pathLst>
                  <a:path w="361412" h="892337">
                    <a:moveTo>
                      <a:pt x="361412" y="0"/>
                    </a:moveTo>
                    <a:lnTo>
                      <a:pt x="361412" y="892337"/>
                    </a:lnTo>
                    <a:lnTo>
                      <a:pt x="0" y="8923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67979">
                  <a:alpha val="41961"/>
                </a:srgbClr>
              </a:solidFill>
              <a:ln w="104775" cap="sq">
                <a:solidFill>
                  <a:srgbClr val="E67979">
                    <a:alpha val="41961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57150"/>
                <a:ext cx="361412" cy="9494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</p:grpSp>
      <p:sp>
        <p:nvSpPr>
          <p:cNvPr id="31" name="TextBox 31"/>
          <p:cNvSpPr txBox="1"/>
          <p:nvPr/>
        </p:nvSpPr>
        <p:spPr>
          <a:xfrm>
            <a:off x="880229" y="9858747"/>
            <a:ext cx="992767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[Results computed using the default approach based on UMAP and DBSCAN.]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6823" y="2350626"/>
            <a:ext cx="7607556" cy="3493278"/>
            <a:chOff x="0" y="0"/>
            <a:chExt cx="2003636" cy="9200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03636" cy="920040"/>
            </a:xfrm>
            <a:custGeom>
              <a:avLst/>
              <a:gdLst/>
              <a:ahLst/>
              <a:cxnLst/>
              <a:rect l="l" t="t" r="r" b="b"/>
              <a:pathLst>
                <a:path w="2003636" h="920040">
                  <a:moveTo>
                    <a:pt x="30530" y="0"/>
                  </a:moveTo>
                  <a:lnTo>
                    <a:pt x="1973106" y="0"/>
                  </a:lnTo>
                  <a:cubicBezTo>
                    <a:pt x="1981203" y="0"/>
                    <a:pt x="1988969" y="3217"/>
                    <a:pt x="1994694" y="8942"/>
                  </a:cubicBezTo>
                  <a:cubicBezTo>
                    <a:pt x="2000420" y="14667"/>
                    <a:pt x="2003636" y="22433"/>
                    <a:pt x="2003636" y="30530"/>
                  </a:cubicBezTo>
                  <a:lnTo>
                    <a:pt x="2003636" y="889511"/>
                  </a:lnTo>
                  <a:cubicBezTo>
                    <a:pt x="2003636" y="906372"/>
                    <a:pt x="1989967" y="920040"/>
                    <a:pt x="1973106" y="920040"/>
                  </a:cubicBezTo>
                  <a:lnTo>
                    <a:pt x="30530" y="920040"/>
                  </a:lnTo>
                  <a:cubicBezTo>
                    <a:pt x="22433" y="920040"/>
                    <a:pt x="14667" y="916824"/>
                    <a:pt x="8942" y="911098"/>
                  </a:cubicBezTo>
                  <a:cubicBezTo>
                    <a:pt x="3217" y="905373"/>
                    <a:pt x="0" y="897608"/>
                    <a:pt x="0" y="889511"/>
                  </a:cubicBezTo>
                  <a:lnTo>
                    <a:pt x="0" y="30530"/>
                  </a:lnTo>
                  <a:cubicBezTo>
                    <a:pt x="0" y="22433"/>
                    <a:pt x="3217" y="14667"/>
                    <a:pt x="8942" y="8942"/>
                  </a:cubicBezTo>
                  <a:cubicBezTo>
                    <a:pt x="14667" y="3217"/>
                    <a:pt x="22433" y="0"/>
                    <a:pt x="30530" y="0"/>
                  </a:cubicBezTo>
                  <a:close/>
                </a:path>
              </a:pathLst>
            </a:custGeom>
            <a:solidFill>
              <a:srgbClr val="FFFFFF">
                <a:alpha val="77647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003636" cy="93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222792" y="2602696"/>
            <a:ext cx="2697296" cy="613182"/>
            <a:chOff x="0" y="0"/>
            <a:chExt cx="710399" cy="16149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10399" cy="161496"/>
            </a:xfrm>
            <a:custGeom>
              <a:avLst/>
              <a:gdLst/>
              <a:ahLst/>
              <a:cxnLst/>
              <a:rect l="l" t="t" r="r" b="b"/>
              <a:pathLst>
                <a:path w="710399" h="161496">
                  <a:moveTo>
                    <a:pt x="80748" y="0"/>
                  </a:moveTo>
                  <a:lnTo>
                    <a:pt x="629651" y="0"/>
                  </a:lnTo>
                  <a:cubicBezTo>
                    <a:pt x="651067" y="0"/>
                    <a:pt x="671605" y="8507"/>
                    <a:pt x="686748" y="23651"/>
                  </a:cubicBezTo>
                  <a:cubicBezTo>
                    <a:pt x="701892" y="38794"/>
                    <a:pt x="710399" y="59332"/>
                    <a:pt x="710399" y="80748"/>
                  </a:cubicBezTo>
                  <a:lnTo>
                    <a:pt x="710399" y="80748"/>
                  </a:lnTo>
                  <a:cubicBezTo>
                    <a:pt x="710399" y="102164"/>
                    <a:pt x="701892" y="122703"/>
                    <a:pt x="686748" y="137846"/>
                  </a:cubicBezTo>
                  <a:cubicBezTo>
                    <a:pt x="671605" y="152989"/>
                    <a:pt x="651067" y="161496"/>
                    <a:pt x="629651" y="161496"/>
                  </a:cubicBezTo>
                  <a:lnTo>
                    <a:pt x="80748" y="161496"/>
                  </a:lnTo>
                  <a:cubicBezTo>
                    <a:pt x="59332" y="161496"/>
                    <a:pt x="38794" y="152989"/>
                    <a:pt x="23651" y="137846"/>
                  </a:cubicBezTo>
                  <a:cubicBezTo>
                    <a:pt x="8507" y="122703"/>
                    <a:pt x="0" y="102164"/>
                    <a:pt x="0" y="80748"/>
                  </a:cubicBezTo>
                  <a:lnTo>
                    <a:pt x="0" y="80748"/>
                  </a:lnTo>
                  <a:cubicBezTo>
                    <a:pt x="0" y="59332"/>
                    <a:pt x="8507" y="38794"/>
                    <a:pt x="23651" y="23651"/>
                  </a:cubicBezTo>
                  <a:cubicBezTo>
                    <a:pt x="38794" y="8507"/>
                    <a:pt x="59332" y="0"/>
                    <a:pt x="80748" y="0"/>
                  </a:cubicBezTo>
                  <a:close/>
                </a:path>
              </a:pathLst>
            </a:custGeom>
            <a:solidFill>
              <a:srgbClr val="FB796D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710399" cy="1710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46947" y="2297832"/>
            <a:ext cx="7712377" cy="7425520"/>
            <a:chOff x="0" y="0"/>
            <a:chExt cx="2031243" cy="195569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31243" cy="1955692"/>
            </a:xfrm>
            <a:custGeom>
              <a:avLst/>
              <a:gdLst/>
              <a:ahLst/>
              <a:cxnLst/>
              <a:rect l="l" t="t" r="r" b="b"/>
              <a:pathLst>
                <a:path w="2031243" h="1955692">
                  <a:moveTo>
                    <a:pt x="30115" y="0"/>
                  </a:moveTo>
                  <a:lnTo>
                    <a:pt x="2001128" y="0"/>
                  </a:lnTo>
                  <a:cubicBezTo>
                    <a:pt x="2009115" y="0"/>
                    <a:pt x="2016775" y="3173"/>
                    <a:pt x="2022423" y="8820"/>
                  </a:cubicBezTo>
                  <a:cubicBezTo>
                    <a:pt x="2028070" y="14468"/>
                    <a:pt x="2031243" y="22128"/>
                    <a:pt x="2031243" y="30115"/>
                  </a:cubicBezTo>
                  <a:lnTo>
                    <a:pt x="2031243" y="1925578"/>
                  </a:lnTo>
                  <a:cubicBezTo>
                    <a:pt x="2031243" y="1942210"/>
                    <a:pt x="2017760" y="1955692"/>
                    <a:pt x="2001128" y="1955692"/>
                  </a:cubicBezTo>
                  <a:lnTo>
                    <a:pt x="30115" y="1955692"/>
                  </a:lnTo>
                  <a:cubicBezTo>
                    <a:pt x="22128" y="1955692"/>
                    <a:pt x="14468" y="1952520"/>
                    <a:pt x="8820" y="1946872"/>
                  </a:cubicBezTo>
                  <a:cubicBezTo>
                    <a:pt x="3173" y="1941224"/>
                    <a:pt x="0" y="1933565"/>
                    <a:pt x="0" y="1925578"/>
                  </a:cubicBezTo>
                  <a:lnTo>
                    <a:pt x="0" y="30115"/>
                  </a:lnTo>
                  <a:cubicBezTo>
                    <a:pt x="0" y="22128"/>
                    <a:pt x="3173" y="14468"/>
                    <a:pt x="8820" y="8820"/>
                  </a:cubicBezTo>
                  <a:cubicBezTo>
                    <a:pt x="14468" y="3173"/>
                    <a:pt x="22128" y="0"/>
                    <a:pt x="30115" y="0"/>
                  </a:cubicBezTo>
                  <a:close/>
                </a:path>
              </a:pathLst>
            </a:custGeom>
            <a:solidFill>
              <a:srgbClr val="FFFFFF">
                <a:alpha val="77647"/>
              </a:srgbClr>
            </a:solidFill>
            <a:ln w="38100" cap="rnd">
              <a:solidFill>
                <a:srgbClr val="40CDFF">
                  <a:alpha val="77647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2031243" cy="19747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965276" y="2536046"/>
            <a:ext cx="2875720" cy="646608"/>
            <a:chOff x="0" y="0"/>
            <a:chExt cx="757391" cy="1703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57391" cy="170300"/>
            </a:xfrm>
            <a:custGeom>
              <a:avLst/>
              <a:gdLst/>
              <a:ahLst/>
              <a:cxnLst/>
              <a:rect l="l" t="t" r="r" b="b"/>
              <a:pathLst>
                <a:path w="757391" h="170300">
                  <a:moveTo>
                    <a:pt x="80765" y="0"/>
                  </a:moveTo>
                  <a:lnTo>
                    <a:pt x="676626" y="0"/>
                  </a:lnTo>
                  <a:cubicBezTo>
                    <a:pt x="698046" y="0"/>
                    <a:pt x="718589" y="8509"/>
                    <a:pt x="733736" y="23656"/>
                  </a:cubicBezTo>
                  <a:cubicBezTo>
                    <a:pt x="748882" y="38802"/>
                    <a:pt x="757391" y="59345"/>
                    <a:pt x="757391" y="80765"/>
                  </a:cubicBezTo>
                  <a:lnTo>
                    <a:pt x="757391" y="89535"/>
                  </a:lnTo>
                  <a:cubicBezTo>
                    <a:pt x="757391" y="110955"/>
                    <a:pt x="748882" y="131498"/>
                    <a:pt x="733736" y="146644"/>
                  </a:cubicBezTo>
                  <a:cubicBezTo>
                    <a:pt x="718589" y="161791"/>
                    <a:pt x="698046" y="170300"/>
                    <a:pt x="676626" y="170300"/>
                  </a:cubicBezTo>
                  <a:lnTo>
                    <a:pt x="80765" y="170300"/>
                  </a:lnTo>
                  <a:cubicBezTo>
                    <a:pt x="59345" y="170300"/>
                    <a:pt x="38802" y="161791"/>
                    <a:pt x="23656" y="146644"/>
                  </a:cubicBezTo>
                  <a:cubicBezTo>
                    <a:pt x="8509" y="131498"/>
                    <a:pt x="0" y="110955"/>
                    <a:pt x="0" y="89535"/>
                  </a:cubicBezTo>
                  <a:lnTo>
                    <a:pt x="0" y="80765"/>
                  </a:lnTo>
                  <a:cubicBezTo>
                    <a:pt x="0" y="59345"/>
                    <a:pt x="8509" y="38802"/>
                    <a:pt x="23656" y="23656"/>
                  </a:cubicBezTo>
                  <a:cubicBezTo>
                    <a:pt x="38802" y="8509"/>
                    <a:pt x="59345" y="0"/>
                    <a:pt x="80765" y="0"/>
                  </a:cubicBezTo>
                  <a:close/>
                </a:path>
              </a:pathLst>
            </a:custGeom>
            <a:solidFill>
              <a:srgbClr val="40CD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757391" cy="179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6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5194157" y="525503"/>
            <a:ext cx="1254072" cy="1006393"/>
          </a:xfrm>
          <a:custGeom>
            <a:avLst/>
            <a:gdLst/>
            <a:ahLst/>
            <a:cxnLst/>
            <a:rect l="l" t="t" r="r" b="b"/>
            <a:pathLst>
              <a:path w="1254072" h="1006393">
                <a:moveTo>
                  <a:pt x="0" y="0"/>
                </a:moveTo>
                <a:lnTo>
                  <a:pt x="1254072" y="0"/>
                </a:lnTo>
                <a:lnTo>
                  <a:pt x="1254072" y="1006394"/>
                </a:lnTo>
                <a:lnTo>
                  <a:pt x="0" y="10063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5" name="Freeform 15"/>
          <p:cNvSpPr/>
          <p:nvPr/>
        </p:nvSpPr>
        <p:spPr>
          <a:xfrm>
            <a:off x="16495854" y="717451"/>
            <a:ext cx="1244996" cy="622498"/>
          </a:xfrm>
          <a:custGeom>
            <a:avLst/>
            <a:gdLst/>
            <a:ahLst/>
            <a:cxnLst/>
            <a:rect l="l" t="t" r="r" b="b"/>
            <a:pathLst>
              <a:path w="1244996" h="622498">
                <a:moveTo>
                  <a:pt x="0" y="0"/>
                </a:moveTo>
                <a:lnTo>
                  <a:pt x="1244997" y="0"/>
                </a:lnTo>
                <a:lnTo>
                  <a:pt x="1244997" y="622498"/>
                </a:lnTo>
                <a:lnTo>
                  <a:pt x="0" y="6224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16" name="Group 16"/>
          <p:cNvGrpSpPr/>
          <p:nvPr/>
        </p:nvGrpSpPr>
        <p:grpSpPr>
          <a:xfrm>
            <a:off x="876823" y="6196329"/>
            <a:ext cx="7607556" cy="3527022"/>
            <a:chOff x="0" y="0"/>
            <a:chExt cx="2003636" cy="92892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003636" cy="928928"/>
            </a:xfrm>
            <a:custGeom>
              <a:avLst/>
              <a:gdLst/>
              <a:ahLst/>
              <a:cxnLst/>
              <a:rect l="l" t="t" r="r" b="b"/>
              <a:pathLst>
                <a:path w="2003636" h="928928">
                  <a:moveTo>
                    <a:pt x="30530" y="0"/>
                  </a:moveTo>
                  <a:lnTo>
                    <a:pt x="1973106" y="0"/>
                  </a:lnTo>
                  <a:cubicBezTo>
                    <a:pt x="1981203" y="0"/>
                    <a:pt x="1988969" y="3217"/>
                    <a:pt x="1994694" y="8942"/>
                  </a:cubicBezTo>
                  <a:cubicBezTo>
                    <a:pt x="2000420" y="14667"/>
                    <a:pt x="2003636" y="22433"/>
                    <a:pt x="2003636" y="30530"/>
                  </a:cubicBezTo>
                  <a:lnTo>
                    <a:pt x="2003636" y="898398"/>
                  </a:lnTo>
                  <a:cubicBezTo>
                    <a:pt x="2003636" y="906495"/>
                    <a:pt x="2000420" y="914260"/>
                    <a:pt x="1994694" y="919986"/>
                  </a:cubicBezTo>
                  <a:cubicBezTo>
                    <a:pt x="1988969" y="925711"/>
                    <a:pt x="1981203" y="928928"/>
                    <a:pt x="1973106" y="928928"/>
                  </a:cubicBezTo>
                  <a:lnTo>
                    <a:pt x="30530" y="928928"/>
                  </a:lnTo>
                  <a:cubicBezTo>
                    <a:pt x="13669" y="928928"/>
                    <a:pt x="0" y="915259"/>
                    <a:pt x="0" y="898398"/>
                  </a:cubicBezTo>
                  <a:lnTo>
                    <a:pt x="0" y="30530"/>
                  </a:lnTo>
                  <a:cubicBezTo>
                    <a:pt x="0" y="22433"/>
                    <a:pt x="3217" y="14667"/>
                    <a:pt x="8942" y="8942"/>
                  </a:cubicBezTo>
                  <a:cubicBezTo>
                    <a:pt x="14667" y="3217"/>
                    <a:pt x="22433" y="0"/>
                    <a:pt x="30530" y="0"/>
                  </a:cubicBezTo>
                  <a:close/>
                </a:path>
              </a:pathLst>
            </a:custGeom>
            <a:solidFill>
              <a:srgbClr val="FFFFFF">
                <a:alpha val="77647"/>
              </a:srgbClr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2003636" cy="9479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222792" y="6570691"/>
            <a:ext cx="2697296" cy="613182"/>
            <a:chOff x="0" y="0"/>
            <a:chExt cx="710399" cy="16149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10399" cy="161496"/>
            </a:xfrm>
            <a:custGeom>
              <a:avLst/>
              <a:gdLst/>
              <a:ahLst/>
              <a:cxnLst/>
              <a:rect l="l" t="t" r="r" b="b"/>
              <a:pathLst>
                <a:path w="710399" h="161496">
                  <a:moveTo>
                    <a:pt x="80748" y="0"/>
                  </a:moveTo>
                  <a:lnTo>
                    <a:pt x="629651" y="0"/>
                  </a:lnTo>
                  <a:cubicBezTo>
                    <a:pt x="651067" y="0"/>
                    <a:pt x="671605" y="8507"/>
                    <a:pt x="686748" y="23651"/>
                  </a:cubicBezTo>
                  <a:cubicBezTo>
                    <a:pt x="701892" y="38794"/>
                    <a:pt x="710399" y="59332"/>
                    <a:pt x="710399" y="80748"/>
                  </a:cubicBezTo>
                  <a:lnTo>
                    <a:pt x="710399" y="80748"/>
                  </a:lnTo>
                  <a:cubicBezTo>
                    <a:pt x="710399" y="102164"/>
                    <a:pt x="701892" y="122703"/>
                    <a:pt x="686748" y="137846"/>
                  </a:cubicBezTo>
                  <a:cubicBezTo>
                    <a:pt x="671605" y="152989"/>
                    <a:pt x="651067" y="161496"/>
                    <a:pt x="629651" y="161496"/>
                  </a:cubicBezTo>
                  <a:lnTo>
                    <a:pt x="80748" y="161496"/>
                  </a:lnTo>
                  <a:cubicBezTo>
                    <a:pt x="59332" y="161496"/>
                    <a:pt x="38794" y="152989"/>
                    <a:pt x="23651" y="137846"/>
                  </a:cubicBezTo>
                  <a:cubicBezTo>
                    <a:pt x="8507" y="122703"/>
                    <a:pt x="0" y="102164"/>
                    <a:pt x="0" y="80748"/>
                  </a:cubicBezTo>
                  <a:lnTo>
                    <a:pt x="0" y="80748"/>
                  </a:lnTo>
                  <a:cubicBezTo>
                    <a:pt x="0" y="59332"/>
                    <a:pt x="8507" y="38794"/>
                    <a:pt x="23651" y="23651"/>
                  </a:cubicBezTo>
                  <a:cubicBezTo>
                    <a:pt x="38794" y="8507"/>
                    <a:pt x="59332" y="0"/>
                    <a:pt x="80748" y="0"/>
                  </a:cubicBezTo>
                  <a:close/>
                </a:path>
              </a:pathLst>
            </a:custGeom>
            <a:solidFill>
              <a:srgbClr val="626EF5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710399" cy="1710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60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8756348" y="4293519"/>
            <a:ext cx="9525" cy="1461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01"/>
              </a:lnSpc>
              <a:spcBef>
                <a:spcPct val="0"/>
              </a:spcBef>
            </a:pPr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1028700" y="1038225"/>
            <a:ext cx="9173529" cy="89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12"/>
              </a:lnSpc>
            </a:pPr>
            <a:r>
              <a:rPr lang="en-US" sz="5937" spc="-48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Comparing </a:t>
            </a:r>
            <a:r>
              <a:rPr lang="en-US" sz="5937" b="1" spc="-48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MODELS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894196" y="2569244"/>
            <a:ext cx="1571583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LDA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03730" y="3478977"/>
            <a:ext cx="710321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200" b="1">
                <a:solidFill>
                  <a:srgbClr val="FB796D"/>
                </a:solidFill>
                <a:latin typeface="Poppins Bold"/>
                <a:ea typeface="Poppins Bold"/>
                <a:cs typeface="Poppins Bold"/>
                <a:sym typeface="Poppins Bold"/>
              </a:rPr>
              <a:t>Probabilistic</a:t>
            </a:r>
            <a:r>
              <a:rPr lang="en-US" sz="2200">
                <a:solidFill>
                  <a:srgbClr val="373736"/>
                </a:solidFill>
                <a:latin typeface="Poppins"/>
                <a:ea typeface="Poppins"/>
                <a:cs typeface="Poppins"/>
                <a:sym typeface="Poppins"/>
              </a:rPr>
              <a:t> model where the document is a mixture of topics, topic as a distribution over words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890545" y="3436269"/>
            <a:ext cx="7025182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200" b="1">
                <a:solidFill>
                  <a:srgbClr val="40CDFF"/>
                </a:solidFill>
                <a:latin typeface="Poppins Bold"/>
                <a:ea typeface="Poppins Bold"/>
                <a:cs typeface="Poppins Bold"/>
                <a:sym typeface="Poppins Bold"/>
              </a:rPr>
              <a:t>Embedding-based</a:t>
            </a:r>
            <a:r>
              <a:rPr lang="en-US" sz="2200" b="1">
                <a:solidFill>
                  <a:srgbClr val="373736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200">
                <a:solidFill>
                  <a:srgbClr val="373736"/>
                </a:solidFill>
                <a:latin typeface="Poppins"/>
                <a:ea typeface="Poppins"/>
                <a:cs typeface="Poppins"/>
                <a:sym typeface="Poppins"/>
              </a:rPr>
              <a:t>model that uses transformer representations, HDBSCAN clustering and c-TF-IDF keyword extraction.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227236" y="2502797"/>
            <a:ext cx="235180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BERTopic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894196" y="6537239"/>
            <a:ext cx="1571583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NMF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03730" y="7446973"/>
            <a:ext cx="710321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200" b="1">
                <a:solidFill>
                  <a:srgbClr val="6877F3"/>
                </a:solidFill>
                <a:latin typeface="Poppins Bold"/>
                <a:ea typeface="Poppins Bold"/>
                <a:cs typeface="Poppins Bold"/>
                <a:sym typeface="Poppins Bold"/>
              </a:rPr>
              <a:t>Matrix factorization</a:t>
            </a:r>
            <a:r>
              <a:rPr lang="en-US" sz="2200" b="1">
                <a:solidFill>
                  <a:srgbClr val="FB796D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200">
                <a:solidFill>
                  <a:srgbClr val="373736"/>
                </a:solidFill>
                <a:latin typeface="Poppins"/>
                <a:ea typeface="Poppins"/>
                <a:cs typeface="Poppins"/>
                <a:sym typeface="Poppins"/>
              </a:rPr>
              <a:t>of the document–term matrix into topic components.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03730" y="4445919"/>
            <a:ext cx="7103212" cy="771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1" spc="10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Topic Coherence Score: </a:t>
            </a:r>
            <a:r>
              <a:rPr lang="en-US" sz="2000" spc="1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0.6632</a:t>
            </a:r>
          </a:p>
          <a:p>
            <a:pPr algn="l">
              <a:lnSpc>
                <a:spcPts val="3000"/>
              </a:lnSpc>
            </a:pPr>
            <a:r>
              <a:rPr lang="en-US" sz="2000" b="1" spc="10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Topic Diversity Score: </a:t>
            </a:r>
            <a:r>
              <a:rPr lang="en-US" sz="2000" spc="1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0.3333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03730" y="8332798"/>
            <a:ext cx="7103212" cy="771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1" spc="10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Topic Coherence Score: </a:t>
            </a:r>
            <a:r>
              <a:rPr lang="en-US" sz="2000" spc="1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0.6190</a:t>
            </a:r>
          </a:p>
          <a:p>
            <a:pPr algn="l">
              <a:lnSpc>
                <a:spcPts val="3000"/>
              </a:lnSpc>
            </a:pPr>
            <a:r>
              <a:rPr lang="en-US" sz="2000" b="1" spc="10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Topic Diversity Score: </a:t>
            </a:r>
            <a:r>
              <a:rPr lang="en-US" sz="2000" spc="1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0.6867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901587" y="5136232"/>
            <a:ext cx="7103212" cy="1152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endParaRPr/>
          </a:p>
          <a:p>
            <a:pPr algn="l">
              <a:lnSpc>
                <a:spcPts val="3000"/>
              </a:lnSpc>
            </a:pPr>
            <a:r>
              <a:rPr lang="en-US" sz="2000" b="1" spc="10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Topic Coherence Score:  </a:t>
            </a:r>
            <a:r>
              <a:rPr lang="en-US" sz="2000" spc="1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0.5393</a:t>
            </a:r>
          </a:p>
          <a:p>
            <a:pPr algn="l">
              <a:lnSpc>
                <a:spcPts val="3000"/>
              </a:lnSpc>
            </a:pPr>
            <a:r>
              <a:rPr lang="en-US" sz="2000" b="1" spc="10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Topic Diversity Score: </a:t>
            </a:r>
            <a:r>
              <a:rPr lang="en-US" sz="2000" spc="1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0.8071</a:t>
            </a:r>
          </a:p>
        </p:txBody>
      </p:sp>
      <p:sp>
        <p:nvSpPr>
          <p:cNvPr id="33" name="Freeform 33"/>
          <p:cNvSpPr/>
          <p:nvPr/>
        </p:nvSpPr>
        <p:spPr>
          <a:xfrm>
            <a:off x="14336092" y="6800119"/>
            <a:ext cx="2923232" cy="2923232"/>
          </a:xfrm>
          <a:custGeom>
            <a:avLst/>
            <a:gdLst/>
            <a:ahLst/>
            <a:cxnLst/>
            <a:rect l="l" t="t" r="r" b="b"/>
            <a:pathLst>
              <a:path w="2923232" h="2923232">
                <a:moveTo>
                  <a:pt x="0" y="0"/>
                </a:moveTo>
                <a:lnTo>
                  <a:pt x="2923232" y="0"/>
                </a:lnTo>
                <a:lnTo>
                  <a:pt x="2923232" y="2923233"/>
                </a:lnTo>
                <a:lnTo>
                  <a:pt x="0" y="29232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66428"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879000"/>
            <a:ext cx="3597590" cy="6991317"/>
          </a:xfrm>
          <a:custGeom>
            <a:avLst/>
            <a:gdLst/>
            <a:ahLst/>
            <a:cxnLst/>
            <a:rect l="l" t="t" r="r" b="b"/>
            <a:pathLst>
              <a:path w="3597590" h="6991317">
                <a:moveTo>
                  <a:pt x="0" y="0"/>
                </a:moveTo>
                <a:lnTo>
                  <a:pt x="3597590" y="0"/>
                </a:lnTo>
                <a:lnTo>
                  <a:pt x="3597590" y="6991317"/>
                </a:lnTo>
                <a:lnTo>
                  <a:pt x="0" y="69913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5335104" y="9055871"/>
            <a:ext cx="1254072" cy="1006393"/>
          </a:xfrm>
          <a:custGeom>
            <a:avLst/>
            <a:gdLst/>
            <a:ahLst/>
            <a:cxnLst/>
            <a:rect l="l" t="t" r="r" b="b"/>
            <a:pathLst>
              <a:path w="1254072" h="1006393">
                <a:moveTo>
                  <a:pt x="0" y="0"/>
                </a:moveTo>
                <a:lnTo>
                  <a:pt x="1254073" y="0"/>
                </a:lnTo>
                <a:lnTo>
                  <a:pt x="1254073" y="1006393"/>
                </a:lnTo>
                <a:lnTo>
                  <a:pt x="0" y="10063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16636802" y="9247819"/>
            <a:ext cx="1244996" cy="622498"/>
          </a:xfrm>
          <a:custGeom>
            <a:avLst/>
            <a:gdLst/>
            <a:ahLst/>
            <a:cxnLst/>
            <a:rect l="l" t="t" r="r" b="b"/>
            <a:pathLst>
              <a:path w="1244996" h="622498">
                <a:moveTo>
                  <a:pt x="0" y="0"/>
                </a:moveTo>
                <a:lnTo>
                  <a:pt x="1244996" y="0"/>
                </a:lnTo>
                <a:lnTo>
                  <a:pt x="1244996" y="622498"/>
                </a:lnTo>
                <a:lnTo>
                  <a:pt x="0" y="6224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16610373" y="-585185"/>
            <a:ext cx="2187184" cy="2201864"/>
          </a:xfrm>
          <a:custGeom>
            <a:avLst/>
            <a:gdLst/>
            <a:ahLst/>
            <a:cxnLst/>
            <a:rect l="l" t="t" r="r" b="b"/>
            <a:pathLst>
              <a:path w="2187184" h="2201864">
                <a:moveTo>
                  <a:pt x="0" y="0"/>
                </a:moveTo>
                <a:lnTo>
                  <a:pt x="2187184" y="0"/>
                </a:lnTo>
                <a:lnTo>
                  <a:pt x="2187184" y="2201864"/>
                </a:lnTo>
                <a:lnTo>
                  <a:pt x="0" y="22018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5982155" y="7932018"/>
            <a:ext cx="3861036" cy="1326282"/>
          </a:xfrm>
          <a:custGeom>
            <a:avLst/>
            <a:gdLst/>
            <a:ahLst/>
            <a:cxnLst/>
            <a:rect l="l" t="t" r="r" b="b"/>
            <a:pathLst>
              <a:path w="3861036" h="1326282">
                <a:moveTo>
                  <a:pt x="0" y="0"/>
                </a:moveTo>
                <a:lnTo>
                  <a:pt x="3861036" y="0"/>
                </a:lnTo>
                <a:lnTo>
                  <a:pt x="3861036" y="1326282"/>
                </a:lnTo>
                <a:lnTo>
                  <a:pt x="0" y="132628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47040" t="-351661" r="-243425" b="-66276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7" name="Group 7"/>
          <p:cNvGrpSpPr/>
          <p:nvPr/>
        </p:nvGrpSpPr>
        <p:grpSpPr>
          <a:xfrm rot="5400000">
            <a:off x="1604921" y="5798437"/>
            <a:ext cx="2445147" cy="3597590"/>
            <a:chOff x="0" y="0"/>
            <a:chExt cx="713681" cy="105019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13681" cy="1050198"/>
            </a:xfrm>
            <a:custGeom>
              <a:avLst/>
              <a:gdLst/>
              <a:ahLst/>
              <a:cxnLst/>
              <a:rect l="l" t="t" r="r" b="b"/>
              <a:pathLst>
                <a:path w="713681" h="1050198">
                  <a:moveTo>
                    <a:pt x="713681" y="0"/>
                  </a:moveTo>
                  <a:lnTo>
                    <a:pt x="713681" y="1050198"/>
                  </a:lnTo>
                  <a:lnTo>
                    <a:pt x="0" y="10501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sq">
              <a:solidFill>
                <a:srgbClr val="153CFF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713681" cy="1107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010900" y="6968919"/>
            <a:ext cx="1801495" cy="1057927"/>
            <a:chOff x="0" y="0"/>
            <a:chExt cx="2401994" cy="141057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01994" cy="1410570"/>
            </a:xfrm>
            <a:custGeom>
              <a:avLst/>
              <a:gdLst/>
              <a:ahLst/>
              <a:cxnLst/>
              <a:rect l="l" t="t" r="r" b="b"/>
              <a:pathLst>
                <a:path w="2401994" h="1410570">
                  <a:moveTo>
                    <a:pt x="0" y="0"/>
                  </a:moveTo>
                  <a:lnTo>
                    <a:pt x="2401994" y="0"/>
                  </a:lnTo>
                  <a:lnTo>
                    <a:pt x="2401994" y="1410570"/>
                  </a:lnTo>
                  <a:lnTo>
                    <a:pt x="0" y="1410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-100818" t="-329564" r="-636043" b="-219753"/>
              </a:stretch>
            </a:blipFill>
          </p:spPr>
          <p:txBody>
            <a:bodyPr/>
            <a:lstStyle/>
            <a:p>
              <a:endParaRPr lang="it-IT"/>
            </a:p>
          </p:txBody>
        </p:sp>
        <p:grpSp>
          <p:nvGrpSpPr>
            <p:cNvPr id="12" name="Group 12"/>
            <p:cNvGrpSpPr/>
            <p:nvPr/>
          </p:nvGrpSpPr>
          <p:grpSpPr>
            <a:xfrm rot="5400000">
              <a:off x="881645" y="-314297"/>
              <a:ext cx="630638" cy="2279337"/>
              <a:chOff x="0" y="0"/>
              <a:chExt cx="138051" cy="499033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38051" cy="499033"/>
              </a:xfrm>
              <a:custGeom>
                <a:avLst/>
                <a:gdLst/>
                <a:ahLst/>
                <a:cxnLst/>
                <a:rect l="l" t="t" r="r" b="b"/>
                <a:pathLst>
                  <a:path w="138051" h="499033">
                    <a:moveTo>
                      <a:pt x="138051" y="0"/>
                    </a:moveTo>
                    <a:lnTo>
                      <a:pt x="138051" y="499033"/>
                    </a:lnTo>
                    <a:lnTo>
                      <a:pt x="0" y="4990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DB6AC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57150"/>
                <a:ext cx="138051" cy="55618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4991511" y="6978444"/>
            <a:ext cx="1981289" cy="1202428"/>
          </a:xfrm>
          <a:custGeom>
            <a:avLst/>
            <a:gdLst/>
            <a:ahLst/>
            <a:cxnLst/>
            <a:rect l="l" t="t" r="r" b="b"/>
            <a:pathLst>
              <a:path w="1981289" h="1202428">
                <a:moveTo>
                  <a:pt x="0" y="0"/>
                </a:moveTo>
                <a:lnTo>
                  <a:pt x="1981289" y="0"/>
                </a:lnTo>
                <a:lnTo>
                  <a:pt x="1981289" y="1202428"/>
                </a:lnTo>
                <a:lnTo>
                  <a:pt x="0" y="12024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91669" t="-290977" r="-569250" b="-180309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6" name="Freeform 16"/>
          <p:cNvSpPr/>
          <p:nvPr/>
        </p:nvSpPr>
        <p:spPr>
          <a:xfrm>
            <a:off x="9012420" y="6978444"/>
            <a:ext cx="1982445" cy="953573"/>
          </a:xfrm>
          <a:custGeom>
            <a:avLst/>
            <a:gdLst/>
            <a:ahLst/>
            <a:cxnLst/>
            <a:rect l="l" t="t" r="r" b="b"/>
            <a:pathLst>
              <a:path w="1982445" h="953573">
                <a:moveTo>
                  <a:pt x="0" y="0"/>
                </a:moveTo>
                <a:lnTo>
                  <a:pt x="1982445" y="0"/>
                </a:lnTo>
                <a:lnTo>
                  <a:pt x="1982445" y="953574"/>
                </a:lnTo>
                <a:lnTo>
                  <a:pt x="0" y="9535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90819" t="-366914" r="-469656" b="-253462"/>
            </a:stretch>
          </a:blipFill>
        </p:spPr>
        <p:txBody>
          <a:bodyPr/>
          <a:lstStyle/>
          <a:p>
            <a:endParaRPr lang="it-IT"/>
          </a:p>
        </p:txBody>
      </p:sp>
      <p:graphicFrame>
        <p:nvGraphicFramePr>
          <p:cNvPr id="17" name="Table 17"/>
          <p:cNvGraphicFramePr>
            <a:graphicFrameLocks noGrp="1"/>
          </p:cNvGraphicFramePr>
          <p:nvPr/>
        </p:nvGraphicFramePr>
        <p:xfrm>
          <a:off x="5982155" y="2021733"/>
          <a:ext cx="11140510" cy="4626195"/>
        </p:xfrm>
        <a:graphic>
          <a:graphicData uri="http://schemas.openxmlformats.org/drawingml/2006/table">
            <a:tbl>
              <a:tblPr/>
              <a:tblGrid>
                <a:gridCol w="2342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62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41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57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717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8638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EFE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Clustering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EFE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Dim. Reduction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EFE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Silhouette 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EFE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Topic Coherence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EFE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Topic Diversity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638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HDBSCAN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UMAP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0.0385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0.5393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0.8071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638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Spectral 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Kernel PCA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-0.016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0.6919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0.5200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4305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K-Means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Kernel PCA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0.0345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0.5691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0.5267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9873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Spectral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UMAP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0.0198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0.5470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0.5733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9873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K-Means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UMAP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0.0147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0.05681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0.5400</a:t>
                      </a:r>
                      <a:endParaRPr lang="en-US" sz="1100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TextBox 18"/>
          <p:cNvSpPr txBox="1"/>
          <p:nvPr/>
        </p:nvSpPr>
        <p:spPr>
          <a:xfrm>
            <a:off x="1028700" y="1038225"/>
            <a:ext cx="9173529" cy="89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12"/>
              </a:lnSpc>
            </a:pPr>
            <a:r>
              <a:rPr lang="en-US" sz="5937" b="1" spc="-48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BERTopic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998276" y="158916"/>
            <a:ext cx="1678079" cy="732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49"/>
              </a:lnSpc>
            </a:pPr>
            <a:r>
              <a:rPr lang="en-US" sz="4953" b="1" spc="-406">
                <a:solidFill>
                  <a:srgbClr val="EBEBEC"/>
                </a:solidFill>
                <a:latin typeface="Poppins Bold"/>
                <a:ea typeface="Poppins Bold"/>
                <a:cs typeface="Poppins Bold"/>
                <a:sym typeface="Poppins Bold"/>
              </a:rPr>
              <a:t>RQ3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190381" y="7319943"/>
            <a:ext cx="1444585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b="1" spc="13">
                <a:solidFill>
                  <a:srgbClr val="FEFE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Spectral</a:t>
            </a:r>
          </a:p>
        </p:txBody>
      </p:sp>
      <p:sp>
        <p:nvSpPr>
          <p:cNvPr id="21" name="AutoShape 21"/>
          <p:cNvSpPr/>
          <p:nvPr/>
        </p:nvSpPr>
        <p:spPr>
          <a:xfrm>
            <a:off x="10994865" y="8161822"/>
            <a:ext cx="159859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22" name="AutoShape 22"/>
          <p:cNvSpPr/>
          <p:nvPr/>
        </p:nvSpPr>
        <p:spPr>
          <a:xfrm>
            <a:off x="14365362" y="6676275"/>
            <a:ext cx="0" cy="145132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triangle" w="lg" len="med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Box 23"/>
          <p:cNvSpPr txBox="1"/>
          <p:nvPr/>
        </p:nvSpPr>
        <p:spPr>
          <a:xfrm>
            <a:off x="12593455" y="7865343"/>
            <a:ext cx="1177409" cy="432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400" b="1" spc="-234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RESULTS</a:t>
            </a:r>
          </a:p>
        </p:txBody>
      </p:sp>
      <p:sp>
        <p:nvSpPr>
          <p:cNvPr id="24" name="AutoShape 24"/>
          <p:cNvSpPr/>
          <p:nvPr/>
        </p:nvSpPr>
        <p:spPr>
          <a:xfrm>
            <a:off x="13745980" y="8142772"/>
            <a:ext cx="63843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Box 25"/>
          <p:cNvSpPr txBox="1"/>
          <p:nvPr/>
        </p:nvSpPr>
        <p:spPr>
          <a:xfrm>
            <a:off x="880229" y="9858747"/>
            <a:ext cx="10370098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[Results computed using the default approach and hyperparamters, without stopword removal.]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0202229" y="2879000"/>
            <a:ext cx="1651075" cy="563710"/>
            <a:chOff x="0" y="0"/>
            <a:chExt cx="2201433" cy="876967"/>
          </a:xfrm>
        </p:grpSpPr>
        <p:grpSp>
          <p:nvGrpSpPr>
            <p:cNvPr id="27" name="Group 27"/>
            <p:cNvGrpSpPr/>
            <p:nvPr/>
          </p:nvGrpSpPr>
          <p:grpSpPr>
            <a:xfrm rot="5400000">
              <a:off x="662233" y="-662233"/>
              <a:ext cx="876967" cy="2201433"/>
              <a:chOff x="0" y="0"/>
              <a:chExt cx="191975" cy="481977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191975" cy="481977"/>
              </a:xfrm>
              <a:custGeom>
                <a:avLst/>
                <a:gdLst/>
                <a:ahLst/>
                <a:cxnLst/>
                <a:rect l="l" t="t" r="r" b="b"/>
                <a:pathLst>
                  <a:path w="191975" h="481977">
                    <a:moveTo>
                      <a:pt x="191975" y="0"/>
                    </a:moveTo>
                    <a:lnTo>
                      <a:pt x="191975" y="481977"/>
                    </a:lnTo>
                    <a:lnTo>
                      <a:pt x="0" y="48197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04775" cap="sq">
                <a:solidFill>
                  <a:srgbClr val="FB766A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57150"/>
                <a:ext cx="191975" cy="5391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 rot="5400000">
              <a:off x="662233" y="-662233"/>
              <a:ext cx="876967" cy="2201433"/>
              <a:chOff x="0" y="0"/>
              <a:chExt cx="191975" cy="481977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91975" cy="481977"/>
              </a:xfrm>
              <a:custGeom>
                <a:avLst/>
                <a:gdLst/>
                <a:ahLst/>
                <a:cxnLst/>
                <a:rect l="l" t="t" r="r" b="b"/>
                <a:pathLst>
                  <a:path w="191975" h="481977">
                    <a:moveTo>
                      <a:pt x="191975" y="0"/>
                    </a:moveTo>
                    <a:lnTo>
                      <a:pt x="191975" y="481977"/>
                    </a:lnTo>
                    <a:lnTo>
                      <a:pt x="0" y="48197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67979">
                  <a:alpha val="41961"/>
                </a:srgbClr>
              </a:solidFill>
              <a:ln w="104775" cap="sq">
                <a:solidFill>
                  <a:srgbClr val="E67979">
                    <a:alpha val="41961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57150"/>
                <a:ext cx="191975" cy="5391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</p:grpSp>
      <p:grpSp>
        <p:nvGrpSpPr>
          <p:cNvPr id="33" name="Group 33"/>
          <p:cNvGrpSpPr/>
          <p:nvPr/>
        </p:nvGrpSpPr>
        <p:grpSpPr>
          <a:xfrm>
            <a:off x="14518631" y="2809428"/>
            <a:ext cx="2604034" cy="682091"/>
            <a:chOff x="0" y="0"/>
            <a:chExt cx="3575787" cy="920946"/>
          </a:xfrm>
        </p:grpSpPr>
        <p:grpSp>
          <p:nvGrpSpPr>
            <p:cNvPr id="34" name="Group 34"/>
            <p:cNvGrpSpPr/>
            <p:nvPr/>
          </p:nvGrpSpPr>
          <p:grpSpPr>
            <a:xfrm rot="5400000">
              <a:off x="1327421" y="-1327421"/>
              <a:ext cx="920946" cy="3575787"/>
              <a:chOff x="0" y="0"/>
              <a:chExt cx="201602" cy="782875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201602" cy="782875"/>
              </a:xfrm>
              <a:custGeom>
                <a:avLst/>
                <a:gdLst/>
                <a:ahLst/>
                <a:cxnLst/>
                <a:rect l="l" t="t" r="r" b="b"/>
                <a:pathLst>
                  <a:path w="201602" h="782875">
                    <a:moveTo>
                      <a:pt x="201602" y="0"/>
                    </a:moveTo>
                    <a:lnTo>
                      <a:pt x="201602" y="782875"/>
                    </a:lnTo>
                    <a:lnTo>
                      <a:pt x="0" y="78287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04775" cap="sq">
                <a:solidFill>
                  <a:srgbClr val="FB766A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57150"/>
                <a:ext cx="201602" cy="840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 rot="5400000">
              <a:off x="1327421" y="-1327421"/>
              <a:ext cx="920946" cy="3575787"/>
              <a:chOff x="0" y="0"/>
              <a:chExt cx="201602" cy="78287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201602" cy="782875"/>
              </a:xfrm>
              <a:custGeom>
                <a:avLst/>
                <a:gdLst/>
                <a:ahLst/>
                <a:cxnLst/>
                <a:rect l="l" t="t" r="r" b="b"/>
                <a:pathLst>
                  <a:path w="201602" h="782875">
                    <a:moveTo>
                      <a:pt x="201602" y="0"/>
                    </a:moveTo>
                    <a:lnTo>
                      <a:pt x="201602" y="782875"/>
                    </a:lnTo>
                    <a:lnTo>
                      <a:pt x="0" y="78287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67979">
                  <a:alpha val="41961"/>
                </a:srgbClr>
              </a:solidFill>
              <a:ln w="104775" cap="sq">
                <a:solidFill>
                  <a:srgbClr val="E67979">
                    <a:alpha val="41961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0" y="-57150"/>
                <a:ext cx="201602" cy="840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</p:grpSp>
      <p:grpSp>
        <p:nvGrpSpPr>
          <p:cNvPr id="40" name="Group 40"/>
          <p:cNvGrpSpPr/>
          <p:nvPr/>
        </p:nvGrpSpPr>
        <p:grpSpPr>
          <a:xfrm>
            <a:off x="11751525" y="3457886"/>
            <a:ext cx="2767106" cy="644190"/>
            <a:chOff x="0" y="0"/>
            <a:chExt cx="3689475" cy="1142893"/>
          </a:xfrm>
        </p:grpSpPr>
        <p:grpSp>
          <p:nvGrpSpPr>
            <p:cNvPr id="41" name="Group 41"/>
            <p:cNvGrpSpPr/>
            <p:nvPr/>
          </p:nvGrpSpPr>
          <p:grpSpPr>
            <a:xfrm rot="5400000">
              <a:off x="1273291" y="-1273291"/>
              <a:ext cx="1142893" cy="3689475"/>
              <a:chOff x="0" y="0"/>
              <a:chExt cx="250188" cy="807766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250188" cy="807766"/>
              </a:xfrm>
              <a:custGeom>
                <a:avLst/>
                <a:gdLst/>
                <a:ahLst/>
                <a:cxnLst/>
                <a:rect l="l" t="t" r="r" b="b"/>
                <a:pathLst>
                  <a:path w="250188" h="807766">
                    <a:moveTo>
                      <a:pt x="250188" y="0"/>
                    </a:moveTo>
                    <a:lnTo>
                      <a:pt x="250188" y="807766"/>
                    </a:lnTo>
                    <a:lnTo>
                      <a:pt x="0" y="8077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04775" cap="sq">
                <a:solidFill>
                  <a:srgbClr val="FB766A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0" y="-57150"/>
                <a:ext cx="250188" cy="8649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 rot="5400000">
              <a:off x="1273291" y="-1273291"/>
              <a:ext cx="1142893" cy="3689475"/>
              <a:chOff x="0" y="0"/>
              <a:chExt cx="250188" cy="807766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250188" cy="807766"/>
              </a:xfrm>
              <a:custGeom>
                <a:avLst/>
                <a:gdLst/>
                <a:ahLst/>
                <a:cxnLst/>
                <a:rect l="l" t="t" r="r" b="b"/>
                <a:pathLst>
                  <a:path w="250188" h="807766">
                    <a:moveTo>
                      <a:pt x="250188" y="0"/>
                    </a:moveTo>
                    <a:lnTo>
                      <a:pt x="250188" y="807766"/>
                    </a:lnTo>
                    <a:lnTo>
                      <a:pt x="0" y="8077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67979">
                  <a:alpha val="41961"/>
                </a:srgbClr>
              </a:solidFill>
              <a:ln w="104775" cap="sq">
                <a:solidFill>
                  <a:srgbClr val="E67979">
                    <a:alpha val="41961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0" y="-57150"/>
                <a:ext cx="250188" cy="8649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38225"/>
            <a:ext cx="9173529" cy="89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12"/>
              </a:lnSpc>
            </a:pPr>
            <a:r>
              <a:rPr lang="en-US" sz="5937" spc="-48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Topic Modeling: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137958" y="1038225"/>
            <a:ext cx="10785777" cy="89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12"/>
              </a:lnSpc>
            </a:pPr>
            <a:r>
              <a:rPr lang="en-US" sz="5937" b="1" spc="-48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THREE APproaches COMPARED</a:t>
            </a:r>
          </a:p>
        </p:txBody>
      </p:sp>
      <p:sp>
        <p:nvSpPr>
          <p:cNvPr id="4" name="Freeform 4"/>
          <p:cNvSpPr/>
          <p:nvPr/>
        </p:nvSpPr>
        <p:spPr>
          <a:xfrm>
            <a:off x="16610373" y="-585185"/>
            <a:ext cx="2187184" cy="2201864"/>
          </a:xfrm>
          <a:custGeom>
            <a:avLst/>
            <a:gdLst/>
            <a:ahLst/>
            <a:cxnLst/>
            <a:rect l="l" t="t" r="r" b="b"/>
            <a:pathLst>
              <a:path w="2187184" h="2201864">
                <a:moveTo>
                  <a:pt x="0" y="0"/>
                </a:moveTo>
                <a:lnTo>
                  <a:pt x="2187184" y="0"/>
                </a:lnTo>
                <a:lnTo>
                  <a:pt x="2187184" y="2201864"/>
                </a:lnTo>
                <a:lnTo>
                  <a:pt x="0" y="2201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1401739" y="7519601"/>
            <a:ext cx="8951542" cy="2350716"/>
          </a:xfrm>
          <a:custGeom>
            <a:avLst/>
            <a:gdLst/>
            <a:ahLst/>
            <a:cxnLst/>
            <a:rect l="l" t="t" r="r" b="b"/>
            <a:pathLst>
              <a:path w="8951542" h="2350716">
                <a:moveTo>
                  <a:pt x="0" y="0"/>
                </a:moveTo>
                <a:lnTo>
                  <a:pt x="8951543" y="0"/>
                </a:lnTo>
                <a:lnTo>
                  <a:pt x="8951543" y="2350716"/>
                </a:lnTo>
                <a:lnTo>
                  <a:pt x="0" y="23507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7479" t="-222502" r="-33129" b="-1324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1401739" y="7744612"/>
            <a:ext cx="8951542" cy="1936242"/>
          </a:xfrm>
          <a:custGeom>
            <a:avLst/>
            <a:gdLst/>
            <a:ahLst/>
            <a:cxnLst/>
            <a:rect l="l" t="t" r="r" b="b"/>
            <a:pathLst>
              <a:path w="8951542" h="1936242">
                <a:moveTo>
                  <a:pt x="0" y="0"/>
                </a:moveTo>
                <a:lnTo>
                  <a:pt x="8951543" y="0"/>
                </a:lnTo>
                <a:lnTo>
                  <a:pt x="8951543" y="1936242"/>
                </a:lnTo>
                <a:lnTo>
                  <a:pt x="0" y="19362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1321" b="-5814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 flipH="1">
            <a:off x="1152948" y="7313140"/>
            <a:ext cx="497583" cy="421947"/>
          </a:xfrm>
          <a:custGeom>
            <a:avLst/>
            <a:gdLst/>
            <a:ahLst/>
            <a:cxnLst/>
            <a:rect l="l" t="t" r="r" b="b"/>
            <a:pathLst>
              <a:path w="497583" h="421947">
                <a:moveTo>
                  <a:pt x="497583" y="0"/>
                </a:moveTo>
                <a:lnTo>
                  <a:pt x="0" y="0"/>
                </a:lnTo>
                <a:lnTo>
                  <a:pt x="0" y="421947"/>
                </a:lnTo>
                <a:lnTo>
                  <a:pt x="497583" y="421947"/>
                </a:lnTo>
                <a:lnTo>
                  <a:pt x="49758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6449" b="-10617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8" name="Group 8"/>
          <p:cNvGrpSpPr/>
          <p:nvPr/>
        </p:nvGrpSpPr>
        <p:grpSpPr>
          <a:xfrm>
            <a:off x="1028700" y="4359923"/>
            <a:ext cx="9324582" cy="2667467"/>
            <a:chOff x="0" y="0"/>
            <a:chExt cx="12432775" cy="3556623"/>
          </a:xfrm>
        </p:grpSpPr>
        <p:sp>
          <p:nvSpPr>
            <p:cNvPr id="9" name="Freeform 9"/>
            <p:cNvSpPr/>
            <p:nvPr/>
          </p:nvSpPr>
          <p:spPr>
            <a:xfrm>
              <a:off x="474793" y="282448"/>
              <a:ext cx="11957983" cy="3274175"/>
            </a:xfrm>
            <a:custGeom>
              <a:avLst/>
              <a:gdLst/>
              <a:ahLst/>
              <a:cxnLst/>
              <a:rect l="l" t="t" r="r" b="b"/>
              <a:pathLst>
                <a:path w="11957983" h="3274175">
                  <a:moveTo>
                    <a:pt x="0" y="0"/>
                  </a:moveTo>
                  <a:lnTo>
                    <a:pt x="11957982" y="0"/>
                  </a:lnTo>
                  <a:lnTo>
                    <a:pt x="11957982" y="3274175"/>
                  </a:lnTo>
                  <a:lnTo>
                    <a:pt x="0" y="3274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87479" t="-222006" r="-33129"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Freeform 10"/>
            <p:cNvSpPr/>
            <p:nvPr/>
          </p:nvSpPr>
          <p:spPr>
            <a:xfrm flipH="1">
              <a:off x="0" y="81950"/>
              <a:ext cx="664700" cy="563661"/>
            </a:xfrm>
            <a:custGeom>
              <a:avLst/>
              <a:gdLst/>
              <a:ahLst/>
              <a:cxnLst/>
              <a:rect l="l" t="t" r="r" b="b"/>
              <a:pathLst>
                <a:path w="664700" h="563661">
                  <a:moveTo>
                    <a:pt x="664700" y="0"/>
                  </a:moveTo>
                  <a:lnTo>
                    <a:pt x="0" y="0"/>
                  </a:lnTo>
                  <a:lnTo>
                    <a:pt x="0" y="563661"/>
                  </a:lnTo>
                  <a:lnTo>
                    <a:pt x="664700" y="563661"/>
                  </a:lnTo>
                  <a:lnTo>
                    <a:pt x="66470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-26449" b="-10617"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05401" y="0"/>
              <a:ext cx="3779238" cy="5648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24"/>
                </a:lnSpc>
              </a:pPr>
              <a:r>
                <a:rPr lang="en-US" sz="2800" b="1" spc="-229">
                  <a:solidFill>
                    <a:srgbClr val="FB766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SEMI-SUPERVISED 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474793" y="645611"/>
              <a:ext cx="11957983" cy="2586544"/>
            </a:xfrm>
            <a:custGeom>
              <a:avLst/>
              <a:gdLst/>
              <a:ahLst/>
              <a:cxnLst/>
              <a:rect l="l" t="t" r="r" b="b"/>
              <a:pathLst>
                <a:path w="11957983" h="2586544">
                  <a:moveTo>
                    <a:pt x="0" y="0"/>
                  </a:moveTo>
                  <a:lnTo>
                    <a:pt x="11957982" y="0"/>
                  </a:lnTo>
                  <a:lnTo>
                    <a:pt x="11957982" y="2586543"/>
                  </a:lnTo>
                  <a:lnTo>
                    <a:pt x="0" y="25865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1321" b="-5814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45406" y="2565962"/>
            <a:ext cx="9007875" cy="1457259"/>
            <a:chOff x="0" y="0"/>
            <a:chExt cx="12010500" cy="194301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010500" cy="1943012"/>
            </a:xfrm>
            <a:custGeom>
              <a:avLst/>
              <a:gdLst/>
              <a:ahLst/>
              <a:cxnLst/>
              <a:rect l="l" t="t" r="r" b="b"/>
              <a:pathLst>
                <a:path w="12010500" h="1943012">
                  <a:moveTo>
                    <a:pt x="0" y="0"/>
                  </a:moveTo>
                  <a:lnTo>
                    <a:pt x="12010500" y="0"/>
                  </a:lnTo>
                  <a:lnTo>
                    <a:pt x="12010500" y="1943012"/>
                  </a:lnTo>
                  <a:lnTo>
                    <a:pt x="0" y="1943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85956" t="-401103" r="-32954" b="-41006"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63638" y="461366"/>
              <a:ext cx="11946862" cy="1020279"/>
            </a:xfrm>
            <a:custGeom>
              <a:avLst/>
              <a:gdLst/>
              <a:ahLst/>
              <a:cxnLst/>
              <a:rect l="l" t="t" r="r" b="b"/>
              <a:pathLst>
                <a:path w="11946862" h="1020279">
                  <a:moveTo>
                    <a:pt x="0" y="0"/>
                  </a:moveTo>
                  <a:lnTo>
                    <a:pt x="11946862" y="0"/>
                  </a:lnTo>
                  <a:lnTo>
                    <a:pt x="11946862" y="1020280"/>
                  </a:lnTo>
                  <a:lnTo>
                    <a:pt x="0" y="1020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54002" b="-168005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16" name="Freeform 16"/>
          <p:cNvSpPr/>
          <p:nvPr/>
        </p:nvSpPr>
        <p:spPr>
          <a:xfrm flipH="1">
            <a:off x="1028700" y="2306305"/>
            <a:ext cx="498061" cy="422352"/>
          </a:xfrm>
          <a:custGeom>
            <a:avLst/>
            <a:gdLst/>
            <a:ahLst/>
            <a:cxnLst/>
            <a:rect l="l" t="t" r="r" b="b"/>
            <a:pathLst>
              <a:path w="498061" h="422352">
                <a:moveTo>
                  <a:pt x="498061" y="0"/>
                </a:moveTo>
                <a:lnTo>
                  <a:pt x="0" y="0"/>
                </a:lnTo>
                <a:lnTo>
                  <a:pt x="0" y="422352"/>
                </a:lnTo>
                <a:lnTo>
                  <a:pt x="498061" y="422352"/>
                </a:lnTo>
                <a:lnTo>
                  <a:pt x="498061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26449" b="-10617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7" name="AutoShape 17"/>
          <p:cNvSpPr/>
          <p:nvPr/>
        </p:nvSpPr>
        <p:spPr>
          <a:xfrm>
            <a:off x="13805845" y="5617457"/>
            <a:ext cx="83719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it-IT"/>
          </a:p>
        </p:txBody>
      </p:sp>
      <p:grpSp>
        <p:nvGrpSpPr>
          <p:cNvPr id="18" name="Group 18"/>
          <p:cNvGrpSpPr/>
          <p:nvPr/>
        </p:nvGrpSpPr>
        <p:grpSpPr>
          <a:xfrm>
            <a:off x="5455720" y="8954706"/>
            <a:ext cx="2413823" cy="726149"/>
            <a:chOff x="0" y="0"/>
            <a:chExt cx="3218431" cy="968198"/>
          </a:xfrm>
        </p:grpSpPr>
        <p:grpSp>
          <p:nvGrpSpPr>
            <p:cNvPr id="19" name="Group 19"/>
            <p:cNvGrpSpPr/>
            <p:nvPr/>
          </p:nvGrpSpPr>
          <p:grpSpPr>
            <a:xfrm rot="5400000">
              <a:off x="1377956" y="-1377956"/>
              <a:ext cx="457067" cy="3212978"/>
              <a:chOff x="0" y="0"/>
              <a:chExt cx="363105" cy="2552821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363105" cy="2552821"/>
              </a:xfrm>
              <a:custGeom>
                <a:avLst/>
                <a:gdLst/>
                <a:ahLst/>
                <a:cxnLst/>
                <a:rect l="l" t="t" r="r" b="b"/>
                <a:pathLst>
                  <a:path w="363105" h="2552821">
                    <a:moveTo>
                      <a:pt x="363105" y="0"/>
                    </a:moveTo>
                    <a:lnTo>
                      <a:pt x="363105" y="2552821"/>
                    </a:lnTo>
                    <a:lnTo>
                      <a:pt x="0" y="25528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57150"/>
                <a:ext cx="363105" cy="2609971"/>
              </a:xfrm>
              <a:prstGeom prst="rect">
                <a:avLst/>
              </a:prstGeom>
            </p:spPr>
            <p:txBody>
              <a:bodyPr lIns="45412" tIns="45412" rIns="45412" bIns="45412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0" y="103562"/>
              <a:ext cx="3173069" cy="2482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94"/>
                </a:lnSpc>
                <a:spcBef>
                  <a:spcPct val="0"/>
                </a:spcBef>
              </a:pPr>
              <a:r>
                <a:rPr lang="en-US" sz="1291" spc="-10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"accedere”, "login", "password"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 rot="5400000">
              <a:off x="1386474" y="-863759"/>
              <a:ext cx="450026" cy="3213888"/>
              <a:chOff x="0" y="0"/>
              <a:chExt cx="319095" cy="2279157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319095" cy="2279157"/>
              </a:xfrm>
              <a:custGeom>
                <a:avLst/>
                <a:gdLst/>
                <a:ahLst/>
                <a:cxnLst/>
                <a:rect l="l" t="t" r="r" b="b"/>
                <a:pathLst>
                  <a:path w="319095" h="2279157">
                    <a:moveTo>
                      <a:pt x="319095" y="0"/>
                    </a:moveTo>
                    <a:lnTo>
                      <a:pt x="319095" y="2279157"/>
                    </a:lnTo>
                    <a:lnTo>
                      <a:pt x="0" y="2279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57150"/>
                <a:ext cx="319095" cy="2336307"/>
              </a:xfrm>
              <a:prstGeom prst="rect">
                <a:avLst/>
              </a:prstGeom>
            </p:spPr>
            <p:txBody>
              <a:bodyPr lIns="45412" tIns="45412" rIns="45412" bIns="45412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4543" y="614693"/>
              <a:ext cx="3213888" cy="2482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94"/>
                </a:lnSpc>
                <a:spcBef>
                  <a:spcPct val="0"/>
                </a:spcBef>
              </a:pPr>
              <a:r>
                <a:rPr lang="en-US" sz="1291" spc="-10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"assistenza", "supporto", "operatori"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455720" y="6015055"/>
            <a:ext cx="1364476" cy="810337"/>
            <a:chOff x="0" y="0"/>
            <a:chExt cx="1819301" cy="1080449"/>
          </a:xfrm>
        </p:grpSpPr>
        <p:grpSp>
          <p:nvGrpSpPr>
            <p:cNvPr id="28" name="Group 28"/>
            <p:cNvGrpSpPr/>
            <p:nvPr/>
          </p:nvGrpSpPr>
          <p:grpSpPr>
            <a:xfrm>
              <a:off x="126441" y="725738"/>
              <a:ext cx="252881" cy="252881"/>
              <a:chOff x="0" y="0"/>
              <a:chExt cx="104158" cy="104158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04158" cy="104158"/>
              </a:xfrm>
              <a:custGeom>
                <a:avLst/>
                <a:gdLst/>
                <a:ahLst/>
                <a:cxnLst/>
                <a:rect l="l" t="t" r="r" b="b"/>
                <a:pathLst>
                  <a:path w="104158" h="104158">
                    <a:moveTo>
                      <a:pt x="0" y="0"/>
                    </a:moveTo>
                    <a:lnTo>
                      <a:pt x="104158" y="0"/>
                    </a:lnTo>
                    <a:lnTo>
                      <a:pt x="104158" y="104158"/>
                    </a:lnTo>
                    <a:lnTo>
                      <a:pt x="0" y="104158"/>
                    </a:lnTo>
                    <a:close/>
                  </a:path>
                </a:pathLst>
              </a:custGeom>
              <a:solidFill>
                <a:srgbClr val="6877F3"/>
              </a:soli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57150"/>
                <a:ext cx="104158" cy="1613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442030" y="725738"/>
              <a:ext cx="252881" cy="252881"/>
              <a:chOff x="0" y="0"/>
              <a:chExt cx="104158" cy="104158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04158" cy="104158"/>
              </a:xfrm>
              <a:custGeom>
                <a:avLst/>
                <a:gdLst/>
                <a:ahLst/>
                <a:cxnLst/>
                <a:rect l="l" t="t" r="r" b="b"/>
                <a:pathLst>
                  <a:path w="104158" h="104158">
                    <a:moveTo>
                      <a:pt x="0" y="0"/>
                    </a:moveTo>
                    <a:lnTo>
                      <a:pt x="104158" y="0"/>
                    </a:lnTo>
                    <a:lnTo>
                      <a:pt x="104158" y="104158"/>
                    </a:lnTo>
                    <a:lnTo>
                      <a:pt x="0" y="104158"/>
                    </a:lnTo>
                    <a:close/>
                  </a:path>
                </a:pathLst>
              </a:custGeom>
              <a:solidFill>
                <a:srgbClr val="6877F3"/>
              </a:soli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57150"/>
                <a:ext cx="104158" cy="1613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  <p:sp>
          <p:nvSpPr>
            <p:cNvPr id="34" name="Freeform 34"/>
            <p:cNvSpPr/>
            <p:nvPr/>
          </p:nvSpPr>
          <p:spPr>
            <a:xfrm>
              <a:off x="755818" y="725738"/>
              <a:ext cx="252881" cy="252881"/>
            </a:xfrm>
            <a:custGeom>
              <a:avLst/>
              <a:gdLst/>
              <a:ahLst/>
              <a:cxnLst/>
              <a:rect l="l" t="t" r="r" b="b"/>
              <a:pathLst>
                <a:path w="252881" h="252881">
                  <a:moveTo>
                    <a:pt x="0" y="0"/>
                  </a:moveTo>
                  <a:lnTo>
                    <a:pt x="252881" y="0"/>
                  </a:lnTo>
                  <a:lnTo>
                    <a:pt x="252881" y="252881"/>
                  </a:lnTo>
                  <a:lnTo>
                    <a:pt x="0" y="2528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1052336" y="741499"/>
              <a:ext cx="273732" cy="237120"/>
            </a:xfrm>
            <a:custGeom>
              <a:avLst/>
              <a:gdLst/>
              <a:ahLst/>
              <a:cxnLst/>
              <a:rect l="l" t="t" r="r" b="b"/>
              <a:pathLst>
                <a:path w="273732" h="237120">
                  <a:moveTo>
                    <a:pt x="0" y="0"/>
                  </a:moveTo>
                  <a:lnTo>
                    <a:pt x="273732" y="0"/>
                  </a:lnTo>
                  <a:lnTo>
                    <a:pt x="273732" y="237120"/>
                  </a:lnTo>
                  <a:lnTo>
                    <a:pt x="0" y="237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36" name="Freeform 36"/>
            <p:cNvSpPr/>
            <p:nvPr/>
          </p:nvSpPr>
          <p:spPr>
            <a:xfrm>
              <a:off x="1386974" y="741499"/>
              <a:ext cx="248728" cy="237120"/>
            </a:xfrm>
            <a:custGeom>
              <a:avLst/>
              <a:gdLst/>
              <a:ahLst/>
              <a:cxnLst/>
              <a:rect l="l" t="t" r="r" b="b"/>
              <a:pathLst>
                <a:path w="248728" h="237120">
                  <a:moveTo>
                    <a:pt x="0" y="0"/>
                  </a:moveTo>
                  <a:lnTo>
                    <a:pt x="248728" y="0"/>
                  </a:lnTo>
                  <a:lnTo>
                    <a:pt x="248728" y="237120"/>
                  </a:lnTo>
                  <a:lnTo>
                    <a:pt x="0" y="237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116015" y="438527"/>
              <a:ext cx="273732" cy="237120"/>
            </a:xfrm>
            <a:custGeom>
              <a:avLst/>
              <a:gdLst/>
              <a:ahLst/>
              <a:cxnLst/>
              <a:rect l="l" t="t" r="r" b="b"/>
              <a:pathLst>
                <a:path w="273732" h="237120">
                  <a:moveTo>
                    <a:pt x="0" y="0"/>
                  </a:moveTo>
                  <a:lnTo>
                    <a:pt x="273732" y="0"/>
                  </a:lnTo>
                  <a:lnTo>
                    <a:pt x="273732" y="237121"/>
                  </a:lnTo>
                  <a:lnTo>
                    <a:pt x="0" y="237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442030" y="422767"/>
              <a:ext cx="252881" cy="252881"/>
            </a:xfrm>
            <a:custGeom>
              <a:avLst/>
              <a:gdLst/>
              <a:ahLst/>
              <a:cxnLst/>
              <a:rect l="l" t="t" r="r" b="b"/>
              <a:pathLst>
                <a:path w="252881" h="252881">
                  <a:moveTo>
                    <a:pt x="0" y="0"/>
                  </a:moveTo>
                  <a:lnTo>
                    <a:pt x="252881" y="0"/>
                  </a:lnTo>
                  <a:lnTo>
                    <a:pt x="252881" y="252881"/>
                  </a:lnTo>
                  <a:lnTo>
                    <a:pt x="0" y="2528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39" name="Freeform 39"/>
            <p:cNvSpPr/>
            <p:nvPr/>
          </p:nvSpPr>
          <p:spPr>
            <a:xfrm>
              <a:off x="126441" y="139729"/>
              <a:ext cx="252881" cy="252881"/>
            </a:xfrm>
            <a:custGeom>
              <a:avLst/>
              <a:gdLst/>
              <a:ahLst/>
              <a:cxnLst/>
              <a:rect l="l" t="t" r="r" b="b"/>
              <a:pathLst>
                <a:path w="252881" h="252881">
                  <a:moveTo>
                    <a:pt x="0" y="0"/>
                  </a:moveTo>
                  <a:lnTo>
                    <a:pt x="252881" y="0"/>
                  </a:lnTo>
                  <a:lnTo>
                    <a:pt x="252881" y="252882"/>
                  </a:lnTo>
                  <a:lnTo>
                    <a:pt x="0" y="252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442030" y="139729"/>
              <a:ext cx="252881" cy="252881"/>
            </a:xfrm>
            <a:custGeom>
              <a:avLst/>
              <a:gdLst/>
              <a:ahLst/>
              <a:cxnLst/>
              <a:rect l="l" t="t" r="r" b="b"/>
              <a:pathLst>
                <a:path w="252881" h="252881">
                  <a:moveTo>
                    <a:pt x="0" y="0"/>
                  </a:moveTo>
                  <a:lnTo>
                    <a:pt x="252881" y="0"/>
                  </a:lnTo>
                  <a:lnTo>
                    <a:pt x="252881" y="252882"/>
                  </a:lnTo>
                  <a:lnTo>
                    <a:pt x="0" y="252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41" name="Freeform 41"/>
            <p:cNvSpPr/>
            <p:nvPr/>
          </p:nvSpPr>
          <p:spPr>
            <a:xfrm>
              <a:off x="755818" y="430647"/>
              <a:ext cx="252881" cy="252881"/>
            </a:xfrm>
            <a:custGeom>
              <a:avLst/>
              <a:gdLst/>
              <a:ahLst/>
              <a:cxnLst/>
              <a:rect l="l" t="t" r="r" b="b"/>
              <a:pathLst>
                <a:path w="252881" h="252881">
                  <a:moveTo>
                    <a:pt x="0" y="0"/>
                  </a:moveTo>
                  <a:lnTo>
                    <a:pt x="252881" y="0"/>
                  </a:lnTo>
                  <a:lnTo>
                    <a:pt x="252881" y="252881"/>
                  </a:lnTo>
                  <a:lnTo>
                    <a:pt x="0" y="2528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42" name="Freeform 42"/>
            <p:cNvSpPr/>
            <p:nvPr/>
          </p:nvSpPr>
          <p:spPr>
            <a:xfrm>
              <a:off x="1073187" y="438527"/>
              <a:ext cx="252881" cy="252881"/>
            </a:xfrm>
            <a:custGeom>
              <a:avLst/>
              <a:gdLst/>
              <a:ahLst/>
              <a:cxnLst/>
              <a:rect l="l" t="t" r="r" b="b"/>
              <a:pathLst>
                <a:path w="252881" h="252881">
                  <a:moveTo>
                    <a:pt x="0" y="0"/>
                  </a:moveTo>
                  <a:lnTo>
                    <a:pt x="252881" y="0"/>
                  </a:lnTo>
                  <a:lnTo>
                    <a:pt x="252881" y="252882"/>
                  </a:lnTo>
                  <a:lnTo>
                    <a:pt x="0" y="252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43" name="Freeform 43"/>
            <p:cNvSpPr/>
            <p:nvPr/>
          </p:nvSpPr>
          <p:spPr>
            <a:xfrm>
              <a:off x="1380884" y="422767"/>
              <a:ext cx="252881" cy="252881"/>
            </a:xfrm>
            <a:custGeom>
              <a:avLst/>
              <a:gdLst/>
              <a:ahLst/>
              <a:cxnLst/>
              <a:rect l="l" t="t" r="r" b="b"/>
              <a:pathLst>
                <a:path w="252881" h="252881">
                  <a:moveTo>
                    <a:pt x="0" y="0"/>
                  </a:moveTo>
                  <a:lnTo>
                    <a:pt x="252881" y="0"/>
                  </a:lnTo>
                  <a:lnTo>
                    <a:pt x="252881" y="252881"/>
                  </a:lnTo>
                  <a:lnTo>
                    <a:pt x="0" y="2528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44" name="Freeform 44"/>
            <p:cNvSpPr/>
            <p:nvPr/>
          </p:nvSpPr>
          <p:spPr>
            <a:xfrm>
              <a:off x="750229" y="139729"/>
              <a:ext cx="252881" cy="252881"/>
            </a:xfrm>
            <a:custGeom>
              <a:avLst/>
              <a:gdLst/>
              <a:ahLst/>
              <a:cxnLst/>
              <a:rect l="l" t="t" r="r" b="b"/>
              <a:pathLst>
                <a:path w="252881" h="252881">
                  <a:moveTo>
                    <a:pt x="0" y="0"/>
                  </a:moveTo>
                  <a:lnTo>
                    <a:pt x="252881" y="0"/>
                  </a:lnTo>
                  <a:lnTo>
                    <a:pt x="252881" y="252882"/>
                  </a:lnTo>
                  <a:lnTo>
                    <a:pt x="0" y="252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45" name="Freeform 45"/>
            <p:cNvSpPr/>
            <p:nvPr/>
          </p:nvSpPr>
          <p:spPr>
            <a:xfrm>
              <a:off x="1067597" y="147610"/>
              <a:ext cx="252881" cy="252881"/>
            </a:xfrm>
            <a:custGeom>
              <a:avLst/>
              <a:gdLst/>
              <a:ahLst/>
              <a:cxnLst/>
              <a:rect l="l" t="t" r="r" b="b"/>
              <a:pathLst>
                <a:path w="252881" h="252881">
                  <a:moveTo>
                    <a:pt x="0" y="0"/>
                  </a:moveTo>
                  <a:lnTo>
                    <a:pt x="252882" y="0"/>
                  </a:lnTo>
                  <a:lnTo>
                    <a:pt x="252882" y="252881"/>
                  </a:lnTo>
                  <a:lnTo>
                    <a:pt x="0" y="2528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1375294" y="131849"/>
              <a:ext cx="252881" cy="252881"/>
            </a:xfrm>
            <a:custGeom>
              <a:avLst/>
              <a:gdLst/>
              <a:ahLst/>
              <a:cxnLst/>
              <a:rect l="l" t="t" r="r" b="b"/>
              <a:pathLst>
                <a:path w="252881" h="252881">
                  <a:moveTo>
                    <a:pt x="0" y="0"/>
                  </a:moveTo>
                  <a:lnTo>
                    <a:pt x="252882" y="0"/>
                  </a:lnTo>
                  <a:lnTo>
                    <a:pt x="252882" y="252881"/>
                  </a:lnTo>
                  <a:lnTo>
                    <a:pt x="0" y="2528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0" y="45335"/>
              <a:ext cx="1737908" cy="1035114"/>
              <a:chOff x="0" y="0"/>
              <a:chExt cx="715817" cy="426348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715817" cy="426348"/>
              </a:xfrm>
              <a:custGeom>
                <a:avLst/>
                <a:gdLst/>
                <a:ahLst/>
                <a:cxnLst/>
                <a:rect l="l" t="t" r="r" b="b"/>
                <a:pathLst>
                  <a:path w="715817" h="426348">
                    <a:moveTo>
                      <a:pt x="0" y="0"/>
                    </a:moveTo>
                    <a:lnTo>
                      <a:pt x="715817" y="0"/>
                    </a:lnTo>
                    <a:lnTo>
                      <a:pt x="715817" y="426348"/>
                    </a:lnTo>
                    <a:lnTo>
                      <a:pt x="0" y="42634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0" y="-57150"/>
                <a:ext cx="715817" cy="4834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  <p:sp>
          <p:nvSpPr>
            <p:cNvPr id="50" name="Freeform 50"/>
            <p:cNvSpPr/>
            <p:nvPr/>
          </p:nvSpPr>
          <p:spPr>
            <a:xfrm>
              <a:off x="1582673" y="46301"/>
              <a:ext cx="155235" cy="93428"/>
            </a:xfrm>
            <a:custGeom>
              <a:avLst/>
              <a:gdLst/>
              <a:ahLst/>
              <a:cxnLst/>
              <a:rect l="l" t="t" r="r" b="b"/>
              <a:pathLst>
                <a:path w="155235" h="93428">
                  <a:moveTo>
                    <a:pt x="0" y="0"/>
                  </a:moveTo>
                  <a:lnTo>
                    <a:pt x="155235" y="0"/>
                  </a:lnTo>
                  <a:lnTo>
                    <a:pt x="155235" y="93428"/>
                  </a:lnTo>
                  <a:lnTo>
                    <a:pt x="0" y="934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-151673" t="-22979" r="-81870" b="-431217"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51" name="Freeform 51"/>
            <p:cNvSpPr/>
            <p:nvPr/>
          </p:nvSpPr>
          <p:spPr>
            <a:xfrm rot="-10071092">
              <a:off x="1582669" y="22000"/>
              <a:ext cx="224198" cy="142029"/>
            </a:xfrm>
            <a:custGeom>
              <a:avLst/>
              <a:gdLst/>
              <a:ahLst/>
              <a:cxnLst/>
              <a:rect l="l" t="t" r="r" b="b"/>
              <a:pathLst>
                <a:path w="224198" h="142029">
                  <a:moveTo>
                    <a:pt x="0" y="0"/>
                  </a:moveTo>
                  <a:lnTo>
                    <a:pt x="224198" y="0"/>
                  </a:lnTo>
                  <a:lnTo>
                    <a:pt x="224198" y="142030"/>
                  </a:lnTo>
                  <a:lnTo>
                    <a:pt x="0" y="1420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230241" y="6279723"/>
            <a:ext cx="910629" cy="423774"/>
            <a:chOff x="0" y="0"/>
            <a:chExt cx="239836" cy="111611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39836" cy="111611"/>
            </a:xfrm>
            <a:custGeom>
              <a:avLst/>
              <a:gdLst/>
              <a:ahLst/>
              <a:cxnLst/>
              <a:rect l="l" t="t" r="r" b="b"/>
              <a:pathLst>
                <a:path w="239836" h="111611">
                  <a:moveTo>
                    <a:pt x="0" y="0"/>
                  </a:moveTo>
                  <a:lnTo>
                    <a:pt x="239836" y="0"/>
                  </a:lnTo>
                  <a:lnTo>
                    <a:pt x="239836" y="111611"/>
                  </a:lnTo>
                  <a:lnTo>
                    <a:pt x="0" y="1116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47625"/>
              <a:ext cx="239836" cy="1592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r>
                <a:rPr lang="en-US" sz="14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Labels</a:t>
              </a:r>
            </a:p>
          </p:txBody>
        </p:sp>
      </p:grpSp>
      <p:sp>
        <p:nvSpPr>
          <p:cNvPr id="55" name="Freeform 55"/>
          <p:cNvSpPr/>
          <p:nvPr/>
        </p:nvSpPr>
        <p:spPr>
          <a:xfrm>
            <a:off x="4224560" y="9212998"/>
            <a:ext cx="921992" cy="292875"/>
          </a:xfrm>
          <a:custGeom>
            <a:avLst/>
            <a:gdLst/>
            <a:ahLst/>
            <a:cxnLst/>
            <a:rect l="l" t="t" r="r" b="b"/>
            <a:pathLst>
              <a:path w="921992" h="292875">
                <a:moveTo>
                  <a:pt x="0" y="0"/>
                </a:moveTo>
                <a:lnTo>
                  <a:pt x="921992" y="0"/>
                </a:lnTo>
                <a:lnTo>
                  <a:pt x="921992" y="292875"/>
                </a:lnTo>
                <a:lnTo>
                  <a:pt x="0" y="29287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-4402" r="-2836" b="-11624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6" name="TextBox 56"/>
          <p:cNvSpPr txBox="1"/>
          <p:nvPr/>
        </p:nvSpPr>
        <p:spPr>
          <a:xfrm>
            <a:off x="17042759" y="158916"/>
            <a:ext cx="1678079" cy="732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49"/>
              </a:lnSpc>
            </a:pPr>
            <a:r>
              <a:rPr lang="en-US" sz="4953" b="1" spc="-406">
                <a:solidFill>
                  <a:srgbClr val="EBEBEC"/>
                </a:solidFill>
                <a:latin typeface="Poppins Bold"/>
                <a:ea typeface="Poppins Bold"/>
                <a:cs typeface="Poppins Bold"/>
                <a:sym typeface="Poppins Bold"/>
              </a:rPr>
              <a:t>RQ4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650531" y="7255990"/>
            <a:ext cx="1674429" cy="423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800" b="1" spc="-229">
                <a:solidFill>
                  <a:srgbClr val="40CDFF"/>
                </a:solidFill>
                <a:latin typeface="Poppins Bold"/>
                <a:ea typeface="Poppins Bold"/>
                <a:cs typeface="Poppins Bold"/>
                <a:sym typeface="Poppins Bold"/>
              </a:rPr>
              <a:t>GUIDED 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650531" y="2354126"/>
            <a:ext cx="2407962" cy="423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800" b="1" spc="-229">
                <a:solidFill>
                  <a:srgbClr val="153CFF"/>
                </a:solidFill>
                <a:latin typeface="Poppins Bold"/>
                <a:ea typeface="Poppins Bold"/>
                <a:cs typeface="Poppins Bold"/>
                <a:sym typeface="Poppins Bold"/>
              </a:rPr>
              <a:t>TRADITIONAL 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0856983" y="5066746"/>
            <a:ext cx="2841158" cy="9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8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subset of </a:t>
            </a:r>
            <a:r>
              <a:rPr lang="en-US" sz="18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15% 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of the reviews, </a:t>
            </a:r>
            <a:r>
              <a:rPr lang="en-US" sz="18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labeled 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using the company’s system, is used as supervision.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4794349" y="4838146"/>
            <a:ext cx="2909616" cy="140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8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labels provides partial supervision by guiding the UMAP embedding space to bring documents with the same label</a:t>
            </a:r>
            <a:r>
              <a:rPr lang="en-US" sz="18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closer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0856983" y="7853577"/>
            <a:ext cx="2948862" cy="1381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8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Manually defined </a:t>
            </a:r>
            <a:r>
              <a:rPr lang="en-US" sz="18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seed topics 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are provided to BERTopic to assign reviews to the most similar predefined topic.</a:t>
            </a:r>
          </a:p>
          <a:p>
            <a:pPr algn="ctr">
              <a:lnSpc>
                <a:spcPts val="144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id="62" name="AutoShape 62"/>
          <p:cNvSpPr/>
          <p:nvPr/>
        </p:nvSpPr>
        <p:spPr>
          <a:xfrm>
            <a:off x="13805845" y="8550968"/>
            <a:ext cx="83719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it-IT"/>
          </a:p>
        </p:txBody>
      </p:sp>
      <p:sp>
        <p:nvSpPr>
          <p:cNvPr id="63" name="TextBox 63"/>
          <p:cNvSpPr txBox="1"/>
          <p:nvPr/>
        </p:nvSpPr>
        <p:spPr>
          <a:xfrm>
            <a:off x="14880667" y="7853577"/>
            <a:ext cx="2823298" cy="1176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8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During </a:t>
            </a:r>
            <a:r>
              <a:rPr lang="en-US" sz="18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c-TF-IDF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phase, seed words are upweighted to increase their prominence in topic representations.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38225"/>
            <a:ext cx="9173529" cy="89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12"/>
              </a:lnSpc>
            </a:pPr>
            <a:r>
              <a:rPr lang="en-US" sz="5937" spc="-48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Topic Modeling: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137958" y="1038225"/>
            <a:ext cx="10785777" cy="89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12"/>
              </a:lnSpc>
            </a:pPr>
            <a:r>
              <a:rPr lang="en-US" sz="5937" b="1" spc="-48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THREE APproaches COMPARED</a:t>
            </a:r>
          </a:p>
        </p:txBody>
      </p:sp>
      <p:sp>
        <p:nvSpPr>
          <p:cNvPr id="4" name="Freeform 4"/>
          <p:cNvSpPr/>
          <p:nvPr/>
        </p:nvSpPr>
        <p:spPr>
          <a:xfrm>
            <a:off x="16610373" y="-585185"/>
            <a:ext cx="2187184" cy="2201864"/>
          </a:xfrm>
          <a:custGeom>
            <a:avLst/>
            <a:gdLst/>
            <a:ahLst/>
            <a:cxnLst/>
            <a:rect l="l" t="t" r="r" b="b"/>
            <a:pathLst>
              <a:path w="2187184" h="2201864">
                <a:moveTo>
                  <a:pt x="0" y="0"/>
                </a:moveTo>
                <a:lnTo>
                  <a:pt x="2187184" y="0"/>
                </a:lnTo>
                <a:lnTo>
                  <a:pt x="2187184" y="2201864"/>
                </a:lnTo>
                <a:lnTo>
                  <a:pt x="0" y="2201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1401739" y="7519601"/>
            <a:ext cx="8951542" cy="2350716"/>
          </a:xfrm>
          <a:custGeom>
            <a:avLst/>
            <a:gdLst/>
            <a:ahLst/>
            <a:cxnLst/>
            <a:rect l="l" t="t" r="r" b="b"/>
            <a:pathLst>
              <a:path w="8951542" h="2350716">
                <a:moveTo>
                  <a:pt x="0" y="0"/>
                </a:moveTo>
                <a:lnTo>
                  <a:pt x="8951543" y="0"/>
                </a:lnTo>
                <a:lnTo>
                  <a:pt x="8951543" y="2350716"/>
                </a:lnTo>
                <a:lnTo>
                  <a:pt x="0" y="23507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7479" t="-222502" r="-33129" b="-1324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1401739" y="7744612"/>
            <a:ext cx="8951542" cy="1936242"/>
          </a:xfrm>
          <a:custGeom>
            <a:avLst/>
            <a:gdLst/>
            <a:ahLst/>
            <a:cxnLst/>
            <a:rect l="l" t="t" r="r" b="b"/>
            <a:pathLst>
              <a:path w="8951542" h="1936242">
                <a:moveTo>
                  <a:pt x="0" y="0"/>
                </a:moveTo>
                <a:lnTo>
                  <a:pt x="8951543" y="0"/>
                </a:lnTo>
                <a:lnTo>
                  <a:pt x="8951543" y="1936242"/>
                </a:lnTo>
                <a:lnTo>
                  <a:pt x="0" y="19362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1321" b="-5814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 flipH="1">
            <a:off x="1152948" y="7313140"/>
            <a:ext cx="497583" cy="421947"/>
          </a:xfrm>
          <a:custGeom>
            <a:avLst/>
            <a:gdLst/>
            <a:ahLst/>
            <a:cxnLst/>
            <a:rect l="l" t="t" r="r" b="b"/>
            <a:pathLst>
              <a:path w="497583" h="421947">
                <a:moveTo>
                  <a:pt x="497583" y="0"/>
                </a:moveTo>
                <a:lnTo>
                  <a:pt x="0" y="0"/>
                </a:lnTo>
                <a:lnTo>
                  <a:pt x="0" y="421947"/>
                </a:lnTo>
                <a:lnTo>
                  <a:pt x="497583" y="421947"/>
                </a:lnTo>
                <a:lnTo>
                  <a:pt x="49758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6449" b="-10617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8" name="Group 8"/>
          <p:cNvGrpSpPr/>
          <p:nvPr/>
        </p:nvGrpSpPr>
        <p:grpSpPr>
          <a:xfrm>
            <a:off x="1028700" y="4359923"/>
            <a:ext cx="9324582" cy="2667467"/>
            <a:chOff x="0" y="0"/>
            <a:chExt cx="12432775" cy="3556623"/>
          </a:xfrm>
        </p:grpSpPr>
        <p:sp>
          <p:nvSpPr>
            <p:cNvPr id="9" name="Freeform 9"/>
            <p:cNvSpPr/>
            <p:nvPr/>
          </p:nvSpPr>
          <p:spPr>
            <a:xfrm>
              <a:off x="474793" y="282448"/>
              <a:ext cx="11957983" cy="3274175"/>
            </a:xfrm>
            <a:custGeom>
              <a:avLst/>
              <a:gdLst/>
              <a:ahLst/>
              <a:cxnLst/>
              <a:rect l="l" t="t" r="r" b="b"/>
              <a:pathLst>
                <a:path w="11957983" h="3274175">
                  <a:moveTo>
                    <a:pt x="0" y="0"/>
                  </a:moveTo>
                  <a:lnTo>
                    <a:pt x="11957982" y="0"/>
                  </a:lnTo>
                  <a:lnTo>
                    <a:pt x="11957982" y="3274175"/>
                  </a:lnTo>
                  <a:lnTo>
                    <a:pt x="0" y="3274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87479" t="-222006" r="-33129"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Freeform 10"/>
            <p:cNvSpPr/>
            <p:nvPr/>
          </p:nvSpPr>
          <p:spPr>
            <a:xfrm flipH="1">
              <a:off x="0" y="81950"/>
              <a:ext cx="664700" cy="563661"/>
            </a:xfrm>
            <a:custGeom>
              <a:avLst/>
              <a:gdLst/>
              <a:ahLst/>
              <a:cxnLst/>
              <a:rect l="l" t="t" r="r" b="b"/>
              <a:pathLst>
                <a:path w="664700" h="563661">
                  <a:moveTo>
                    <a:pt x="664700" y="0"/>
                  </a:moveTo>
                  <a:lnTo>
                    <a:pt x="0" y="0"/>
                  </a:lnTo>
                  <a:lnTo>
                    <a:pt x="0" y="563661"/>
                  </a:lnTo>
                  <a:lnTo>
                    <a:pt x="664700" y="563661"/>
                  </a:lnTo>
                  <a:lnTo>
                    <a:pt x="66470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-26449" b="-10617"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05401" y="0"/>
              <a:ext cx="3779238" cy="5648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24"/>
                </a:lnSpc>
              </a:pPr>
              <a:r>
                <a:rPr lang="en-US" sz="2800" b="1" spc="-229">
                  <a:solidFill>
                    <a:srgbClr val="FB766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SEMI-SUPERVISED 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474793" y="645611"/>
              <a:ext cx="11957983" cy="2586544"/>
            </a:xfrm>
            <a:custGeom>
              <a:avLst/>
              <a:gdLst/>
              <a:ahLst/>
              <a:cxnLst/>
              <a:rect l="l" t="t" r="r" b="b"/>
              <a:pathLst>
                <a:path w="11957983" h="2586544">
                  <a:moveTo>
                    <a:pt x="0" y="0"/>
                  </a:moveTo>
                  <a:lnTo>
                    <a:pt x="11957982" y="0"/>
                  </a:lnTo>
                  <a:lnTo>
                    <a:pt x="11957982" y="2586543"/>
                  </a:lnTo>
                  <a:lnTo>
                    <a:pt x="0" y="25865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1321" b="-5814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45406" y="2565962"/>
            <a:ext cx="9007875" cy="1457259"/>
            <a:chOff x="0" y="0"/>
            <a:chExt cx="12010500" cy="194301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010500" cy="1943012"/>
            </a:xfrm>
            <a:custGeom>
              <a:avLst/>
              <a:gdLst/>
              <a:ahLst/>
              <a:cxnLst/>
              <a:rect l="l" t="t" r="r" b="b"/>
              <a:pathLst>
                <a:path w="12010500" h="1943012">
                  <a:moveTo>
                    <a:pt x="0" y="0"/>
                  </a:moveTo>
                  <a:lnTo>
                    <a:pt x="12010500" y="0"/>
                  </a:lnTo>
                  <a:lnTo>
                    <a:pt x="12010500" y="1943012"/>
                  </a:lnTo>
                  <a:lnTo>
                    <a:pt x="0" y="1943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85956" t="-401103" r="-32954" b="-41006"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63638" y="461366"/>
              <a:ext cx="11946862" cy="1020279"/>
            </a:xfrm>
            <a:custGeom>
              <a:avLst/>
              <a:gdLst/>
              <a:ahLst/>
              <a:cxnLst/>
              <a:rect l="l" t="t" r="r" b="b"/>
              <a:pathLst>
                <a:path w="11946862" h="1020279">
                  <a:moveTo>
                    <a:pt x="0" y="0"/>
                  </a:moveTo>
                  <a:lnTo>
                    <a:pt x="11946862" y="0"/>
                  </a:lnTo>
                  <a:lnTo>
                    <a:pt x="11946862" y="1020280"/>
                  </a:lnTo>
                  <a:lnTo>
                    <a:pt x="0" y="1020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54002" b="-168005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16" name="Freeform 16"/>
          <p:cNvSpPr/>
          <p:nvPr/>
        </p:nvSpPr>
        <p:spPr>
          <a:xfrm flipH="1">
            <a:off x="1028700" y="2306305"/>
            <a:ext cx="498061" cy="422352"/>
          </a:xfrm>
          <a:custGeom>
            <a:avLst/>
            <a:gdLst/>
            <a:ahLst/>
            <a:cxnLst/>
            <a:rect l="l" t="t" r="r" b="b"/>
            <a:pathLst>
              <a:path w="498061" h="422352">
                <a:moveTo>
                  <a:pt x="498061" y="0"/>
                </a:moveTo>
                <a:lnTo>
                  <a:pt x="0" y="0"/>
                </a:lnTo>
                <a:lnTo>
                  <a:pt x="0" y="422352"/>
                </a:lnTo>
                <a:lnTo>
                  <a:pt x="498061" y="422352"/>
                </a:lnTo>
                <a:lnTo>
                  <a:pt x="498061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26449" b="-10617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17" name="Group 17"/>
          <p:cNvGrpSpPr/>
          <p:nvPr/>
        </p:nvGrpSpPr>
        <p:grpSpPr>
          <a:xfrm>
            <a:off x="5455720" y="8954706"/>
            <a:ext cx="2413823" cy="726149"/>
            <a:chOff x="0" y="0"/>
            <a:chExt cx="3218431" cy="968198"/>
          </a:xfrm>
        </p:grpSpPr>
        <p:grpSp>
          <p:nvGrpSpPr>
            <p:cNvPr id="18" name="Group 18"/>
            <p:cNvGrpSpPr/>
            <p:nvPr/>
          </p:nvGrpSpPr>
          <p:grpSpPr>
            <a:xfrm rot="5400000">
              <a:off x="1377956" y="-1377956"/>
              <a:ext cx="457067" cy="3212978"/>
              <a:chOff x="0" y="0"/>
              <a:chExt cx="363105" cy="2552821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363105" cy="2552821"/>
              </a:xfrm>
              <a:custGeom>
                <a:avLst/>
                <a:gdLst/>
                <a:ahLst/>
                <a:cxnLst/>
                <a:rect l="l" t="t" r="r" b="b"/>
                <a:pathLst>
                  <a:path w="363105" h="2552821">
                    <a:moveTo>
                      <a:pt x="363105" y="0"/>
                    </a:moveTo>
                    <a:lnTo>
                      <a:pt x="363105" y="2552821"/>
                    </a:lnTo>
                    <a:lnTo>
                      <a:pt x="0" y="25528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57150"/>
                <a:ext cx="363105" cy="2609971"/>
              </a:xfrm>
              <a:prstGeom prst="rect">
                <a:avLst/>
              </a:prstGeom>
            </p:spPr>
            <p:txBody>
              <a:bodyPr lIns="45412" tIns="45412" rIns="45412" bIns="45412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0" y="103562"/>
              <a:ext cx="3173069" cy="2482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94"/>
                </a:lnSpc>
                <a:spcBef>
                  <a:spcPct val="0"/>
                </a:spcBef>
              </a:pPr>
              <a:r>
                <a:rPr lang="en-US" sz="1291" spc="-10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"accedere”, "login", "password"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 rot="5400000">
              <a:off x="1386474" y="-863759"/>
              <a:ext cx="450026" cy="3213888"/>
              <a:chOff x="0" y="0"/>
              <a:chExt cx="319095" cy="2279157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319095" cy="2279157"/>
              </a:xfrm>
              <a:custGeom>
                <a:avLst/>
                <a:gdLst/>
                <a:ahLst/>
                <a:cxnLst/>
                <a:rect l="l" t="t" r="r" b="b"/>
                <a:pathLst>
                  <a:path w="319095" h="2279157">
                    <a:moveTo>
                      <a:pt x="319095" y="0"/>
                    </a:moveTo>
                    <a:lnTo>
                      <a:pt x="319095" y="2279157"/>
                    </a:lnTo>
                    <a:lnTo>
                      <a:pt x="0" y="2279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57150"/>
                <a:ext cx="319095" cy="2336307"/>
              </a:xfrm>
              <a:prstGeom prst="rect">
                <a:avLst/>
              </a:prstGeom>
            </p:spPr>
            <p:txBody>
              <a:bodyPr lIns="45412" tIns="45412" rIns="45412" bIns="45412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4543" y="614693"/>
              <a:ext cx="3213888" cy="2482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94"/>
                </a:lnSpc>
                <a:spcBef>
                  <a:spcPct val="0"/>
                </a:spcBef>
              </a:pPr>
              <a:r>
                <a:rPr lang="en-US" sz="1291" spc="-10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"assistenza", "supporto", "operatori"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455720" y="6015055"/>
            <a:ext cx="1364476" cy="810337"/>
            <a:chOff x="0" y="0"/>
            <a:chExt cx="1819301" cy="1080449"/>
          </a:xfrm>
        </p:grpSpPr>
        <p:grpSp>
          <p:nvGrpSpPr>
            <p:cNvPr id="27" name="Group 27"/>
            <p:cNvGrpSpPr/>
            <p:nvPr/>
          </p:nvGrpSpPr>
          <p:grpSpPr>
            <a:xfrm>
              <a:off x="126441" y="725738"/>
              <a:ext cx="252881" cy="252881"/>
              <a:chOff x="0" y="0"/>
              <a:chExt cx="104158" cy="104158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104158" cy="104158"/>
              </a:xfrm>
              <a:custGeom>
                <a:avLst/>
                <a:gdLst/>
                <a:ahLst/>
                <a:cxnLst/>
                <a:rect l="l" t="t" r="r" b="b"/>
                <a:pathLst>
                  <a:path w="104158" h="104158">
                    <a:moveTo>
                      <a:pt x="0" y="0"/>
                    </a:moveTo>
                    <a:lnTo>
                      <a:pt x="104158" y="0"/>
                    </a:lnTo>
                    <a:lnTo>
                      <a:pt x="104158" y="104158"/>
                    </a:lnTo>
                    <a:lnTo>
                      <a:pt x="0" y="104158"/>
                    </a:lnTo>
                    <a:close/>
                  </a:path>
                </a:pathLst>
              </a:custGeom>
              <a:solidFill>
                <a:srgbClr val="6877F3"/>
              </a:soli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57150"/>
                <a:ext cx="104158" cy="1613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442030" y="725738"/>
              <a:ext cx="252881" cy="252881"/>
              <a:chOff x="0" y="0"/>
              <a:chExt cx="104158" cy="104158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04158" cy="104158"/>
              </a:xfrm>
              <a:custGeom>
                <a:avLst/>
                <a:gdLst/>
                <a:ahLst/>
                <a:cxnLst/>
                <a:rect l="l" t="t" r="r" b="b"/>
                <a:pathLst>
                  <a:path w="104158" h="104158">
                    <a:moveTo>
                      <a:pt x="0" y="0"/>
                    </a:moveTo>
                    <a:lnTo>
                      <a:pt x="104158" y="0"/>
                    </a:lnTo>
                    <a:lnTo>
                      <a:pt x="104158" y="104158"/>
                    </a:lnTo>
                    <a:lnTo>
                      <a:pt x="0" y="104158"/>
                    </a:lnTo>
                    <a:close/>
                  </a:path>
                </a:pathLst>
              </a:custGeom>
              <a:solidFill>
                <a:srgbClr val="6877F3"/>
              </a:soli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57150"/>
                <a:ext cx="104158" cy="1613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  <p:sp>
          <p:nvSpPr>
            <p:cNvPr id="33" name="Freeform 33"/>
            <p:cNvSpPr/>
            <p:nvPr/>
          </p:nvSpPr>
          <p:spPr>
            <a:xfrm>
              <a:off x="755818" y="725738"/>
              <a:ext cx="252881" cy="252881"/>
            </a:xfrm>
            <a:custGeom>
              <a:avLst/>
              <a:gdLst/>
              <a:ahLst/>
              <a:cxnLst/>
              <a:rect l="l" t="t" r="r" b="b"/>
              <a:pathLst>
                <a:path w="252881" h="252881">
                  <a:moveTo>
                    <a:pt x="0" y="0"/>
                  </a:moveTo>
                  <a:lnTo>
                    <a:pt x="252881" y="0"/>
                  </a:lnTo>
                  <a:lnTo>
                    <a:pt x="252881" y="252881"/>
                  </a:lnTo>
                  <a:lnTo>
                    <a:pt x="0" y="2528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1052336" y="741499"/>
              <a:ext cx="273732" cy="237120"/>
            </a:xfrm>
            <a:custGeom>
              <a:avLst/>
              <a:gdLst/>
              <a:ahLst/>
              <a:cxnLst/>
              <a:rect l="l" t="t" r="r" b="b"/>
              <a:pathLst>
                <a:path w="273732" h="237120">
                  <a:moveTo>
                    <a:pt x="0" y="0"/>
                  </a:moveTo>
                  <a:lnTo>
                    <a:pt x="273732" y="0"/>
                  </a:lnTo>
                  <a:lnTo>
                    <a:pt x="273732" y="237120"/>
                  </a:lnTo>
                  <a:lnTo>
                    <a:pt x="0" y="237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1386974" y="741499"/>
              <a:ext cx="248728" cy="237120"/>
            </a:xfrm>
            <a:custGeom>
              <a:avLst/>
              <a:gdLst/>
              <a:ahLst/>
              <a:cxnLst/>
              <a:rect l="l" t="t" r="r" b="b"/>
              <a:pathLst>
                <a:path w="248728" h="237120">
                  <a:moveTo>
                    <a:pt x="0" y="0"/>
                  </a:moveTo>
                  <a:lnTo>
                    <a:pt x="248728" y="0"/>
                  </a:lnTo>
                  <a:lnTo>
                    <a:pt x="248728" y="237120"/>
                  </a:lnTo>
                  <a:lnTo>
                    <a:pt x="0" y="237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36" name="Freeform 36"/>
            <p:cNvSpPr/>
            <p:nvPr/>
          </p:nvSpPr>
          <p:spPr>
            <a:xfrm>
              <a:off x="116015" y="438527"/>
              <a:ext cx="273732" cy="237120"/>
            </a:xfrm>
            <a:custGeom>
              <a:avLst/>
              <a:gdLst/>
              <a:ahLst/>
              <a:cxnLst/>
              <a:rect l="l" t="t" r="r" b="b"/>
              <a:pathLst>
                <a:path w="273732" h="237120">
                  <a:moveTo>
                    <a:pt x="0" y="0"/>
                  </a:moveTo>
                  <a:lnTo>
                    <a:pt x="273732" y="0"/>
                  </a:lnTo>
                  <a:lnTo>
                    <a:pt x="273732" y="237121"/>
                  </a:lnTo>
                  <a:lnTo>
                    <a:pt x="0" y="237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442030" y="422767"/>
              <a:ext cx="252881" cy="252881"/>
            </a:xfrm>
            <a:custGeom>
              <a:avLst/>
              <a:gdLst/>
              <a:ahLst/>
              <a:cxnLst/>
              <a:rect l="l" t="t" r="r" b="b"/>
              <a:pathLst>
                <a:path w="252881" h="252881">
                  <a:moveTo>
                    <a:pt x="0" y="0"/>
                  </a:moveTo>
                  <a:lnTo>
                    <a:pt x="252881" y="0"/>
                  </a:lnTo>
                  <a:lnTo>
                    <a:pt x="252881" y="252881"/>
                  </a:lnTo>
                  <a:lnTo>
                    <a:pt x="0" y="2528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126441" y="139729"/>
              <a:ext cx="252881" cy="252881"/>
            </a:xfrm>
            <a:custGeom>
              <a:avLst/>
              <a:gdLst/>
              <a:ahLst/>
              <a:cxnLst/>
              <a:rect l="l" t="t" r="r" b="b"/>
              <a:pathLst>
                <a:path w="252881" h="252881">
                  <a:moveTo>
                    <a:pt x="0" y="0"/>
                  </a:moveTo>
                  <a:lnTo>
                    <a:pt x="252881" y="0"/>
                  </a:lnTo>
                  <a:lnTo>
                    <a:pt x="252881" y="252882"/>
                  </a:lnTo>
                  <a:lnTo>
                    <a:pt x="0" y="252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39" name="Freeform 39"/>
            <p:cNvSpPr/>
            <p:nvPr/>
          </p:nvSpPr>
          <p:spPr>
            <a:xfrm>
              <a:off x="442030" y="139729"/>
              <a:ext cx="252881" cy="252881"/>
            </a:xfrm>
            <a:custGeom>
              <a:avLst/>
              <a:gdLst/>
              <a:ahLst/>
              <a:cxnLst/>
              <a:rect l="l" t="t" r="r" b="b"/>
              <a:pathLst>
                <a:path w="252881" h="252881">
                  <a:moveTo>
                    <a:pt x="0" y="0"/>
                  </a:moveTo>
                  <a:lnTo>
                    <a:pt x="252881" y="0"/>
                  </a:lnTo>
                  <a:lnTo>
                    <a:pt x="252881" y="252882"/>
                  </a:lnTo>
                  <a:lnTo>
                    <a:pt x="0" y="252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755818" y="430647"/>
              <a:ext cx="252881" cy="252881"/>
            </a:xfrm>
            <a:custGeom>
              <a:avLst/>
              <a:gdLst/>
              <a:ahLst/>
              <a:cxnLst/>
              <a:rect l="l" t="t" r="r" b="b"/>
              <a:pathLst>
                <a:path w="252881" h="252881">
                  <a:moveTo>
                    <a:pt x="0" y="0"/>
                  </a:moveTo>
                  <a:lnTo>
                    <a:pt x="252881" y="0"/>
                  </a:lnTo>
                  <a:lnTo>
                    <a:pt x="252881" y="252881"/>
                  </a:lnTo>
                  <a:lnTo>
                    <a:pt x="0" y="2528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41" name="Freeform 41"/>
            <p:cNvSpPr/>
            <p:nvPr/>
          </p:nvSpPr>
          <p:spPr>
            <a:xfrm>
              <a:off x="1073187" y="438527"/>
              <a:ext cx="252881" cy="252881"/>
            </a:xfrm>
            <a:custGeom>
              <a:avLst/>
              <a:gdLst/>
              <a:ahLst/>
              <a:cxnLst/>
              <a:rect l="l" t="t" r="r" b="b"/>
              <a:pathLst>
                <a:path w="252881" h="252881">
                  <a:moveTo>
                    <a:pt x="0" y="0"/>
                  </a:moveTo>
                  <a:lnTo>
                    <a:pt x="252881" y="0"/>
                  </a:lnTo>
                  <a:lnTo>
                    <a:pt x="252881" y="252882"/>
                  </a:lnTo>
                  <a:lnTo>
                    <a:pt x="0" y="252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42" name="Freeform 42"/>
            <p:cNvSpPr/>
            <p:nvPr/>
          </p:nvSpPr>
          <p:spPr>
            <a:xfrm>
              <a:off x="1380884" y="422767"/>
              <a:ext cx="252881" cy="252881"/>
            </a:xfrm>
            <a:custGeom>
              <a:avLst/>
              <a:gdLst/>
              <a:ahLst/>
              <a:cxnLst/>
              <a:rect l="l" t="t" r="r" b="b"/>
              <a:pathLst>
                <a:path w="252881" h="252881">
                  <a:moveTo>
                    <a:pt x="0" y="0"/>
                  </a:moveTo>
                  <a:lnTo>
                    <a:pt x="252881" y="0"/>
                  </a:lnTo>
                  <a:lnTo>
                    <a:pt x="252881" y="252881"/>
                  </a:lnTo>
                  <a:lnTo>
                    <a:pt x="0" y="2528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43" name="Freeform 43"/>
            <p:cNvSpPr/>
            <p:nvPr/>
          </p:nvSpPr>
          <p:spPr>
            <a:xfrm>
              <a:off x="750229" y="139729"/>
              <a:ext cx="252881" cy="252881"/>
            </a:xfrm>
            <a:custGeom>
              <a:avLst/>
              <a:gdLst/>
              <a:ahLst/>
              <a:cxnLst/>
              <a:rect l="l" t="t" r="r" b="b"/>
              <a:pathLst>
                <a:path w="252881" h="252881">
                  <a:moveTo>
                    <a:pt x="0" y="0"/>
                  </a:moveTo>
                  <a:lnTo>
                    <a:pt x="252881" y="0"/>
                  </a:lnTo>
                  <a:lnTo>
                    <a:pt x="252881" y="252882"/>
                  </a:lnTo>
                  <a:lnTo>
                    <a:pt x="0" y="252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44" name="Freeform 44"/>
            <p:cNvSpPr/>
            <p:nvPr/>
          </p:nvSpPr>
          <p:spPr>
            <a:xfrm>
              <a:off x="1067597" y="147610"/>
              <a:ext cx="252881" cy="252881"/>
            </a:xfrm>
            <a:custGeom>
              <a:avLst/>
              <a:gdLst/>
              <a:ahLst/>
              <a:cxnLst/>
              <a:rect l="l" t="t" r="r" b="b"/>
              <a:pathLst>
                <a:path w="252881" h="252881">
                  <a:moveTo>
                    <a:pt x="0" y="0"/>
                  </a:moveTo>
                  <a:lnTo>
                    <a:pt x="252882" y="0"/>
                  </a:lnTo>
                  <a:lnTo>
                    <a:pt x="252882" y="252881"/>
                  </a:lnTo>
                  <a:lnTo>
                    <a:pt x="0" y="2528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45" name="Freeform 45"/>
            <p:cNvSpPr/>
            <p:nvPr/>
          </p:nvSpPr>
          <p:spPr>
            <a:xfrm>
              <a:off x="1375294" y="131849"/>
              <a:ext cx="252881" cy="252881"/>
            </a:xfrm>
            <a:custGeom>
              <a:avLst/>
              <a:gdLst/>
              <a:ahLst/>
              <a:cxnLst/>
              <a:rect l="l" t="t" r="r" b="b"/>
              <a:pathLst>
                <a:path w="252881" h="252881">
                  <a:moveTo>
                    <a:pt x="0" y="0"/>
                  </a:moveTo>
                  <a:lnTo>
                    <a:pt x="252882" y="0"/>
                  </a:lnTo>
                  <a:lnTo>
                    <a:pt x="252882" y="252881"/>
                  </a:lnTo>
                  <a:lnTo>
                    <a:pt x="0" y="2528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0" y="45335"/>
              <a:ext cx="1737908" cy="1035114"/>
              <a:chOff x="0" y="0"/>
              <a:chExt cx="715817" cy="426348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715817" cy="426348"/>
              </a:xfrm>
              <a:custGeom>
                <a:avLst/>
                <a:gdLst/>
                <a:ahLst/>
                <a:cxnLst/>
                <a:rect l="l" t="t" r="r" b="b"/>
                <a:pathLst>
                  <a:path w="715817" h="426348">
                    <a:moveTo>
                      <a:pt x="0" y="0"/>
                    </a:moveTo>
                    <a:lnTo>
                      <a:pt x="715817" y="0"/>
                    </a:lnTo>
                    <a:lnTo>
                      <a:pt x="715817" y="426348"/>
                    </a:lnTo>
                    <a:lnTo>
                      <a:pt x="0" y="42634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0" y="-57150"/>
                <a:ext cx="715817" cy="4834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  <p:sp>
          <p:nvSpPr>
            <p:cNvPr id="49" name="Freeform 49"/>
            <p:cNvSpPr/>
            <p:nvPr/>
          </p:nvSpPr>
          <p:spPr>
            <a:xfrm>
              <a:off x="1582673" y="46301"/>
              <a:ext cx="155235" cy="93428"/>
            </a:xfrm>
            <a:custGeom>
              <a:avLst/>
              <a:gdLst/>
              <a:ahLst/>
              <a:cxnLst/>
              <a:rect l="l" t="t" r="r" b="b"/>
              <a:pathLst>
                <a:path w="155235" h="93428">
                  <a:moveTo>
                    <a:pt x="0" y="0"/>
                  </a:moveTo>
                  <a:lnTo>
                    <a:pt x="155235" y="0"/>
                  </a:lnTo>
                  <a:lnTo>
                    <a:pt x="155235" y="93428"/>
                  </a:lnTo>
                  <a:lnTo>
                    <a:pt x="0" y="934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-151673" t="-22979" r="-81870" b="-431217"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50" name="Freeform 50"/>
            <p:cNvSpPr/>
            <p:nvPr/>
          </p:nvSpPr>
          <p:spPr>
            <a:xfrm rot="-10071092">
              <a:off x="1582669" y="22000"/>
              <a:ext cx="224198" cy="142029"/>
            </a:xfrm>
            <a:custGeom>
              <a:avLst/>
              <a:gdLst/>
              <a:ahLst/>
              <a:cxnLst/>
              <a:rect l="l" t="t" r="r" b="b"/>
              <a:pathLst>
                <a:path w="224198" h="142029">
                  <a:moveTo>
                    <a:pt x="0" y="0"/>
                  </a:moveTo>
                  <a:lnTo>
                    <a:pt x="224198" y="0"/>
                  </a:lnTo>
                  <a:lnTo>
                    <a:pt x="224198" y="142030"/>
                  </a:lnTo>
                  <a:lnTo>
                    <a:pt x="0" y="1420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4230241" y="6279723"/>
            <a:ext cx="910629" cy="423774"/>
            <a:chOff x="0" y="0"/>
            <a:chExt cx="239836" cy="111611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39836" cy="111611"/>
            </a:xfrm>
            <a:custGeom>
              <a:avLst/>
              <a:gdLst/>
              <a:ahLst/>
              <a:cxnLst/>
              <a:rect l="l" t="t" r="r" b="b"/>
              <a:pathLst>
                <a:path w="239836" h="111611">
                  <a:moveTo>
                    <a:pt x="0" y="0"/>
                  </a:moveTo>
                  <a:lnTo>
                    <a:pt x="239836" y="0"/>
                  </a:lnTo>
                  <a:lnTo>
                    <a:pt x="239836" y="111611"/>
                  </a:lnTo>
                  <a:lnTo>
                    <a:pt x="0" y="1116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47625"/>
              <a:ext cx="239836" cy="1592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r>
                <a:rPr lang="en-US" sz="14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Labels</a:t>
              </a:r>
            </a:p>
          </p:txBody>
        </p:sp>
      </p:grpSp>
      <p:sp>
        <p:nvSpPr>
          <p:cNvPr id="54" name="Freeform 54"/>
          <p:cNvSpPr/>
          <p:nvPr/>
        </p:nvSpPr>
        <p:spPr>
          <a:xfrm>
            <a:off x="4224560" y="9212998"/>
            <a:ext cx="921992" cy="292875"/>
          </a:xfrm>
          <a:custGeom>
            <a:avLst/>
            <a:gdLst/>
            <a:ahLst/>
            <a:cxnLst/>
            <a:rect l="l" t="t" r="r" b="b"/>
            <a:pathLst>
              <a:path w="921992" h="292875">
                <a:moveTo>
                  <a:pt x="0" y="0"/>
                </a:moveTo>
                <a:lnTo>
                  <a:pt x="921992" y="0"/>
                </a:lnTo>
                <a:lnTo>
                  <a:pt x="921992" y="292875"/>
                </a:lnTo>
                <a:lnTo>
                  <a:pt x="0" y="29287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-4402" r="-2836" b="-11624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5" name="TextBox 55"/>
          <p:cNvSpPr txBox="1"/>
          <p:nvPr/>
        </p:nvSpPr>
        <p:spPr>
          <a:xfrm>
            <a:off x="17042759" y="158916"/>
            <a:ext cx="1678079" cy="732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49"/>
              </a:lnSpc>
            </a:pPr>
            <a:r>
              <a:rPr lang="en-US" sz="4953" b="1" spc="-406">
                <a:solidFill>
                  <a:srgbClr val="EBEBEC"/>
                </a:solidFill>
                <a:latin typeface="Poppins Bold"/>
                <a:ea typeface="Poppins Bold"/>
                <a:cs typeface="Poppins Bold"/>
                <a:sym typeface="Poppins Bold"/>
              </a:rPr>
              <a:t>RQ4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650531" y="7255990"/>
            <a:ext cx="1674429" cy="423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800" b="1" spc="-229">
                <a:solidFill>
                  <a:srgbClr val="40CDFF"/>
                </a:solidFill>
                <a:latin typeface="Poppins Bold"/>
                <a:ea typeface="Poppins Bold"/>
                <a:cs typeface="Poppins Bold"/>
                <a:sym typeface="Poppins Bold"/>
              </a:rPr>
              <a:t>GUIDED 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650531" y="2354126"/>
            <a:ext cx="2407962" cy="423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800" b="1" spc="-229">
                <a:solidFill>
                  <a:srgbClr val="153CFF"/>
                </a:solidFill>
                <a:latin typeface="Poppins Bold"/>
                <a:ea typeface="Poppins Bold"/>
                <a:cs typeface="Poppins Bold"/>
                <a:sym typeface="Poppins Bold"/>
              </a:rPr>
              <a:t>TRADITIONAL 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880229" y="9858747"/>
            <a:ext cx="1133662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[Results computed using the default architecture based on UMAP and DBSCAN, without stopword removal.]</a:t>
            </a:r>
          </a:p>
        </p:txBody>
      </p:sp>
      <p:graphicFrame>
        <p:nvGraphicFramePr>
          <p:cNvPr id="59" name="Table 59"/>
          <p:cNvGraphicFramePr>
            <a:graphicFrameLocks noGrp="1"/>
          </p:cNvGraphicFramePr>
          <p:nvPr/>
        </p:nvGraphicFramePr>
        <p:xfrm>
          <a:off x="10667607" y="2270913"/>
          <a:ext cx="6677359" cy="6938309"/>
        </p:xfrm>
        <a:graphic>
          <a:graphicData uri="http://schemas.openxmlformats.org/drawingml/2006/table">
            <a:tbl>
              <a:tblPr/>
              <a:tblGrid>
                <a:gridCol w="21258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77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0175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EFE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Silhouette 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EFE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Topic Coherence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EFE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Topic Diversity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C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2132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0.0636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0.5375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0.8071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132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2132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 dirty="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2132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2132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0.0559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0.5336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0.8071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2132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2132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82132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81078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0.0499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0.4969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0.8071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60" name="Group 60"/>
          <p:cNvGrpSpPr/>
          <p:nvPr/>
        </p:nvGrpSpPr>
        <p:grpSpPr>
          <a:xfrm>
            <a:off x="10667607" y="2911987"/>
            <a:ext cx="6677359" cy="825776"/>
            <a:chOff x="0" y="0"/>
            <a:chExt cx="8903146" cy="1181791"/>
          </a:xfrm>
        </p:grpSpPr>
        <p:grpSp>
          <p:nvGrpSpPr>
            <p:cNvPr id="61" name="Group 61"/>
            <p:cNvGrpSpPr/>
            <p:nvPr/>
          </p:nvGrpSpPr>
          <p:grpSpPr>
            <a:xfrm rot="5400000">
              <a:off x="3860677" y="-3860677"/>
              <a:ext cx="1181791" cy="8903146"/>
              <a:chOff x="0" y="0"/>
              <a:chExt cx="258703" cy="1949235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258703" cy="1949235"/>
              </a:xfrm>
              <a:custGeom>
                <a:avLst/>
                <a:gdLst/>
                <a:ahLst/>
                <a:cxnLst/>
                <a:rect l="l" t="t" r="r" b="b"/>
                <a:pathLst>
                  <a:path w="258703" h="1949235">
                    <a:moveTo>
                      <a:pt x="258703" y="0"/>
                    </a:moveTo>
                    <a:lnTo>
                      <a:pt x="258703" y="1949235"/>
                    </a:lnTo>
                    <a:lnTo>
                      <a:pt x="0" y="19492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04775" cap="sq">
                <a:solidFill>
                  <a:srgbClr val="FB766A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0" y="-57150"/>
                <a:ext cx="258703" cy="200638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 rot="5400000">
              <a:off x="3860677" y="-3860677"/>
              <a:ext cx="1181791" cy="8903146"/>
              <a:chOff x="0" y="0"/>
              <a:chExt cx="258703" cy="1949235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0" y="0"/>
                <a:ext cx="258703" cy="1949235"/>
              </a:xfrm>
              <a:custGeom>
                <a:avLst/>
                <a:gdLst/>
                <a:ahLst/>
                <a:cxnLst/>
                <a:rect l="l" t="t" r="r" b="b"/>
                <a:pathLst>
                  <a:path w="258703" h="1949235">
                    <a:moveTo>
                      <a:pt x="258703" y="0"/>
                    </a:moveTo>
                    <a:lnTo>
                      <a:pt x="258703" y="1949235"/>
                    </a:lnTo>
                    <a:lnTo>
                      <a:pt x="0" y="19492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67979">
                  <a:alpha val="41961"/>
                </a:srgbClr>
              </a:solidFill>
              <a:ln w="104775" cap="sq">
                <a:solidFill>
                  <a:srgbClr val="E67979">
                    <a:alpha val="41961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0" y="-57150"/>
                <a:ext cx="258703" cy="200638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39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610373" y="-585185"/>
            <a:ext cx="2187184" cy="2201864"/>
          </a:xfrm>
          <a:custGeom>
            <a:avLst/>
            <a:gdLst/>
            <a:ahLst/>
            <a:cxnLst/>
            <a:rect l="l" t="t" r="r" b="b"/>
            <a:pathLst>
              <a:path w="2187184" h="2201864">
                <a:moveTo>
                  <a:pt x="0" y="0"/>
                </a:moveTo>
                <a:lnTo>
                  <a:pt x="2187184" y="0"/>
                </a:lnTo>
                <a:lnTo>
                  <a:pt x="2187184" y="2201864"/>
                </a:lnTo>
                <a:lnTo>
                  <a:pt x="0" y="2201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5335104" y="9055871"/>
            <a:ext cx="1254072" cy="1006393"/>
          </a:xfrm>
          <a:custGeom>
            <a:avLst/>
            <a:gdLst/>
            <a:ahLst/>
            <a:cxnLst/>
            <a:rect l="l" t="t" r="r" b="b"/>
            <a:pathLst>
              <a:path w="1254072" h="1006393">
                <a:moveTo>
                  <a:pt x="0" y="0"/>
                </a:moveTo>
                <a:lnTo>
                  <a:pt x="1254073" y="0"/>
                </a:lnTo>
                <a:lnTo>
                  <a:pt x="1254073" y="1006393"/>
                </a:lnTo>
                <a:lnTo>
                  <a:pt x="0" y="10063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16636802" y="9247819"/>
            <a:ext cx="1244996" cy="622498"/>
          </a:xfrm>
          <a:custGeom>
            <a:avLst/>
            <a:gdLst/>
            <a:ahLst/>
            <a:cxnLst/>
            <a:rect l="l" t="t" r="r" b="b"/>
            <a:pathLst>
              <a:path w="1244996" h="622498">
                <a:moveTo>
                  <a:pt x="0" y="0"/>
                </a:moveTo>
                <a:lnTo>
                  <a:pt x="1244996" y="0"/>
                </a:lnTo>
                <a:lnTo>
                  <a:pt x="1244996" y="622498"/>
                </a:lnTo>
                <a:lnTo>
                  <a:pt x="0" y="6224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8461" y="3287924"/>
            <a:ext cx="5252761" cy="5969618"/>
          </a:xfrm>
          <a:prstGeom prst="rect">
            <a:avLst/>
          </a:prstGeom>
        </p:spPr>
      </p:pic>
      <p:sp>
        <p:nvSpPr>
          <p:cNvPr id="6" name="Freeform 6"/>
          <p:cNvSpPr/>
          <p:nvPr/>
        </p:nvSpPr>
        <p:spPr>
          <a:xfrm rot="3784502" flipV="1">
            <a:off x="11982307" y="4165659"/>
            <a:ext cx="598101" cy="1787802"/>
          </a:xfrm>
          <a:custGeom>
            <a:avLst/>
            <a:gdLst/>
            <a:ahLst/>
            <a:cxnLst/>
            <a:rect l="l" t="t" r="r" b="b"/>
            <a:pathLst>
              <a:path w="598101" h="1787802">
                <a:moveTo>
                  <a:pt x="0" y="1787802"/>
                </a:moveTo>
                <a:lnTo>
                  <a:pt x="598101" y="1787802"/>
                </a:lnTo>
                <a:lnTo>
                  <a:pt x="598101" y="0"/>
                </a:lnTo>
                <a:lnTo>
                  <a:pt x="0" y="0"/>
                </a:lnTo>
                <a:lnTo>
                  <a:pt x="0" y="1787802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 rot="-3659433" flipH="1" flipV="1">
            <a:off x="6764683" y="5429965"/>
            <a:ext cx="598101" cy="1787802"/>
          </a:xfrm>
          <a:custGeom>
            <a:avLst/>
            <a:gdLst/>
            <a:ahLst/>
            <a:cxnLst/>
            <a:rect l="l" t="t" r="r" b="b"/>
            <a:pathLst>
              <a:path w="598101" h="1787802">
                <a:moveTo>
                  <a:pt x="598101" y="1787802"/>
                </a:moveTo>
                <a:lnTo>
                  <a:pt x="0" y="1787802"/>
                </a:lnTo>
                <a:lnTo>
                  <a:pt x="0" y="0"/>
                </a:lnTo>
                <a:lnTo>
                  <a:pt x="598101" y="0"/>
                </a:lnTo>
                <a:lnTo>
                  <a:pt x="598101" y="1787802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8" name="Freeform 8"/>
          <p:cNvSpPr/>
          <p:nvPr/>
        </p:nvSpPr>
        <p:spPr>
          <a:xfrm>
            <a:off x="1133585" y="5944613"/>
            <a:ext cx="3231430" cy="421491"/>
          </a:xfrm>
          <a:custGeom>
            <a:avLst/>
            <a:gdLst/>
            <a:ahLst/>
            <a:cxnLst/>
            <a:rect l="l" t="t" r="r" b="b"/>
            <a:pathLst>
              <a:path w="3231430" h="421491">
                <a:moveTo>
                  <a:pt x="0" y="0"/>
                </a:moveTo>
                <a:lnTo>
                  <a:pt x="3231430" y="0"/>
                </a:lnTo>
                <a:lnTo>
                  <a:pt x="3231430" y="421491"/>
                </a:lnTo>
                <a:lnTo>
                  <a:pt x="0" y="42149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  <a:ln w="19050" cap="rnd">
            <a:solidFill>
              <a:srgbClr val="40CDFF"/>
            </a:solidFill>
            <a:prstDash val="solid"/>
            <a:round/>
          </a:ln>
        </p:spPr>
        <p:txBody>
          <a:bodyPr/>
          <a:lstStyle/>
          <a:p>
            <a:endParaRPr lang="it-IT"/>
          </a:p>
        </p:txBody>
      </p:sp>
      <p:sp>
        <p:nvSpPr>
          <p:cNvPr id="9" name="Freeform 9"/>
          <p:cNvSpPr/>
          <p:nvPr/>
        </p:nvSpPr>
        <p:spPr>
          <a:xfrm>
            <a:off x="1133585" y="4509501"/>
            <a:ext cx="6735647" cy="465531"/>
          </a:xfrm>
          <a:custGeom>
            <a:avLst/>
            <a:gdLst/>
            <a:ahLst/>
            <a:cxnLst/>
            <a:rect l="l" t="t" r="r" b="b"/>
            <a:pathLst>
              <a:path w="6735647" h="465531">
                <a:moveTo>
                  <a:pt x="0" y="0"/>
                </a:moveTo>
                <a:lnTo>
                  <a:pt x="6735648" y="0"/>
                </a:lnTo>
                <a:lnTo>
                  <a:pt x="6735648" y="465531"/>
                </a:lnTo>
                <a:lnTo>
                  <a:pt x="0" y="46553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  <a:ln w="19050" cap="rnd">
            <a:solidFill>
              <a:srgbClr val="40CDFF"/>
            </a:solidFill>
            <a:prstDash val="solid"/>
            <a:round/>
          </a:ln>
        </p:spPr>
        <p:txBody>
          <a:bodyPr/>
          <a:lstStyle/>
          <a:p>
            <a:endParaRPr lang="it-IT"/>
          </a:p>
        </p:txBody>
      </p:sp>
      <p:sp>
        <p:nvSpPr>
          <p:cNvPr id="10" name="Freeform 10"/>
          <p:cNvSpPr/>
          <p:nvPr/>
        </p:nvSpPr>
        <p:spPr>
          <a:xfrm>
            <a:off x="13213777" y="4649285"/>
            <a:ext cx="3940638" cy="397536"/>
          </a:xfrm>
          <a:custGeom>
            <a:avLst/>
            <a:gdLst/>
            <a:ahLst/>
            <a:cxnLst/>
            <a:rect l="l" t="t" r="r" b="b"/>
            <a:pathLst>
              <a:path w="3940638" h="397536">
                <a:moveTo>
                  <a:pt x="0" y="0"/>
                </a:moveTo>
                <a:lnTo>
                  <a:pt x="3940638" y="0"/>
                </a:lnTo>
                <a:lnTo>
                  <a:pt x="3940638" y="397536"/>
                </a:lnTo>
                <a:lnTo>
                  <a:pt x="0" y="39753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r="-66065"/>
            </a:stretch>
          </a:blipFill>
          <a:ln w="19050" cap="rnd">
            <a:solidFill>
              <a:srgbClr val="FB7D71"/>
            </a:solidFill>
            <a:prstDash val="solid"/>
            <a:round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Box 11"/>
          <p:cNvSpPr txBox="1"/>
          <p:nvPr/>
        </p:nvSpPr>
        <p:spPr>
          <a:xfrm>
            <a:off x="17042759" y="158916"/>
            <a:ext cx="1678079" cy="732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49"/>
              </a:lnSpc>
            </a:pPr>
            <a:r>
              <a:rPr lang="en-US" sz="4953" b="1" spc="-406">
                <a:solidFill>
                  <a:srgbClr val="EBEBEC"/>
                </a:solidFill>
                <a:latin typeface="Poppins Bold"/>
                <a:ea typeface="Poppins Bold"/>
                <a:cs typeface="Poppins Bold"/>
                <a:sym typeface="Poppins Bold"/>
              </a:rPr>
              <a:t>RQ5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038225"/>
            <a:ext cx="9173529" cy="89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12"/>
              </a:lnSpc>
            </a:pPr>
            <a:r>
              <a:rPr lang="en-US" sz="5937" spc="-48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Topic Taxonomy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1797910"/>
            <a:ext cx="8295954" cy="89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12"/>
              </a:lnSpc>
            </a:pPr>
            <a:r>
              <a:rPr lang="en-US" sz="5937" b="1" spc="-48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ALIGNMENT RESULTS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33585" y="2941755"/>
            <a:ext cx="16125715" cy="534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Once taxonomy alignment is performed, alignment quality is assessed using a</a:t>
            </a: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document-level precision metric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computed by measuring the overlap between the </a:t>
            </a: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inferred taxonomy labels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and the </a:t>
            </a: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reference labels 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 each review.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33585" y="7541059"/>
            <a:ext cx="7882204" cy="1029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Since the HYPE labels are generated automatically or</a:t>
            </a:r>
          </a:p>
          <a:p>
            <a:pPr algn="l">
              <a:lnSpc>
                <a:spcPts val="202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manually, a qualitative check allows the identification </a:t>
            </a:r>
          </a:p>
          <a:p>
            <a:pPr algn="l">
              <a:lnSpc>
                <a:spcPts val="202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of cases where the label is marked as </a:t>
            </a: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incorrect </a:t>
            </a:r>
          </a:p>
          <a:p>
            <a:pPr algn="l">
              <a:lnSpc>
                <a:spcPts val="202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by the metric, but the assignment is </a:t>
            </a: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accurate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33585" y="6466448"/>
            <a:ext cx="4236601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Our Solution: 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‘problemi_sistema’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HYPE Reference: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'problemi_accesso'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33585" y="5019056"/>
            <a:ext cx="4632484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Our Solution: 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‘problemi_gestione_carta’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HYPE Reference: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'problemi_sistema'</a:t>
            </a:r>
          </a:p>
        </p:txBody>
      </p:sp>
      <p:sp>
        <p:nvSpPr>
          <p:cNvPr id="18" name="Freeform 18"/>
          <p:cNvSpPr/>
          <p:nvPr/>
        </p:nvSpPr>
        <p:spPr>
          <a:xfrm>
            <a:off x="13213777" y="5038106"/>
            <a:ext cx="2665375" cy="397536"/>
          </a:xfrm>
          <a:custGeom>
            <a:avLst/>
            <a:gdLst/>
            <a:ahLst/>
            <a:cxnLst/>
            <a:rect l="l" t="t" r="r" b="b"/>
            <a:pathLst>
              <a:path w="2665375" h="397536">
                <a:moveTo>
                  <a:pt x="0" y="0"/>
                </a:moveTo>
                <a:lnTo>
                  <a:pt x="2665375" y="0"/>
                </a:lnTo>
                <a:lnTo>
                  <a:pt x="2665375" y="397535"/>
                </a:lnTo>
                <a:lnTo>
                  <a:pt x="0" y="3975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45520"/>
            </a:stretch>
          </a:blipFill>
          <a:ln w="19050" cap="rnd">
            <a:solidFill>
              <a:srgbClr val="FB766A"/>
            </a:solidFill>
            <a:prstDash val="solid"/>
            <a:round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Box 19"/>
          <p:cNvSpPr txBox="1"/>
          <p:nvPr/>
        </p:nvSpPr>
        <p:spPr>
          <a:xfrm>
            <a:off x="13216804" y="5609784"/>
            <a:ext cx="4236601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Our Solution: 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‘problemi_accesso’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HYPE Reference: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'problemi_accesso'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80229" y="9858747"/>
            <a:ext cx="1267817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[Results computed with the single-label assignment using the best configuration, according to the evaluation metrics.]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335104" y="9055871"/>
            <a:ext cx="1254072" cy="1006393"/>
          </a:xfrm>
          <a:custGeom>
            <a:avLst/>
            <a:gdLst/>
            <a:ahLst/>
            <a:cxnLst/>
            <a:rect l="l" t="t" r="r" b="b"/>
            <a:pathLst>
              <a:path w="1254072" h="1006393">
                <a:moveTo>
                  <a:pt x="0" y="0"/>
                </a:moveTo>
                <a:lnTo>
                  <a:pt x="1254073" y="0"/>
                </a:lnTo>
                <a:lnTo>
                  <a:pt x="1254073" y="1006393"/>
                </a:lnTo>
                <a:lnTo>
                  <a:pt x="0" y="10063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6636802" y="9247819"/>
            <a:ext cx="1244996" cy="622498"/>
          </a:xfrm>
          <a:custGeom>
            <a:avLst/>
            <a:gdLst/>
            <a:ahLst/>
            <a:cxnLst/>
            <a:rect l="l" t="t" r="r" b="b"/>
            <a:pathLst>
              <a:path w="1244996" h="622498">
                <a:moveTo>
                  <a:pt x="0" y="0"/>
                </a:moveTo>
                <a:lnTo>
                  <a:pt x="1244996" y="0"/>
                </a:lnTo>
                <a:lnTo>
                  <a:pt x="1244996" y="622498"/>
                </a:lnTo>
                <a:lnTo>
                  <a:pt x="0" y="6224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15582168" y="206954"/>
            <a:ext cx="2254751" cy="1465318"/>
          </a:xfrm>
          <a:custGeom>
            <a:avLst/>
            <a:gdLst/>
            <a:ahLst/>
            <a:cxnLst/>
            <a:rect l="l" t="t" r="r" b="b"/>
            <a:pathLst>
              <a:path w="2254751" h="1465318">
                <a:moveTo>
                  <a:pt x="0" y="0"/>
                </a:moveTo>
                <a:lnTo>
                  <a:pt x="2254751" y="0"/>
                </a:lnTo>
                <a:lnTo>
                  <a:pt x="2254751" y="1465318"/>
                </a:lnTo>
                <a:lnTo>
                  <a:pt x="0" y="14653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it-IT"/>
          </a:p>
        </p:txBody>
      </p:sp>
      <p:grpSp>
        <p:nvGrpSpPr>
          <p:cNvPr id="5" name="Group 5"/>
          <p:cNvGrpSpPr/>
          <p:nvPr/>
        </p:nvGrpSpPr>
        <p:grpSpPr>
          <a:xfrm rot="5400000">
            <a:off x="1621002" y="3441666"/>
            <a:ext cx="1468299" cy="2626296"/>
            <a:chOff x="0" y="0"/>
            <a:chExt cx="1181544" cy="211367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81544" cy="2113679"/>
            </a:xfrm>
            <a:custGeom>
              <a:avLst/>
              <a:gdLst/>
              <a:ahLst/>
              <a:cxnLst/>
              <a:rect l="l" t="t" r="r" b="b"/>
              <a:pathLst>
                <a:path w="1181544" h="2113679">
                  <a:moveTo>
                    <a:pt x="1181544" y="116000"/>
                  </a:moveTo>
                  <a:lnTo>
                    <a:pt x="1181544" y="1997680"/>
                  </a:lnTo>
                  <a:cubicBezTo>
                    <a:pt x="1181544" y="2061745"/>
                    <a:pt x="1129609" y="2113679"/>
                    <a:pt x="1065544" y="2113679"/>
                  </a:cubicBezTo>
                  <a:lnTo>
                    <a:pt x="116000" y="2113679"/>
                  </a:lnTo>
                  <a:cubicBezTo>
                    <a:pt x="85235" y="2113679"/>
                    <a:pt x="55730" y="2101458"/>
                    <a:pt x="33976" y="2079704"/>
                  </a:cubicBezTo>
                  <a:cubicBezTo>
                    <a:pt x="12221" y="2057950"/>
                    <a:pt x="0" y="2028445"/>
                    <a:pt x="0" y="1997680"/>
                  </a:cubicBezTo>
                  <a:lnTo>
                    <a:pt x="0" y="116000"/>
                  </a:lnTo>
                  <a:cubicBezTo>
                    <a:pt x="0" y="85235"/>
                    <a:pt x="12221" y="55730"/>
                    <a:pt x="33976" y="33976"/>
                  </a:cubicBezTo>
                  <a:cubicBezTo>
                    <a:pt x="55730" y="12221"/>
                    <a:pt x="85235" y="0"/>
                    <a:pt x="116000" y="0"/>
                  </a:cubicBezTo>
                  <a:lnTo>
                    <a:pt x="1065544" y="0"/>
                  </a:lnTo>
                  <a:cubicBezTo>
                    <a:pt x="1096309" y="0"/>
                    <a:pt x="1125814" y="12221"/>
                    <a:pt x="1147568" y="33976"/>
                  </a:cubicBezTo>
                  <a:cubicBezTo>
                    <a:pt x="1169322" y="55730"/>
                    <a:pt x="1181544" y="85235"/>
                    <a:pt x="1181544" y="11600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181544" cy="21708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3442094" y="3501126"/>
            <a:ext cx="887498" cy="737453"/>
          </a:xfrm>
          <a:custGeom>
            <a:avLst/>
            <a:gdLst/>
            <a:ahLst/>
            <a:cxnLst/>
            <a:rect l="l" t="t" r="r" b="b"/>
            <a:pathLst>
              <a:path w="887498" h="737453">
                <a:moveTo>
                  <a:pt x="0" y="0"/>
                </a:moveTo>
                <a:lnTo>
                  <a:pt x="887498" y="0"/>
                </a:lnTo>
                <a:lnTo>
                  <a:pt x="887498" y="737453"/>
                </a:lnTo>
                <a:lnTo>
                  <a:pt x="0" y="7374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9" name="Freeform 9"/>
          <p:cNvSpPr/>
          <p:nvPr/>
        </p:nvSpPr>
        <p:spPr>
          <a:xfrm>
            <a:off x="4029995" y="4555812"/>
            <a:ext cx="299597" cy="438909"/>
          </a:xfrm>
          <a:custGeom>
            <a:avLst/>
            <a:gdLst/>
            <a:ahLst/>
            <a:cxnLst/>
            <a:rect l="l" t="t" r="r" b="b"/>
            <a:pathLst>
              <a:path w="299597" h="438909">
                <a:moveTo>
                  <a:pt x="0" y="0"/>
                </a:moveTo>
                <a:lnTo>
                  <a:pt x="299597" y="0"/>
                </a:lnTo>
                <a:lnTo>
                  <a:pt x="299597" y="438909"/>
                </a:lnTo>
                <a:lnTo>
                  <a:pt x="0" y="4389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10" name="Group 10"/>
          <p:cNvGrpSpPr/>
          <p:nvPr/>
        </p:nvGrpSpPr>
        <p:grpSpPr>
          <a:xfrm rot="5400000">
            <a:off x="4297026" y="6222901"/>
            <a:ext cx="334645" cy="1592099"/>
            <a:chOff x="0" y="0"/>
            <a:chExt cx="485084" cy="230814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85084" cy="2308143"/>
            </a:xfrm>
            <a:custGeom>
              <a:avLst/>
              <a:gdLst/>
              <a:ahLst/>
              <a:cxnLst/>
              <a:rect l="l" t="t" r="r" b="b"/>
              <a:pathLst>
                <a:path w="485084" h="2308143">
                  <a:moveTo>
                    <a:pt x="485084" y="242542"/>
                  </a:moveTo>
                  <a:lnTo>
                    <a:pt x="485084" y="2065601"/>
                  </a:lnTo>
                  <a:cubicBezTo>
                    <a:pt x="485084" y="2199553"/>
                    <a:pt x="376494" y="2308143"/>
                    <a:pt x="242542" y="2308143"/>
                  </a:cubicBezTo>
                  <a:lnTo>
                    <a:pt x="242542" y="2308143"/>
                  </a:lnTo>
                  <a:cubicBezTo>
                    <a:pt x="108590" y="2308143"/>
                    <a:pt x="0" y="2199553"/>
                    <a:pt x="0" y="2065601"/>
                  </a:cubicBezTo>
                  <a:lnTo>
                    <a:pt x="0" y="242542"/>
                  </a:lnTo>
                  <a:cubicBezTo>
                    <a:pt x="0" y="108590"/>
                    <a:pt x="108590" y="0"/>
                    <a:pt x="242542" y="0"/>
                  </a:cubicBezTo>
                  <a:lnTo>
                    <a:pt x="242542" y="0"/>
                  </a:lnTo>
                  <a:cubicBezTo>
                    <a:pt x="376494" y="0"/>
                    <a:pt x="485084" y="108590"/>
                    <a:pt x="485084" y="242542"/>
                  </a:cubicBezTo>
                  <a:close/>
                </a:path>
              </a:pathLst>
            </a:custGeom>
            <a:solidFill>
              <a:srgbClr val="40CD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485084" cy="2365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5582168" y="217860"/>
            <a:ext cx="2254751" cy="1488756"/>
          </a:xfrm>
          <a:custGeom>
            <a:avLst/>
            <a:gdLst/>
            <a:ahLst/>
            <a:cxnLst/>
            <a:rect l="l" t="t" r="r" b="b"/>
            <a:pathLst>
              <a:path w="2254751" h="1488756">
                <a:moveTo>
                  <a:pt x="0" y="0"/>
                </a:moveTo>
                <a:lnTo>
                  <a:pt x="2254751" y="0"/>
                </a:lnTo>
                <a:lnTo>
                  <a:pt x="2254751" y="1488755"/>
                </a:lnTo>
                <a:lnTo>
                  <a:pt x="0" y="148875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4333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Box 14"/>
          <p:cNvSpPr txBox="1"/>
          <p:nvPr/>
        </p:nvSpPr>
        <p:spPr>
          <a:xfrm>
            <a:off x="1028700" y="1038225"/>
            <a:ext cx="9186787" cy="89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12"/>
              </a:lnSpc>
            </a:pPr>
            <a:r>
              <a:rPr lang="en-US" sz="5937" b="1" spc="-48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EXTRA TASKS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2004" y="2895145"/>
            <a:ext cx="8186931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Some reviews cover </a:t>
            </a:r>
            <a:r>
              <a:rPr lang="en-US" sz="20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more than one</a:t>
            </a:r>
            <a:r>
              <a:rPr lang="en-US" sz="2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issue.</a:t>
            </a:r>
          </a:p>
        </p:txBody>
      </p:sp>
      <p:sp>
        <p:nvSpPr>
          <p:cNvPr id="16" name="Freeform 16"/>
          <p:cNvSpPr/>
          <p:nvPr/>
        </p:nvSpPr>
        <p:spPr>
          <a:xfrm>
            <a:off x="1000944" y="6153888"/>
            <a:ext cx="7668295" cy="383415"/>
          </a:xfrm>
          <a:custGeom>
            <a:avLst/>
            <a:gdLst/>
            <a:ahLst/>
            <a:cxnLst/>
            <a:rect l="l" t="t" r="r" b="b"/>
            <a:pathLst>
              <a:path w="7668295" h="383415">
                <a:moveTo>
                  <a:pt x="0" y="0"/>
                </a:moveTo>
                <a:lnTo>
                  <a:pt x="7668296" y="0"/>
                </a:lnTo>
                <a:lnTo>
                  <a:pt x="7668296" y="383415"/>
                </a:lnTo>
                <a:lnTo>
                  <a:pt x="0" y="38341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7" name="TextBox 17"/>
          <p:cNvSpPr txBox="1"/>
          <p:nvPr/>
        </p:nvSpPr>
        <p:spPr>
          <a:xfrm>
            <a:off x="1000944" y="6813831"/>
            <a:ext cx="2603421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App Update Issues:  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Support Issues:</a:t>
            </a:r>
          </a:p>
        </p:txBody>
      </p:sp>
      <p:grpSp>
        <p:nvGrpSpPr>
          <p:cNvPr id="18" name="Group 18"/>
          <p:cNvGrpSpPr/>
          <p:nvPr/>
        </p:nvGrpSpPr>
        <p:grpSpPr>
          <a:xfrm rot="5400000">
            <a:off x="3731694" y="6578804"/>
            <a:ext cx="334645" cy="1592099"/>
            <a:chOff x="0" y="0"/>
            <a:chExt cx="485084" cy="230814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85084" cy="2308143"/>
            </a:xfrm>
            <a:custGeom>
              <a:avLst/>
              <a:gdLst/>
              <a:ahLst/>
              <a:cxnLst/>
              <a:rect l="l" t="t" r="r" b="b"/>
              <a:pathLst>
                <a:path w="485084" h="2308143">
                  <a:moveTo>
                    <a:pt x="485084" y="242542"/>
                  </a:moveTo>
                  <a:lnTo>
                    <a:pt x="485084" y="2065601"/>
                  </a:lnTo>
                  <a:cubicBezTo>
                    <a:pt x="485084" y="2199553"/>
                    <a:pt x="376494" y="2308143"/>
                    <a:pt x="242542" y="2308143"/>
                  </a:cubicBezTo>
                  <a:lnTo>
                    <a:pt x="242542" y="2308143"/>
                  </a:lnTo>
                  <a:cubicBezTo>
                    <a:pt x="108590" y="2308143"/>
                    <a:pt x="0" y="2199553"/>
                    <a:pt x="0" y="2065601"/>
                  </a:cubicBezTo>
                  <a:lnTo>
                    <a:pt x="0" y="242542"/>
                  </a:lnTo>
                  <a:cubicBezTo>
                    <a:pt x="0" y="108590"/>
                    <a:pt x="108590" y="0"/>
                    <a:pt x="242542" y="0"/>
                  </a:cubicBezTo>
                  <a:lnTo>
                    <a:pt x="242542" y="0"/>
                  </a:lnTo>
                  <a:cubicBezTo>
                    <a:pt x="376494" y="0"/>
                    <a:pt x="485084" y="108590"/>
                    <a:pt x="485084" y="242542"/>
                  </a:cubicBezTo>
                  <a:close/>
                </a:path>
              </a:pathLst>
            </a:custGeom>
            <a:solidFill>
              <a:srgbClr val="40CD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485084" cy="2365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63216" y="4118690"/>
            <a:ext cx="2278878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 each review, we use BERTopic’s </a:t>
            </a: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topic probability distribution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38225" y="1979599"/>
            <a:ext cx="7900401" cy="742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32"/>
              </a:lnSpc>
            </a:pPr>
            <a:r>
              <a:rPr lang="en-US" sz="4937" spc="-4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Multi-Label Classification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30209" y="4289491"/>
            <a:ext cx="3504868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Up to three topics are assigned when their probability is ≥ </a:t>
            </a: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85%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of the top score.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841562" y="6794478"/>
            <a:ext cx="1309449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P= 0.1301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241477" y="7167223"/>
            <a:ext cx="1288733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P= 0.1178 </a:t>
            </a:r>
          </a:p>
        </p:txBody>
      </p:sp>
      <p:sp>
        <p:nvSpPr>
          <p:cNvPr id="26" name="Freeform 26"/>
          <p:cNvSpPr/>
          <p:nvPr/>
        </p:nvSpPr>
        <p:spPr>
          <a:xfrm rot="2112674">
            <a:off x="15007463" y="5418420"/>
            <a:ext cx="1020903" cy="877977"/>
          </a:xfrm>
          <a:custGeom>
            <a:avLst/>
            <a:gdLst/>
            <a:ahLst/>
            <a:cxnLst/>
            <a:rect l="l" t="t" r="r" b="b"/>
            <a:pathLst>
              <a:path w="1020903" h="877977">
                <a:moveTo>
                  <a:pt x="0" y="0"/>
                </a:moveTo>
                <a:lnTo>
                  <a:pt x="1020903" y="0"/>
                </a:lnTo>
                <a:lnTo>
                  <a:pt x="1020903" y="877976"/>
                </a:lnTo>
                <a:lnTo>
                  <a:pt x="0" y="8779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7" name="TextBox 27"/>
          <p:cNvSpPr txBox="1"/>
          <p:nvPr/>
        </p:nvSpPr>
        <p:spPr>
          <a:xfrm>
            <a:off x="12771034" y="6573167"/>
            <a:ext cx="1251051" cy="328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6"/>
              </a:lnSpc>
            </a:pPr>
            <a:r>
              <a:rPr lang="en-US" sz="2154" b="1" spc="-176">
                <a:solidFill>
                  <a:srgbClr val="FB7D71"/>
                </a:solidFill>
                <a:latin typeface="Poppins Bold"/>
                <a:ea typeface="Poppins Bold"/>
                <a:cs typeface="Poppins Bold"/>
                <a:sym typeface="Poppins Bold"/>
              </a:rPr>
              <a:t>OUTLIERS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614508" y="8250026"/>
            <a:ext cx="2022056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Any topic score &gt; 20% ?</a:t>
            </a:r>
          </a:p>
        </p:txBody>
      </p:sp>
      <p:sp>
        <p:nvSpPr>
          <p:cNvPr id="29" name="Freeform 29"/>
          <p:cNvSpPr/>
          <p:nvPr/>
        </p:nvSpPr>
        <p:spPr>
          <a:xfrm>
            <a:off x="13951679" y="7190498"/>
            <a:ext cx="674943" cy="674943"/>
          </a:xfrm>
          <a:custGeom>
            <a:avLst/>
            <a:gdLst/>
            <a:ahLst/>
            <a:cxnLst/>
            <a:rect l="l" t="t" r="r" b="b"/>
            <a:pathLst>
              <a:path w="674943" h="674943">
                <a:moveTo>
                  <a:pt x="0" y="0"/>
                </a:moveTo>
                <a:lnTo>
                  <a:pt x="674943" y="0"/>
                </a:lnTo>
                <a:lnTo>
                  <a:pt x="674943" y="674943"/>
                </a:lnTo>
                <a:lnTo>
                  <a:pt x="0" y="67494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0" name="Freeform 30"/>
          <p:cNvSpPr/>
          <p:nvPr/>
        </p:nvSpPr>
        <p:spPr>
          <a:xfrm>
            <a:off x="13951679" y="8330857"/>
            <a:ext cx="674943" cy="674943"/>
          </a:xfrm>
          <a:custGeom>
            <a:avLst/>
            <a:gdLst/>
            <a:ahLst/>
            <a:cxnLst/>
            <a:rect l="l" t="t" r="r" b="b"/>
            <a:pathLst>
              <a:path w="674943" h="674943">
                <a:moveTo>
                  <a:pt x="0" y="0"/>
                </a:moveTo>
                <a:lnTo>
                  <a:pt x="674943" y="0"/>
                </a:lnTo>
                <a:lnTo>
                  <a:pt x="674943" y="674942"/>
                </a:lnTo>
                <a:lnTo>
                  <a:pt x="0" y="67494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1" name="AutoShape 31"/>
          <p:cNvSpPr/>
          <p:nvPr/>
        </p:nvSpPr>
        <p:spPr>
          <a:xfrm flipV="1">
            <a:off x="12698069" y="7735700"/>
            <a:ext cx="1062379" cy="381635"/>
          </a:xfrm>
          <a:prstGeom prst="line">
            <a:avLst/>
          </a:prstGeom>
          <a:ln w="57150" cap="flat">
            <a:solidFill>
              <a:srgbClr val="40CDFF"/>
            </a:solidFill>
            <a:prstDash val="lgDash"/>
            <a:headEnd type="none" w="sm" len="sm"/>
            <a:tailEnd type="triangle" w="lg" len="med"/>
          </a:ln>
        </p:spPr>
        <p:txBody>
          <a:bodyPr/>
          <a:lstStyle/>
          <a:p>
            <a:endParaRPr lang="it-IT"/>
          </a:p>
        </p:txBody>
      </p:sp>
      <p:sp>
        <p:nvSpPr>
          <p:cNvPr id="32" name="AutoShape 32"/>
          <p:cNvSpPr/>
          <p:nvPr/>
        </p:nvSpPr>
        <p:spPr>
          <a:xfrm>
            <a:off x="12704510" y="8099407"/>
            <a:ext cx="1055939" cy="361463"/>
          </a:xfrm>
          <a:prstGeom prst="line">
            <a:avLst/>
          </a:prstGeom>
          <a:ln w="57150" cap="flat">
            <a:solidFill>
              <a:srgbClr val="6877F3"/>
            </a:solidFill>
            <a:prstDash val="lgDash"/>
            <a:headEnd type="none" w="sm" len="sm"/>
            <a:tailEnd type="triangle" w="lg" len="med"/>
          </a:ln>
        </p:spPr>
        <p:txBody>
          <a:bodyPr/>
          <a:lstStyle/>
          <a:p>
            <a:endParaRPr lang="it-IT"/>
          </a:p>
        </p:txBody>
      </p:sp>
      <p:sp>
        <p:nvSpPr>
          <p:cNvPr id="33" name="Freeform 33"/>
          <p:cNvSpPr/>
          <p:nvPr/>
        </p:nvSpPr>
        <p:spPr>
          <a:xfrm>
            <a:off x="11633708" y="1874455"/>
            <a:ext cx="4635943" cy="4635943"/>
          </a:xfrm>
          <a:custGeom>
            <a:avLst/>
            <a:gdLst/>
            <a:ahLst/>
            <a:cxnLst/>
            <a:rect l="l" t="t" r="r" b="b"/>
            <a:pathLst>
              <a:path w="4635943" h="4635943">
                <a:moveTo>
                  <a:pt x="0" y="0"/>
                </a:moveTo>
                <a:lnTo>
                  <a:pt x="4635943" y="0"/>
                </a:lnTo>
                <a:lnTo>
                  <a:pt x="4635943" y="4635943"/>
                </a:lnTo>
                <a:lnTo>
                  <a:pt x="0" y="463594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34" name="Freeform 34"/>
          <p:cNvSpPr/>
          <p:nvPr/>
        </p:nvSpPr>
        <p:spPr>
          <a:xfrm rot="2453536" flipH="1">
            <a:off x="14485366" y="5896753"/>
            <a:ext cx="371212" cy="1109602"/>
          </a:xfrm>
          <a:custGeom>
            <a:avLst/>
            <a:gdLst/>
            <a:ahLst/>
            <a:cxnLst/>
            <a:rect l="l" t="t" r="r" b="b"/>
            <a:pathLst>
              <a:path w="371212" h="1109602">
                <a:moveTo>
                  <a:pt x="371212" y="0"/>
                </a:moveTo>
                <a:lnTo>
                  <a:pt x="0" y="0"/>
                </a:lnTo>
                <a:lnTo>
                  <a:pt x="0" y="1109602"/>
                </a:lnTo>
                <a:lnTo>
                  <a:pt x="371212" y="1109602"/>
                </a:lnTo>
                <a:lnTo>
                  <a:pt x="371212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5" name="Freeform 35"/>
          <p:cNvSpPr/>
          <p:nvPr/>
        </p:nvSpPr>
        <p:spPr>
          <a:xfrm rot="2112674">
            <a:off x="15007463" y="5481188"/>
            <a:ext cx="1020903" cy="877977"/>
          </a:xfrm>
          <a:custGeom>
            <a:avLst/>
            <a:gdLst/>
            <a:ahLst/>
            <a:cxnLst/>
            <a:rect l="l" t="t" r="r" b="b"/>
            <a:pathLst>
              <a:path w="1020903" h="877977">
                <a:moveTo>
                  <a:pt x="0" y="0"/>
                </a:moveTo>
                <a:lnTo>
                  <a:pt x="1020903" y="0"/>
                </a:lnTo>
                <a:lnTo>
                  <a:pt x="1020903" y="877977"/>
                </a:lnTo>
                <a:lnTo>
                  <a:pt x="0" y="87797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6" name="Freeform 36"/>
          <p:cNvSpPr/>
          <p:nvPr/>
        </p:nvSpPr>
        <p:spPr>
          <a:xfrm rot="2112674">
            <a:off x="15007463" y="5471663"/>
            <a:ext cx="1020903" cy="877977"/>
          </a:xfrm>
          <a:custGeom>
            <a:avLst/>
            <a:gdLst/>
            <a:ahLst/>
            <a:cxnLst/>
            <a:rect l="l" t="t" r="r" b="b"/>
            <a:pathLst>
              <a:path w="1020903" h="877977">
                <a:moveTo>
                  <a:pt x="0" y="0"/>
                </a:moveTo>
                <a:lnTo>
                  <a:pt x="1020903" y="0"/>
                </a:lnTo>
                <a:lnTo>
                  <a:pt x="1020903" y="877977"/>
                </a:lnTo>
                <a:lnTo>
                  <a:pt x="0" y="87797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7" name="TextBox 37"/>
          <p:cNvSpPr txBox="1"/>
          <p:nvPr/>
        </p:nvSpPr>
        <p:spPr>
          <a:xfrm>
            <a:off x="10614508" y="7311372"/>
            <a:ext cx="1700264" cy="78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Outlier [Topic: -1]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4789301" y="7144856"/>
            <a:ext cx="2836785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Reassign the review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 that topic  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4789301" y="8311807"/>
            <a:ext cx="2836785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Keep the review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 outlier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63216" y="8006493"/>
            <a:ext cx="7980784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initial topic modeling output produced a high number of </a:t>
            </a: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outliers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so the same approach was applied to reduce them.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endParaRPr lang="en-US" sz="2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" name="Freeform 41"/>
          <p:cNvSpPr/>
          <p:nvPr/>
        </p:nvSpPr>
        <p:spPr>
          <a:xfrm>
            <a:off x="9649008" y="8163542"/>
            <a:ext cx="299597" cy="438909"/>
          </a:xfrm>
          <a:custGeom>
            <a:avLst/>
            <a:gdLst/>
            <a:ahLst/>
            <a:cxnLst/>
            <a:rect l="l" t="t" r="r" b="b"/>
            <a:pathLst>
              <a:path w="299597" h="438909">
                <a:moveTo>
                  <a:pt x="0" y="0"/>
                </a:moveTo>
                <a:lnTo>
                  <a:pt x="299597" y="0"/>
                </a:lnTo>
                <a:lnTo>
                  <a:pt x="299597" y="438909"/>
                </a:lnTo>
                <a:lnTo>
                  <a:pt x="0" y="4389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2" name="AutoShape 42"/>
          <p:cNvSpPr/>
          <p:nvPr/>
        </p:nvSpPr>
        <p:spPr>
          <a:xfrm flipV="1">
            <a:off x="9798806" y="1970142"/>
            <a:ext cx="19050" cy="5298651"/>
          </a:xfrm>
          <a:prstGeom prst="line">
            <a:avLst/>
          </a:prstGeom>
          <a:ln w="57150" cap="flat">
            <a:solidFill>
              <a:srgbClr val="40CD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520620" y="505890"/>
            <a:ext cx="2401498" cy="2401498"/>
          </a:xfrm>
          <a:custGeom>
            <a:avLst/>
            <a:gdLst/>
            <a:ahLst/>
            <a:cxnLst/>
            <a:rect l="l" t="t" r="r" b="b"/>
            <a:pathLst>
              <a:path w="2401498" h="2401498">
                <a:moveTo>
                  <a:pt x="0" y="0"/>
                </a:moveTo>
                <a:lnTo>
                  <a:pt x="2401498" y="0"/>
                </a:lnTo>
                <a:lnTo>
                  <a:pt x="2401498" y="2401498"/>
                </a:lnTo>
                <a:lnTo>
                  <a:pt x="0" y="24014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5335104" y="9055871"/>
            <a:ext cx="1254072" cy="1006393"/>
          </a:xfrm>
          <a:custGeom>
            <a:avLst/>
            <a:gdLst/>
            <a:ahLst/>
            <a:cxnLst/>
            <a:rect l="l" t="t" r="r" b="b"/>
            <a:pathLst>
              <a:path w="1254072" h="1006393">
                <a:moveTo>
                  <a:pt x="0" y="0"/>
                </a:moveTo>
                <a:lnTo>
                  <a:pt x="1254073" y="0"/>
                </a:lnTo>
                <a:lnTo>
                  <a:pt x="1254073" y="1006393"/>
                </a:lnTo>
                <a:lnTo>
                  <a:pt x="0" y="10063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16636802" y="9247819"/>
            <a:ext cx="1244996" cy="622498"/>
          </a:xfrm>
          <a:custGeom>
            <a:avLst/>
            <a:gdLst/>
            <a:ahLst/>
            <a:cxnLst/>
            <a:rect l="l" t="t" r="r" b="b"/>
            <a:pathLst>
              <a:path w="1244996" h="622498">
                <a:moveTo>
                  <a:pt x="0" y="0"/>
                </a:moveTo>
                <a:lnTo>
                  <a:pt x="1244996" y="0"/>
                </a:lnTo>
                <a:lnTo>
                  <a:pt x="1244996" y="622498"/>
                </a:lnTo>
                <a:lnTo>
                  <a:pt x="0" y="6224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1090234" y="4833690"/>
            <a:ext cx="6380169" cy="4930810"/>
          </a:xfrm>
          <a:custGeom>
            <a:avLst/>
            <a:gdLst/>
            <a:ahLst/>
            <a:cxnLst/>
            <a:rect l="l" t="t" r="r" b="b"/>
            <a:pathLst>
              <a:path w="6380169" h="4930810">
                <a:moveTo>
                  <a:pt x="0" y="0"/>
                </a:moveTo>
                <a:lnTo>
                  <a:pt x="6380169" y="0"/>
                </a:lnTo>
                <a:lnTo>
                  <a:pt x="6380169" y="4930810"/>
                </a:lnTo>
                <a:lnTo>
                  <a:pt x="0" y="4930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6" name="Group 6"/>
          <p:cNvGrpSpPr/>
          <p:nvPr/>
        </p:nvGrpSpPr>
        <p:grpSpPr>
          <a:xfrm>
            <a:off x="1028700" y="2061218"/>
            <a:ext cx="6206065" cy="2366429"/>
            <a:chOff x="0" y="0"/>
            <a:chExt cx="1634519" cy="62325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34519" cy="623257"/>
            </a:xfrm>
            <a:custGeom>
              <a:avLst/>
              <a:gdLst/>
              <a:ahLst/>
              <a:cxnLst/>
              <a:rect l="l" t="t" r="r" b="b"/>
              <a:pathLst>
                <a:path w="1634519" h="623257">
                  <a:moveTo>
                    <a:pt x="37424" y="0"/>
                  </a:moveTo>
                  <a:lnTo>
                    <a:pt x="1597095" y="0"/>
                  </a:lnTo>
                  <a:cubicBezTo>
                    <a:pt x="1607021" y="0"/>
                    <a:pt x="1616540" y="3943"/>
                    <a:pt x="1623558" y="10961"/>
                  </a:cubicBezTo>
                  <a:cubicBezTo>
                    <a:pt x="1630576" y="17980"/>
                    <a:pt x="1634519" y="27499"/>
                    <a:pt x="1634519" y="37424"/>
                  </a:cubicBezTo>
                  <a:lnTo>
                    <a:pt x="1634519" y="585833"/>
                  </a:lnTo>
                  <a:cubicBezTo>
                    <a:pt x="1634519" y="595758"/>
                    <a:pt x="1630576" y="605277"/>
                    <a:pt x="1623558" y="612296"/>
                  </a:cubicBezTo>
                  <a:cubicBezTo>
                    <a:pt x="1616540" y="619314"/>
                    <a:pt x="1607021" y="623257"/>
                    <a:pt x="1597095" y="623257"/>
                  </a:cubicBezTo>
                  <a:lnTo>
                    <a:pt x="37424" y="623257"/>
                  </a:lnTo>
                  <a:cubicBezTo>
                    <a:pt x="27499" y="623257"/>
                    <a:pt x="17980" y="619314"/>
                    <a:pt x="10961" y="612296"/>
                  </a:cubicBezTo>
                  <a:cubicBezTo>
                    <a:pt x="3943" y="605277"/>
                    <a:pt x="0" y="595758"/>
                    <a:pt x="0" y="585833"/>
                  </a:cubicBezTo>
                  <a:lnTo>
                    <a:pt x="0" y="37424"/>
                  </a:lnTo>
                  <a:cubicBezTo>
                    <a:pt x="0" y="27499"/>
                    <a:pt x="3943" y="17980"/>
                    <a:pt x="10961" y="10961"/>
                  </a:cubicBezTo>
                  <a:cubicBezTo>
                    <a:pt x="17980" y="3943"/>
                    <a:pt x="27499" y="0"/>
                    <a:pt x="37424" y="0"/>
                  </a:cubicBezTo>
                  <a:close/>
                </a:path>
              </a:pathLst>
            </a:custGeom>
            <a:solidFill>
              <a:srgbClr val="FFFFFF">
                <a:alpha val="77647"/>
              </a:srgbClr>
            </a:solidFill>
            <a:ln w="38100" cap="rnd">
              <a:solidFill>
                <a:srgbClr val="6877F3">
                  <a:alpha val="77647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634519" cy="6423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6609266" y="1656389"/>
            <a:ext cx="1250999" cy="1250999"/>
          </a:xfrm>
          <a:custGeom>
            <a:avLst/>
            <a:gdLst/>
            <a:ahLst/>
            <a:cxnLst/>
            <a:rect l="l" t="t" r="r" b="b"/>
            <a:pathLst>
              <a:path w="1250999" h="1250999">
                <a:moveTo>
                  <a:pt x="0" y="0"/>
                </a:moveTo>
                <a:lnTo>
                  <a:pt x="1250999" y="0"/>
                </a:lnTo>
                <a:lnTo>
                  <a:pt x="1250999" y="1250999"/>
                </a:lnTo>
                <a:lnTo>
                  <a:pt x="0" y="12509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0" name="Freeform 10"/>
          <p:cNvSpPr/>
          <p:nvPr/>
        </p:nvSpPr>
        <p:spPr>
          <a:xfrm rot="6862000" flipH="1" flipV="1">
            <a:off x="7416396" y="3653122"/>
            <a:ext cx="231104" cy="690801"/>
          </a:xfrm>
          <a:custGeom>
            <a:avLst/>
            <a:gdLst/>
            <a:ahLst/>
            <a:cxnLst/>
            <a:rect l="l" t="t" r="r" b="b"/>
            <a:pathLst>
              <a:path w="231104" h="690801">
                <a:moveTo>
                  <a:pt x="231104" y="690801"/>
                </a:moveTo>
                <a:lnTo>
                  <a:pt x="0" y="690801"/>
                </a:lnTo>
                <a:lnTo>
                  <a:pt x="0" y="0"/>
                </a:lnTo>
                <a:lnTo>
                  <a:pt x="231104" y="0"/>
                </a:lnTo>
                <a:lnTo>
                  <a:pt x="231104" y="690801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8039013" y="2216234"/>
          <a:ext cx="8101059" cy="1382307"/>
        </p:xfrm>
        <a:graphic>
          <a:graphicData uri="http://schemas.openxmlformats.org/drawingml/2006/table">
            <a:tbl>
              <a:tblPr/>
              <a:tblGrid>
                <a:gridCol w="1607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5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64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0175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EFE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Silhouette 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EFE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Topic Coherence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EFE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Topic Diversity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EFE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Outliers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2132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0.0636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0.5375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0.8071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19.12%</a:t>
                      </a:r>
                      <a:endParaRPr lang="en-US" sz="1100"/>
                    </a:p>
                  </a:txBody>
                  <a:tcPr marL="76200" marR="76200" marT="76200" marB="76200" anchor="ctr">
                    <a:lnL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Freeform 12"/>
          <p:cNvSpPr/>
          <p:nvPr/>
        </p:nvSpPr>
        <p:spPr>
          <a:xfrm>
            <a:off x="8376929" y="9227321"/>
            <a:ext cx="5871481" cy="699592"/>
          </a:xfrm>
          <a:custGeom>
            <a:avLst/>
            <a:gdLst/>
            <a:ahLst/>
            <a:cxnLst/>
            <a:rect l="l" t="t" r="r" b="b"/>
            <a:pathLst>
              <a:path w="5871481" h="699592">
                <a:moveTo>
                  <a:pt x="0" y="0"/>
                </a:moveTo>
                <a:lnTo>
                  <a:pt x="5871481" y="0"/>
                </a:lnTo>
                <a:lnTo>
                  <a:pt x="5871481" y="699592"/>
                </a:lnTo>
                <a:lnTo>
                  <a:pt x="0" y="6995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1071745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3" name="Freeform 13"/>
          <p:cNvSpPr/>
          <p:nvPr/>
        </p:nvSpPr>
        <p:spPr>
          <a:xfrm>
            <a:off x="9805024" y="8196500"/>
            <a:ext cx="5871481" cy="640991"/>
          </a:xfrm>
          <a:custGeom>
            <a:avLst/>
            <a:gdLst/>
            <a:ahLst/>
            <a:cxnLst/>
            <a:rect l="l" t="t" r="r" b="b"/>
            <a:pathLst>
              <a:path w="5871481" h="640991">
                <a:moveTo>
                  <a:pt x="0" y="0"/>
                </a:moveTo>
                <a:lnTo>
                  <a:pt x="5871481" y="0"/>
                </a:lnTo>
                <a:lnTo>
                  <a:pt x="5871481" y="640991"/>
                </a:lnTo>
                <a:lnTo>
                  <a:pt x="0" y="64099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1022048" b="-156822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4" name="Freeform 14"/>
          <p:cNvSpPr/>
          <p:nvPr/>
        </p:nvSpPr>
        <p:spPr>
          <a:xfrm>
            <a:off x="8359783" y="7299095"/>
            <a:ext cx="5871481" cy="679025"/>
          </a:xfrm>
          <a:custGeom>
            <a:avLst/>
            <a:gdLst/>
            <a:ahLst/>
            <a:cxnLst/>
            <a:rect l="l" t="t" r="r" b="b"/>
            <a:pathLst>
              <a:path w="5871481" h="679025">
                <a:moveTo>
                  <a:pt x="0" y="0"/>
                </a:moveTo>
                <a:lnTo>
                  <a:pt x="5871480" y="0"/>
                </a:lnTo>
                <a:lnTo>
                  <a:pt x="5871480" y="679025"/>
                </a:lnTo>
                <a:lnTo>
                  <a:pt x="0" y="6790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670779" b="-436457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5" name="Freeform 15"/>
          <p:cNvSpPr/>
          <p:nvPr/>
        </p:nvSpPr>
        <p:spPr>
          <a:xfrm>
            <a:off x="9494766" y="6406625"/>
            <a:ext cx="5871481" cy="701970"/>
          </a:xfrm>
          <a:custGeom>
            <a:avLst/>
            <a:gdLst/>
            <a:ahLst/>
            <a:cxnLst/>
            <a:rect l="l" t="t" r="r" b="b"/>
            <a:pathLst>
              <a:path w="5871481" h="701970">
                <a:moveTo>
                  <a:pt x="0" y="0"/>
                </a:moveTo>
                <a:lnTo>
                  <a:pt x="5871481" y="0"/>
                </a:lnTo>
                <a:lnTo>
                  <a:pt x="5871481" y="701970"/>
                </a:lnTo>
                <a:lnTo>
                  <a:pt x="0" y="70197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462883" b="-604893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6" name="Freeform 16"/>
          <p:cNvSpPr/>
          <p:nvPr/>
        </p:nvSpPr>
        <p:spPr>
          <a:xfrm>
            <a:off x="7386572" y="6425675"/>
            <a:ext cx="2108194" cy="775190"/>
          </a:xfrm>
          <a:custGeom>
            <a:avLst/>
            <a:gdLst/>
            <a:ahLst/>
            <a:cxnLst/>
            <a:rect l="l" t="t" r="r" b="b"/>
            <a:pathLst>
              <a:path w="2108194" h="775190">
                <a:moveTo>
                  <a:pt x="0" y="0"/>
                </a:moveTo>
                <a:lnTo>
                  <a:pt x="2108194" y="0"/>
                </a:lnTo>
                <a:lnTo>
                  <a:pt x="2108194" y="775191"/>
                </a:lnTo>
                <a:lnTo>
                  <a:pt x="0" y="77519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r="-7324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7" name="TextBox 17"/>
          <p:cNvSpPr txBox="1"/>
          <p:nvPr/>
        </p:nvSpPr>
        <p:spPr>
          <a:xfrm>
            <a:off x="1388332" y="2292391"/>
            <a:ext cx="5719764" cy="1953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Architecture: </a:t>
            </a: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UMAP + HDBSCAN</a:t>
            </a:r>
          </a:p>
          <a:p>
            <a:pPr algn="l">
              <a:lnSpc>
                <a:spcPts val="3080"/>
              </a:lnSpc>
            </a:pPr>
            <a:r>
              <a:rPr lang="en-US" sz="22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Stop-word strategy:</a:t>
            </a: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None</a:t>
            </a:r>
          </a:p>
          <a:p>
            <a:pPr algn="l">
              <a:lnSpc>
                <a:spcPts val="3080"/>
              </a:lnSpc>
            </a:pPr>
            <a:r>
              <a:rPr lang="en-US" sz="22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Topic modeling approach</a:t>
            </a: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Traditional</a:t>
            </a:r>
          </a:p>
          <a:p>
            <a:pPr algn="l">
              <a:lnSpc>
                <a:spcPts val="3080"/>
              </a:lnSpc>
            </a:pPr>
            <a:r>
              <a:rPr lang="en-US" sz="22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Number of topics</a:t>
            </a:r>
            <a:r>
              <a:rPr lang="en-US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Fixed to 14</a:t>
            </a:r>
          </a:p>
          <a:p>
            <a:pPr algn="l">
              <a:lnSpc>
                <a:spcPts val="3080"/>
              </a:lnSpc>
            </a:pPr>
            <a:r>
              <a:rPr lang="en-US" sz="22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Outliers reduction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047308" y="3740571"/>
            <a:ext cx="8674061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UMAP (n_neighbors = 20, n_components = 5, min_dist = 0.0, metrcic = “cosine”)</a:t>
            </a:r>
          </a:p>
          <a:p>
            <a:pPr algn="l">
              <a:lnSpc>
                <a:spcPts val="2040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HDBSCAN (min_cluster_size = 20, min_samples = 5)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1038225"/>
            <a:ext cx="9186787" cy="89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12"/>
              </a:lnSpc>
            </a:pPr>
            <a:r>
              <a:rPr lang="en-US" sz="5937" b="1" spc="-48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BEST CONFIGURATION</a:t>
            </a:r>
          </a:p>
        </p:txBody>
      </p:sp>
      <p:sp>
        <p:nvSpPr>
          <p:cNvPr id="20" name="Freeform 20"/>
          <p:cNvSpPr/>
          <p:nvPr/>
        </p:nvSpPr>
        <p:spPr>
          <a:xfrm rot="978017">
            <a:off x="7379523" y="7377826"/>
            <a:ext cx="917348" cy="579672"/>
          </a:xfrm>
          <a:custGeom>
            <a:avLst/>
            <a:gdLst/>
            <a:ahLst/>
            <a:cxnLst/>
            <a:rect l="l" t="t" r="r" b="b"/>
            <a:pathLst>
              <a:path w="917348" h="579672">
                <a:moveTo>
                  <a:pt x="0" y="0"/>
                </a:moveTo>
                <a:lnTo>
                  <a:pt x="917348" y="0"/>
                </a:lnTo>
                <a:lnTo>
                  <a:pt x="917348" y="579672"/>
                </a:lnTo>
                <a:lnTo>
                  <a:pt x="0" y="57967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r="-130834" b="-25155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1" name="Freeform 21"/>
          <p:cNvSpPr/>
          <p:nvPr/>
        </p:nvSpPr>
        <p:spPr>
          <a:xfrm>
            <a:off x="7386572" y="8166598"/>
            <a:ext cx="2418452" cy="889273"/>
          </a:xfrm>
          <a:custGeom>
            <a:avLst/>
            <a:gdLst/>
            <a:ahLst/>
            <a:cxnLst/>
            <a:rect l="l" t="t" r="r" b="b"/>
            <a:pathLst>
              <a:path w="2418452" h="889273">
                <a:moveTo>
                  <a:pt x="0" y="0"/>
                </a:moveTo>
                <a:lnTo>
                  <a:pt x="2418452" y="0"/>
                </a:lnTo>
                <a:lnTo>
                  <a:pt x="2418452" y="889273"/>
                </a:lnTo>
                <a:lnTo>
                  <a:pt x="0" y="88927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r="-7324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2" name="Freeform 22"/>
          <p:cNvSpPr/>
          <p:nvPr/>
        </p:nvSpPr>
        <p:spPr>
          <a:xfrm rot="-2484554" flipV="1">
            <a:off x="7401591" y="9251668"/>
            <a:ext cx="917348" cy="579672"/>
          </a:xfrm>
          <a:custGeom>
            <a:avLst/>
            <a:gdLst/>
            <a:ahLst/>
            <a:cxnLst/>
            <a:rect l="l" t="t" r="r" b="b"/>
            <a:pathLst>
              <a:path w="917348" h="579672">
                <a:moveTo>
                  <a:pt x="0" y="579672"/>
                </a:moveTo>
                <a:lnTo>
                  <a:pt x="917348" y="579672"/>
                </a:lnTo>
                <a:lnTo>
                  <a:pt x="917348" y="0"/>
                </a:lnTo>
                <a:lnTo>
                  <a:pt x="0" y="0"/>
                </a:lnTo>
                <a:lnTo>
                  <a:pt x="0" y="579672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r="-130834" b="-25155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3" name="TextBox 23"/>
          <p:cNvSpPr txBox="1"/>
          <p:nvPr/>
        </p:nvSpPr>
        <p:spPr>
          <a:xfrm>
            <a:off x="8065612" y="5862431"/>
            <a:ext cx="660735" cy="391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b="1">
                <a:solidFill>
                  <a:srgbClr val="95CEDD"/>
                </a:solidFill>
                <a:latin typeface="Poppins Bold"/>
                <a:ea typeface="Poppins Bold"/>
                <a:cs typeface="Poppins Bold"/>
                <a:sym typeface="Poppins Bold"/>
              </a:rPr>
              <a:t>LLM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335104" y="9055871"/>
            <a:ext cx="1254072" cy="1006393"/>
          </a:xfrm>
          <a:custGeom>
            <a:avLst/>
            <a:gdLst/>
            <a:ahLst/>
            <a:cxnLst/>
            <a:rect l="l" t="t" r="r" b="b"/>
            <a:pathLst>
              <a:path w="1254072" h="1006393">
                <a:moveTo>
                  <a:pt x="0" y="0"/>
                </a:moveTo>
                <a:lnTo>
                  <a:pt x="1254073" y="0"/>
                </a:lnTo>
                <a:lnTo>
                  <a:pt x="1254073" y="1006393"/>
                </a:lnTo>
                <a:lnTo>
                  <a:pt x="0" y="10063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6636802" y="9247819"/>
            <a:ext cx="1244996" cy="622498"/>
          </a:xfrm>
          <a:custGeom>
            <a:avLst/>
            <a:gdLst/>
            <a:ahLst/>
            <a:cxnLst/>
            <a:rect l="l" t="t" r="r" b="b"/>
            <a:pathLst>
              <a:path w="1244996" h="622498">
                <a:moveTo>
                  <a:pt x="0" y="0"/>
                </a:moveTo>
                <a:lnTo>
                  <a:pt x="1244996" y="0"/>
                </a:lnTo>
                <a:lnTo>
                  <a:pt x="1244996" y="622498"/>
                </a:lnTo>
                <a:lnTo>
                  <a:pt x="0" y="6224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5000"/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3110227" y="4297138"/>
            <a:ext cx="2524131" cy="1546031"/>
          </a:xfrm>
          <a:custGeom>
            <a:avLst/>
            <a:gdLst/>
            <a:ahLst/>
            <a:cxnLst/>
            <a:rect l="l" t="t" r="r" b="b"/>
            <a:pathLst>
              <a:path w="2524131" h="1546031">
                <a:moveTo>
                  <a:pt x="0" y="0"/>
                </a:moveTo>
                <a:lnTo>
                  <a:pt x="2524132" y="0"/>
                </a:lnTo>
                <a:lnTo>
                  <a:pt x="2524132" y="1546031"/>
                </a:lnTo>
                <a:lnTo>
                  <a:pt x="0" y="15460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4106583" y="3790916"/>
            <a:ext cx="947281" cy="840995"/>
          </a:xfrm>
          <a:custGeom>
            <a:avLst/>
            <a:gdLst/>
            <a:ahLst/>
            <a:cxnLst/>
            <a:rect l="l" t="t" r="r" b="b"/>
            <a:pathLst>
              <a:path w="947281" h="840995">
                <a:moveTo>
                  <a:pt x="0" y="0"/>
                </a:moveTo>
                <a:lnTo>
                  <a:pt x="947280" y="0"/>
                </a:lnTo>
                <a:lnTo>
                  <a:pt x="947280" y="840995"/>
                </a:lnTo>
                <a:lnTo>
                  <a:pt x="0" y="8409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b="-17331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5776041" y="4286165"/>
            <a:ext cx="2555827" cy="1565444"/>
          </a:xfrm>
          <a:custGeom>
            <a:avLst/>
            <a:gdLst/>
            <a:ahLst/>
            <a:cxnLst/>
            <a:rect l="l" t="t" r="r" b="b"/>
            <a:pathLst>
              <a:path w="2555827" h="1565444">
                <a:moveTo>
                  <a:pt x="0" y="0"/>
                </a:moveTo>
                <a:lnTo>
                  <a:pt x="2555827" y="0"/>
                </a:lnTo>
                <a:lnTo>
                  <a:pt x="2555827" y="1565444"/>
                </a:lnTo>
                <a:lnTo>
                  <a:pt x="0" y="15654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6580314" y="3778269"/>
            <a:ext cx="947281" cy="840995"/>
          </a:xfrm>
          <a:custGeom>
            <a:avLst/>
            <a:gdLst/>
            <a:ahLst/>
            <a:cxnLst/>
            <a:rect l="l" t="t" r="r" b="b"/>
            <a:pathLst>
              <a:path w="947281" h="840995">
                <a:moveTo>
                  <a:pt x="0" y="0"/>
                </a:moveTo>
                <a:lnTo>
                  <a:pt x="947281" y="0"/>
                </a:lnTo>
                <a:lnTo>
                  <a:pt x="947281" y="840996"/>
                </a:lnTo>
                <a:lnTo>
                  <a:pt x="0" y="8409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b="-17331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8" name="Freeform 8"/>
          <p:cNvSpPr/>
          <p:nvPr/>
        </p:nvSpPr>
        <p:spPr>
          <a:xfrm>
            <a:off x="3024371" y="6019853"/>
            <a:ext cx="2609988" cy="1598618"/>
          </a:xfrm>
          <a:custGeom>
            <a:avLst/>
            <a:gdLst/>
            <a:ahLst/>
            <a:cxnLst/>
            <a:rect l="l" t="t" r="r" b="b"/>
            <a:pathLst>
              <a:path w="2609988" h="1598618">
                <a:moveTo>
                  <a:pt x="0" y="0"/>
                </a:moveTo>
                <a:lnTo>
                  <a:pt x="2609988" y="0"/>
                </a:lnTo>
                <a:lnTo>
                  <a:pt x="2609988" y="1598618"/>
                </a:lnTo>
                <a:lnTo>
                  <a:pt x="0" y="159861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9" name="Freeform 9"/>
          <p:cNvSpPr/>
          <p:nvPr/>
        </p:nvSpPr>
        <p:spPr>
          <a:xfrm flipH="1" flipV="1">
            <a:off x="3855725" y="7608946"/>
            <a:ext cx="947281" cy="840995"/>
          </a:xfrm>
          <a:custGeom>
            <a:avLst/>
            <a:gdLst/>
            <a:ahLst/>
            <a:cxnLst/>
            <a:rect l="l" t="t" r="r" b="b"/>
            <a:pathLst>
              <a:path w="947281" h="840995">
                <a:moveTo>
                  <a:pt x="947280" y="840995"/>
                </a:moveTo>
                <a:lnTo>
                  <a:pt x="0" y="840995"/>
                </a:lnTo>
                <a:lnTo>
                  <a:pt x="0" y="0"/>
                </a:lnTo>
                <a:lnTo>
                  <a:pt x="947280" y="0"/>
                </a:lnTo>
                <a:lnTo>
                  <a:pt x="947280" y="84099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b="-17331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0" name="Freeform 10"/>
          <p:cNvSpPr/>
          <p:nvPr/>
        </p:nvSpPr>
        <p:spPr>
          <a:xfrm>
            <a:off x="5776041" y="6018587"/>
            <a:ext cx="2529560" cy="1549356"/>
          </a:xfrm>
          <a:custGeom>
            <a:avLst/>
            <a:gdLst/>
            <a:ahLst/>
            <a:cxnLst/>
            <a:rect l="l" t="t" r="r" b="b"/>
            <a:pathLst>
              <a:path w="2529560" h="1549356">
                <a:moveTo>
                  <a:pt x="0" y="0"/>
                </a:moveTo>
                <a:lnTo>
                  <a:pt x="2529560" y="0"/>
                </a:lnTo>
                <a:lnTo>
                  <a:pt x="2529560" y="1549355"/>
                </a:lnTo>
                <a:lnTo>
                  <a:pt x="0" y="154935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1" name="Freeform 11"/>
          <p:cNvSpPr/>
          <p:nvPr/>
        </p:nvSpPr>
        <p:spPr>
          <a:xfrm flipV="1">
            <a:off x="6596459" y="7556584"/>
            <a:ext cx="914990" cy="812328"/>
          </a:xfrm>
          <a:custGeom>
            <a:avLst/>
            <a:gdLst/>
            <a:ahLst/>
            <a:cxnLst/>
            <a:rect l="l" t="t" r="r" b="b"/>
            <a:pathLst>
              <a:path w="914990" h="812328">
                <a:moveTo>
                  <a:pt x="0" y="812329"/>
                </a:moveTo>
                <a:lnTo>
                  <a:pt x="914991" y="812329"/>
                </a:lnTo>
                <a:lnTo>
                  <a:pt x="914991" y="0"/>
                </a:lnTo>
                <a:lnTo>
                  <a:pt x="0" y="0"/>
                </a:lnTo>
                <a:lnTo>
                  <a:pt x="0" y="812329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b="-17331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2" name="TextBox 12"/>
          <p:cNvSpPr txBox="1"/>
          <p:nvPr/>
        </p:nvSpPr>
        <p:spPr>
          <a:xfrm>
            <a:off x="6580314" y="2466941"/>
            <a:ext cx="3392667" cy="116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BERTopic </a:t>
            </a: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was compared with </a:t>
            </a:r>
            <a:r>
              <a:rPr lang="en-US" sz="1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LDA </a:t>
            </a: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and </a:t>
            </a:r>
            <a:r>
              <a:rPr lang="en-US" sz="1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NMF </a:t>
            </a: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across multiple </a:t>
            </a:r>
            <a:r>
              <a:rPr lang="en-US" sz="1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architectures </a:t>
            </a: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and modeling </a:t>
            </a:r>
            <a:r>
              <a:rPr lang="en-US" sz="1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strategies</a:t>
            </a: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580314" y="8621391"/>
            <a:ext cx="3619028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Multi-label</a:t>
            </a: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classification was also used for </a:t>
            </a:r>
            <a:r>
              <a:rPr lang="en-US" sz="1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outlier </a:t>
            </a: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reduction.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2466941"/>
            <a:ext cx="4272247" cy="116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80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Standard cleaning, neutral review reclassification, </a:t>
            </a:r>
            <a:r>
              <a:rPr lang="en-US" sz="1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stopword strategy </a:t>
            </a: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evaluation and </a:t>
            </a:r>
            <a:r>
              <a:rPr lang="en-US" sz="1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machine translation </a:t>
            </a: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impact analysis.</a:t>
            </a:r>
          </a:p>
        </p:txBody>
      </p:sp>
      <p:sp>
        <p:nvSpPr>
          <p:cNvPr id="15" name="Freeform 15"/>
          <p:cNvSpPr/>
          <p:nvPr/>
        </p:nvSpPr>
        <p:spPr>
          <a:xfrm>
            <a:off x="10696882" y="2858819"/>
            <a:ext cx="5765330" cy="5510094"/>
          </a:xfrm>
          <a:custGeom>
            <a:avLst/>
            <a:gdLst/>
            <a:ahLst/>
            <a:cxnLst/>
            <a:rect l="l" t="t" r="r" b="b"/>
            <a:pathLst>
              <a:path w="5765330" h="5510094">
                <a:moveTo>
                  <a:pt x="0" y="0"/>
                </a:moveTo>
                <a:lnTo>
                  <a:pt x="5765330" y="0"/>
                </a:lnTo>
                <a:lnTo>
                  <a:pt x="5765330" y="5510094"/>
                </a:lnTo>
                <a:lnTo>
                  <a:pt x="0" y="551009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6" name="TextBox 16"/>
          <p:cNvSpPr txBox="1"/>
          <p:nvPr/>
        </p:nvSpPr>
        <p:spPr>
          <a:xfrm>
            <a:off x="498574" y="8478516"/>
            <a:ext cx="4802373" cy="144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80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Discovered topics were mapped to the HYPE taxonomy using </a:t>
            </a:r>
            <a:r>
              <a:rPr lang="en-US" sz="1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embedding-based cosine similarity</a:t>
            </a: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and evaluated through </a:t>
            </a:r>
            <a:r>
              <a:rPr lang="en-US" sz="1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precision </a:t>
            </a: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and </a:t>
            </a:r>
            <a:r>
              <a:rPr lang="en-US" sz="1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qualitative </a:t>
            </a: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inspection.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1038225"/>
            <a:ext cx="9186787" cy="89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12"/>
              </a:lnSpc>
            </a:pPr>
            <a:r>
              <a:rPr lang="en-US" sz="5937" b="1" spc="-48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SUMMARY OF KEY POINTS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96054" y="4168447"/>
            <a:ext cx="11677448" cy="2218442"/>
            <a:chOff x="0" y="0"/>
            <a:chExt cx="15569931" cy="2957922"/>
          </a:xfrm>
        </p:grpSpPr>
        <p:sp>
          <p:nvSpPr>
            <p:cNvPr id="3" name="TextBox 3"/>
            <p:cNvSpPr txBox="1"/>
            <p:nvPr/>
          </p:nvSpPr>
          <p:spPr>
            <a:xfrm>
              <a:off x="0" y="-156965"/>
              <a:ext cx="11117580" cy="31148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309"/>
                </a:lnSpc>
                <a:spcBef>
                  <a:spcPct val="0"/>
                </a:spcBef>
              </a:pPr>
              <a:r>
                <a:rPr lang="en-US" sz="6649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                              for</a:t>
              </a:r>
            </a:p>
            <a:p>
              <a:pPr algn="l">
                <a:lnSpc>
                  <a:spcPts val="9309"/>
                </a:lnSpc>
                <a:spcBef>
                  <a:spcPct val="0"/>
                </a:spcBef>
              </a:pPr>
              <a:r>
                <a:rPr lang="en-US" sz="6649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your attention!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826705" y="190500"/>
              <a:ext cx="13743226" cy="13179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260"/>
                </a:lnSpc>
              </a:pPr>
              <a:r>
                <a:rPr lang="en-US" sz="7452" b="1" spc="-626">
                  <a:solidFill>
                    <a:srgbClr val="FB766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THANK   YOU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133735" y="8649749"/>
            <a:ext cx="6020531" cy="1317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Alessia Ciccaglione - s344499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Amirhossein Lotf Ranaei - s323336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Sonia Foco - s343043</a:t>
            </a:r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E977950D-BF57-9F0D-3E47-B4866064F9D1}"/>
              </a:ext>
            </a:extLst>
          </p:cNvPr>
          <p:cNvSpPr/>
          <p:nvPr/>
        </p:nvSpPr>
        <p:spPr>
          <a:xfrm>
            <a:off x="-160141" y="-1"/>
            <a:ext cx="4656195" cy="5064716"/>
          </a:xfrm>
          <a:custGeom>
            <a:avLst/>
            <a:gdLst/>
            <a:ahLst/>
            <a:cxnLst/>
            <a:rect l="l" t="t" r="r" b="b"/>
            <a:pathLst>
              <a:path w="4656195" h="5490030">
                <a:moveTo>
                  <a:pt x="0" y="0"/>
                </a:moveTo>
                <a:lnTo>
                  <a:pt x="4656195" y="0"/>
                </a:lnTo>
                <a:lnTo>
                  <a:pt x="4656195" y="5490030"/>
                </a:lnTo>
                <a:lnTo>
                  <a:pt x="0" y="54900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98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B18B612B-8886-A0F0-22C1-E30CAA328DD5}"/>
              </a:ext>
            </a:extLst>
          </p:cNvPr>
          <p:cNvSpPr/>
          <p:nvPr/>
        </p:nvSpPr>
        <p:spPr>
          <a:xfrm>
            <a:off x="-644218" y="6557518"/>
            <a:ext cx="5469371" cy="3767582"/>
          </a:xfrm>
          <a:custGeom>
            <a:avLst/>
            <a:gdLst/>
            <a:ahLst/>
            <a:cxnLst/>
            <a:rect l="l" t="t" r="r" b="b"/>
            <a:pathLst>
              <a:path w="5469371" h="5570368">
                <a:moveTo>
                  <a:pt x="0" y="0"/>
                </a:moveTo>
                <a:lnTo>
                  <a:pt x="5469370" y="0"/>
                </a:lnTo>
                <a:lnTo>
                  <a:pt x="5469370" y="5570367"/>
                </a:lnTo>
                <a:lnTo>
                  <a:pt x="0" y="55703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4785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6" name="Freeform 12">
            <a:extLst>
              <a:ext uri="{FF2B5EF4-FFF2-40B4-BE49-F238E27FC236}">
                <a16:creationId xmlns:a16="http://schemas.microsoft.com/office/drawing/2014/main" id="{7C1943E3-4343-F16F-E5E2-4F4E4BC9816E}"/>
              </a:ext>
            </a:extLst>
          </p:cNvPr>
          <p:cNvSpPr/>
          <p:nvPr/>
        </p:nvSpPr>
        <p:spPr>
          <a:xfrm>
            <a:off x="14751222" y="-1"/>
            <a:ext cx="3536778" cy="4001803"/>
          </a:xfrm>
          <a:custGeom>
            <a:avLst/>
            <a:gdLst/>
            <a:ahLst/>
            <a:cxnLst/>
            <a:rect l="l" t="t" r="r" b="b"/>
            <a:pathLst>
              <a:path w="4180926" h="5946206">
                <a:moveTo>
                  <a:pt x="0" y="0"/>
                </a:moveTo>
                <a:lnTo>
                  <a:pt x="4180926" y="0"/>
                </a:lnTo>
                <a:lnTo>
                  <a:pt x="4180926" y="5946206"/>
                </a:lnTo>
                <a:lnTo>
                  <a:pt x="0" y="59462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8588" r="-18212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7" name="Freeform 11">
            <a:extLst>
              <a:ext uri="{FF2B5EF4-FFF2-40B4-BE49-F238E27FC236}">
                <a16:creationId xmlns:a16="http://schemas.microsoft.com/office/drawing/2014/main" id="{AD55D944-48B0-3F29-C570-9F3981F27A12}"/>
              </a:ext>
            </a:extLst>
          </p:cNvPr>
          <p:cNvSpPr/>
          <p:nvPr/>
        </p:nvSpPr>
        <p:spPr>
          <a:xfrm>
            <a:off x="14771430" y="5495458"/>
            <a:ext cx="3516570" cy="4769166"/>
          </a:xfrm>
          <a:custGeom>
            <a:avLst/>
            <a:gdLst/>
            <a:ahLst/>
            <a:cxnLst/>
            <a:rect l="l" t="t" r="r" b="b"/>
            <a:pathLst>
              <a:path w="3516570" h="5505580">
                <a:moveTo>
                  <a:pt x="0" y="0"/>
                </a:moveTo>
                <a:lnTo>
                  <a:pt x="3516570" y="0"/>
                </a:lnTo>
                <a:lnTo>
                  <a:pt x="3516570" y="5505580"/>
                </a:lnTo>
                <a:lnTo>
                  <a:pt x="0" y="55055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15441"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1507</Words>
  <Application>Microsoft Office PowerPoint</Application>
  <PresentationFormat>Personalizzato</PresentationFormat>
  <Paragraphs>321</Paragraphs>
  <Slides>22</Slides>
  <Notes>0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11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1</vt:i4>
      </vt:variant>
      <vt:variant>
        <vt:lpstr>Titoli diapositive</vt:lpstr>
      </vt:variant>
      <vt:variant>
        <vt:i4>22</vt:i4>
      </vt:variant>
    </vt:vector>
  </HeadingPairs>
  <TitlesOfParts>
    <vt:vector size="35" baseType="lpstr">
      <vt:lpstr>Poppins Italics</vt:lpstr>
      <vt:lpstr>Poppins Bold</vt:lpstr>
      <vt:lpstr>Calibri</vt:lpstr>
      <vt:lpstr>Open Sans Bold</vt:lpstr>
      <vt:lpstr>Arial</vt:lpstr>
      <vt:lpstr>Calibri (MS) Bold</vt:lpstr>
      <vt:lpstr>Roboto</vt:lpstr>
      <vt:lpstr>Open Sans</vt:lpstr>
      <vt:lpstr>Poppins</vt:lpstr>
      <vt:lpstr>Montserrat Bold</vt:lpstr>
      <vt:lpstr>Arial Bold</vt:lpstr>
      <vt:lpstr>Office Theme</vt:lpstr>
      <vt:lpstr>Worksheet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Final-Presentation</dc:title>
  <cp:lastModifiedBy>CICCAGLIONE ALESSIA</cp:lastModifiedBy>
  <cp:revision>2</cp:revision>
  <dcterms:created xsi:type="dcterms:W3CDTF">2006-08-16T00:00:00Z</dcterms:created>
  <dcterms:modified xsi:type="dcterms:W3CDTF">2026-01-19T18:39:12Z</dcterms:modified>
  <dc:identifier>DAG9vPR-ltQ</dc:identifier>
</cp:coreProperties>
</file>